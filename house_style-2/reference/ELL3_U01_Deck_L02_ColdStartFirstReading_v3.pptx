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9144000" cy="310896"/>
          </a:xfrm>
          <a:prstGeom prst="rect">
            <a:avLst/>
          </a:prstGeom>
          <a:solidFill>
            <a:srgbClr val="0B2C4D"/>
          </a:solidFill>
          <a:ln w="12700">
            <a:solidFill>
              <a:srgbClr val="0B2C4D"/>
            </a:solidFill>
            <a:prstDash val="solid"/>
          </a:ln>
        </p:spPr>
      </p:sp>
      <p:sp>
        <p:nvSpPr>
          <p:cNvPr id="3" name="Text 1"/>
          <p:cNvSpPr txBox="1"/>
          <p:nvPr/>
        </p:nvSpPr>
        <p:spPr>
          <a:xfrm>
            <a:off x="274320" y="82296"/>
            <a:ext cx="6400800" cy="164592"/>
          </a:xfrm>
          <a:prstGeom prst="rect">
            <a:avLst/>
          </a:prstGeom>
          <a:noFill/>
          <a:ln/>
        </p:spPr>
        <p:txBody>
          <a:bodyPr wrap="square" lIns="0" tIns="0" rIns="0" bIns="0" rtlCol="0" anchor="t"/>
          <a:lstStyle/>
          <a:p>
            <a:pPr indent="0" marL="0">
              <a:buNone/>
            </a:pPr>
            <a:r>
              <a:rPr lang="en-US" sz="850" b="1" spc="200" kern="0" dirty="0">
                <a:solidFill>
                  <a:srgbClr val="FFFFFF"/>
                </a:solidFill>
                <a:latin typeface="Calibri" pitchFamily="34" charset="0"/>
                <a:ea typeface="Calibri" pitchFamily="34" charset="-122"/>
                <a:cs typeface="Calibri" pitchFamily="34" charset="-120"/>
              </a:rPr>
              <a:t>LESSON PLAN 1 OF 2  ·  TEACHER SLIDE  ·  SKIP WHEN PRESENTING</a:t>
            </a:r>
            <a:endParaRPr lang="en-US" sz="850" dirty="0"/>
          </a:p>
        </p:txBody>
      </p:sp>
      <p:sp>
        <p:nvSpPr>
          <p:cNvPr id="4" name="Shape 2"/>
          <p:cNvSpPr/>
          <p:nvPr/>
        </p:nvSpPr>
        <p:spPr>
          <a:xfrm>
            <a:off x="7498080" y="45720"/>
            <a:ext cx="457200" cy="219456"/>
          </a:xfrm>
          <a:prstGeom prst="roundRect">
            <a:avLst>
              <a:gd name="adj" fmla="val 20833"/>
            </a:avLst>
          </a:prstGeom>
          <a:solidFill>
            <a:srgbClr val="00897B"/>
          </a:solidFill>
          <a:ln w="12700">
            <a:solidFill>
              <a:srgbClr val="00897B"/>
            </a:solidFill>
            <a:prstDash val="solid"/>
          </a:ln>
        </p:spPr>
      </p:sp>
      <p:sp>
        <p:nvSpPr>
          <p:cNvPr id="5" name="Text 3"/>
          <p:cNvSpPr txBox="1"/>
          <p:nvPr/>
        </p:nvSpPr>
        <p:spPr>
          <a:xfrm>
            <a:off x="7498080" y="45720"/>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COM</a:t>
            </a:r>
            <a:endParaRPr lang="en-US" sz="800" dirty="0"/>
          </a:p>
        </p:txBody>
      </p:sp>
      <p:sp>
        <p:nvSpPr>
          <p:cNvPr id="6" name="Shape 4"/>
          <p:cNvSpPr/>
          <p:nvPr/>
        </p:nvSpPr>
        <p:spPr>
          <a:xfrm>
            <a:off x="8028432" y="45720"/>
            <a:ext cx="457200" cy="219456"/>
          </a:xfrm>
          <a:prstGeom prst="roundRect">
            <a:avLst>
              <a:gd name="adj" fmla="val 20833"/>
            </a:avLst>
          </a:prstGeom>
          <a:solidFill>
            <a:srgbClr val="00897B"/>
          </a:solidFill>
          <a:ln w="12700">
            <a:solidFill>
              <a:srgbClr val="00897B"/>
            </a:solidFill>
            <a:prstDash val="solid"/>
          </a:ln>
        </p:spPr>
      </p:sp>
      <p:sp>
        <p:nvSpPr>
          <p:cNvPr id="7" name="Text 5"/>
          <p:cNvSpPr txBox="1"/>
          <p:nvPr/>
        </p:nvSpPr>
        <p:spPr>
          <a:xfrm>
            <a:off x="8028432" y="45720"/>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a:t>
            </a:r>
            <a:endParaRPr lang="en-US" sz="800" dirty="0"/>
          </a:p>
        </p:txBody>
      </p:sp>
      <p:sp>
        <p:nvSpPr>
          <p:cNvPr id="8" name="Shape 6"/>
          <p:cNvSpPr/>
          <p:nvPr/>
        </p:nvSpPr>
        <p:spPr>
          <a:xfrm>
            <a:off x="8558784" y="45720"/>
            <a:ext cx="457200" cy="219456"/>
          </a:xfrm>
          <a:prstGeom prst="roundRect">
            <a:avLst>
              <a:gd name="adj" fmla="val 20833"/>
            </a:avLst>
          </a:prstGeom>
          <a:solidFill>
            <a:srgbClr val="00897B"/>
          </a:solidFill>
          <a:ln w="12700">
            <a:solidFill>
              <a:srgbClr val="00897B"/>
            </a:solidFill>
            <a:prstDash val="solid"/>
          </a:ln>
        </p:spPr>
      </p:sp>
      <p:sp>
        <p:nvSpPr>
          <p:cNvPr id="9" name="Text 7"/>
          <p:cNvSpPr txBox="1"/>
          <p:nvPr/>
        </p:nvSpPr>
        <p:spPr>
          <a:xfrm>
            <a:off x="8558784" y="45720"/>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PS</a:t>
            </a:r>
            <a:endParaRPr lang="en-US" sz="800" dirty="0"/>
          </a:p>
        </p:txBody>
      </p:sp>
      <p:sp>
        <p:nvSpPr>
          <p:cNvPr id="10" name="Text 8"/>
          <p:cNvSpPr txBox="1"/>
          <p:nvPr/>
        </p:nvSpPr>
        <p:spPr>
          <a:xfrm>
            <a:off x="274320" y="384048"/>
            <a:ext cx="8595360" cy="228600"/>
          </a:xfrm>
          <a:prstGeom prst="rect">
            <a:avLst/>
          </a:prstGeom>
          <a:noFill/>
          <a:ln/>
        </p:spPr>
        <p:txBody>
          <a:bodyPr wrap="square" lIns="0" tIns="0" rIns="0" bIns="0" rtlCol="0" anchor="t"/>
          <a:lstStyle/>
          <a:p>
            <a:pPr indent="0" marL="0">
              <a:buNone/>
            </a:pPr>
            <a:r>
              <a:rPr lang="en-US" sz="1300" b="1" dirty="0">
                <a:solidFill>
                  <a:srgbClr val="0B2C4D"/>
                </a:solidFill>
                <a:latin typeface="Calibri" pitchFamily="34" charset="0"/>
                <a:ea typeface="Calibri" pitchFamily="34" charset="-122"/>
                <a:cs typeface="Calibri" pitchFamily="34" charset="-120"/>
              </a:rPr>
              <a:t>ELL3 — Unit 1: The Exact Thing — Lesson 2: Cold Start: First Reading</a:t>
            </a:r>
            <a:endParaRPr lang="en-US" sz="1300" dirty="0"/>
          </a:p>
        </p:txBody>
      </p:sp>
      <p:sp>
        <p:nvSpPr>
          <p:cNvPr id="11" name="Text 9"/>
          <p:cNvSpPr txBox="1"/>
          <p:nvPr/>
        </p:nvSpPr>
        <p:spPr>
          <a:xfrm>
            <a:off x="274320" y="640080"/>
            <a:ext cx="8595360" cy="329184"/>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Objective  </a:t>
            </a:r>
            <a:pPr indent="0" marL="0">
              <a:buNone/>
            </a:pPr>
            <a:r>
              <a:rPr lang="en-US" sz="900" dirty="0">
                <a:solidFill>
                  <a:srgbClr val="1F2933"/>
                </a:solidFill>
                <a:latin typeface="Calibri" pitchFamily="34" charset="0"/>
                <a:ea typeface="Calibri" pitchFamily="34" charset="-122"/>
                <a:cs typeface="Calibri" pitchFamily="34" charset="-120"/>
              </a:rPr>
              <a:t>Read a short unseen story without help, and answer questions about it in writing.   </a:t>
            </a:r>
            <a:pPr indent="0" marL="0">
              <a:buNone/>
            </a:pPr>
            <a:r>
              <a:rPr lang="en-US" sz="900" b="1" dirty="0">
                <a:solidFill>
                  <a:srgbClr val="00897B"/>
                </a:solidFill>
                <a:latin typeface="Calibri" pitchFamily="34" charset="0"/>
                <a:ea typeface="Calibri" pitchFamily="34" charset="-122"/>
                <a:cs typeface="Calibri" pitchFamily="34" charset="-120"/>
              </a:rPr>
              <a:t>Outcomes  </a:t>
            </a:r>
            <a:pPr indent="0" marL="0">
              <a:buNone/>
            </a:pPr>
            <a:r>
              <a:rPr lang="en-US" sz="900" dirty="0">
                <a:solidFill>
                  <a:srgbClr val="1F2933"/>
                </a:solidFill>
                <a:latin typeface="Calibri" pitchFamily="34" charset="0"/>
                <a:ea typeface="Calibri" pitchFamily="34" charset="-122"/>
                <a:cs typeface="Calibri" pitchFamily="34" charset="-120"/>
              </a:rPr>
              <a:t>W1 familiar and some academic language · W5 complex sentences with because · W14 complete sentences with very few errors</a:t>
            </a:r>
            <a:endParaRPr lang="en-US" sz="900" dirty="0"/>
          </a:p>
        </p:txBody>
      </p:sp>
      <p:sp>
        <p:nvSpPr>
          <p:cNvPr id="12" name="Text 10"/>
          <p:cNvSpPr txBox="1"/>
          <p:nvPr/>
        </p:nvSpPr>
        <p:spPr>
          <a:xfrm>
            <a:off x="274320" y="978408"/>
            <a:ext cx="8595360" cy="329184"/>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Materials  </a:t>
            </a:r>
            <a:pPr indent="0" marL="0">
              <a:buNone/>
            </a:pPr>
            <a:r>
              <a:rPr lang="en-US" sz="900" dirty="0">
                <a:solidFill>
                  <a:srgbClr val="1F2933"/>
                </a:solidFill>
                <a:latin typeface="Calibri" pitchFamily="34" charset="0"/>
                <a:ea typeface="Calibri" pitchFamily="34" charset="-122"/>
                <a:cs typeface="Calibri" pitchFamily="34" charset="-120"/>
              </a:rPr>
              <a:t>Deck · worksheet (7 pages, one per student) · ‘The Long Way Home’ story pages (lines 1–25 + word list only — not its question pages) · exercise books · duotangs · help slips cut and in a box students can reach · pencils</a:t>
            </a:r>
            <a:endParaRPr lang="en-US" sz="900" dirty="0"/>
          </a:p>
        </p:txBody>
      </p:sp>
      <p:sp>
        <p:nvSpPr>
          <p:cNvPr id="13" name="Text 11"/>
          <p:cNvSpPr txBox="1"/>
          <p:nvPr/>
        </p:nvSpPr>
        <p:spPr>
          <a:xfrm>
            <a:off x="274320" y="1371600"/>
            <a:ext cx="8229600" cy="182880"/>
          </a:xfrm>
          <a:prstGeom prst="rect">
            <a:avLst/>
          </a:prstGeom>
          <a:noFill/>
          <a:ln/>
        </p:spPr>
        <p:txBody>
          <a:bodyPr wrap="square" lIns="0" tIns="0" rIns="0" bIns="0" rtlCol="0" anchor="t"/>
          <a:lstStyle/>
          <a:p>
            <a:pPr indent="0" marL="0">
              <a:buNone/>
            </a:pPr>
            <a:r>
              <a:rPr lang="en-US" sz="850" b="1" spc="100" kern="0" dirty="0">
                <a:solidFill>
                  <a:srgbClr val="5F6B7A"/>
                </a:solidFill>
                <a:latin typeface="Calibri" pitchFamily="34" charset="0"/>
                <a:ea typeface="Calibri" pitchFamily="34" charset="-122"/>
                <a:cs typeface="Calibri" pitchFamily="34" charset="-120"/>
              </a:rPr>
              <a:t>TIMED SEQUENCE  ·  about 105 minutes in all — carry over as needed</a:t>
            </a:r>
            <a:endParaRPr lang="en-US" sz="850" dirty="0"/>
          </a:p>
        </p:txBody>
      </p:sp>
      <p:sp>
        <p:nvSpPr>
          <p:cNvPr id="14" name="Shape 12"/>
          <p:cNvSpPr/>
          <p:nvPr/>
        </p:nvSpPr>
        <p:spPr>
          <a:xfrm>
            <a:off x="274320" y="1591056"/>
            <a:ext cx="8595360" cy="429768"/>
          </a:xfrm>
          <a:prstGeom prst="roundRect">
            <a:avLst>
              <a:gd name="adj" fmla="val 8511"/>
            </a:avLst>
          </a:prstGeom>
          <a:solidFill>
            <a:srgbClr val="FFFFFF"/>
          </a:solidFill>
          <a:ln w="9525">
            <a:solidFill>
              <a:srgbClr val="C9DCEE"/>
            </a:solidFill>
            <a:prstDash val="solid"/>
          </a:ln>
        </p:spPr>
      </p:sp>
      <p:sp>
        <p:nvSpPr>
          <p:cNvPr id="15" name="Shape 13"/>
          <p:cNvSpPr/>
          <p:nvPr/>
        </p:nvSpPr>
        <p:spPr>
          <a:xfrm>
            <a:off x="347472" y="1668780"/>
            <a:ext cx="274320" cy="274320"/>
          </a:xfrm>
          <a:prstGeom prst="ellipse">
            <a:avLst/>
          </a:prstGeom>
          <a:solidFill>
            <a:srgbClr val="00897B"/>
          </a:solidFill>
          <a:ln w="12700">
            <a:solidFill>
              <a:srgbClr val="00897B"/>
            </a:solidFill>
            <a:prstDash val="solid"/>
          </a:ln>
        </p:spPr>
      </p:sp>
      <p:sp>
        <p:nvSpPr>
          <p:cNvPr id="16" name="Text 14"/>
          <p:cNvSpPr txBox="1"/>
          <p:nvPr/>
        </p:nvSpPr>
        <p:spPr>
          <a:xfrm>
            <a:off x="347472" y="166878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1</a:t>
            </a:r>
            <a:endParaRPr lang="en-US" sz="1080" dirty="0"/>
          </a:p>
        </p:txBody>
      </p:sp>
      <p:sp>
        <p:nvSpPr>
          <p:cNvPr id="17" name="Text 15"/>
          <p:cNvSpPr txBox="1"/>
          <p:nvPr/>
        </p:nvSpPr>
        <p:spPr>
          <a:xfrm>
            <a:off x="685800" y="1627632"/>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10 min</a:t>
            </a:r>
            <a:endParaRPr lang="en-US" sz="900" dirty="0"/>
          </a:p>
        </p:txBody>
      </p:sp>
      <p:sp>
        <p:nvSpPr>
          <p:cNvPr id="18" name="Text 16"/>
          <p:cNvSpPr txBox="1"/>
          <p:nvPr/>
        </p:nvSpPr>
        <p:spPr>
          <a:xfrm>
            <a:off x="1234440" y="1618488"/>
            <a:ext cx="7543800" cy="384048"/>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How our class works — </a:t>
            </a:r>
            <a:pPr indent="0" marL="0">
              <a:buNone/>
            </a:pPr>
            <a:r>
              <a:rPr lang="en-US" sz="850" dirty="0">
                <a:solidFill>
                  <a:srgbClr val="1F2933"/>
                </a:solidFill>
                <a:latin typeface="Calibri" pitchFamily="34" charset="0"/>
                <a:ea typeface="Calibri" pitchFamily="34" charset="-122"/>
                <a:cs typeface="Calibri" pitchFamily="34" charset="-120"/>
              </a:rPr>
              <a:t>Hand out exercise books and duotangs. The exercise book goes HOME: notes, review, assignments, announcements; bring it every class. The duotang STAYS in the room; finished work goes into it at the end of every lesson. Demonstrate the help slip: take one from the box, tick what to check, write the question in words, hand it in — it comes back with an answer.</a:t>
            </a:r>
            <a:endParaRPr lang="en-US" sz="850" dirty="0"/>
          </a:p>
        </p:txBody>
      </p:sp>
      <p:sp>
        <p:nvSpPr>
          <p:cNvPr id="19" name="Shape 17"/>
          <p:cNvSpPr/>
          <p:nvPr/>
        </p:nvSpPr>
        <p:spPr>
          <a:xfrm>
            <a:off x="274320" y="2066544"/>
            <a:ext cx="8595360" cy="429768"/>
          </a:xfrm>
          <a:prstGeom prst="roundRect">
            <a:avLst>
              <a:gd name="adj" fmla="val 8511"/>
            </a:avLst>
          </a:prstGeom>
          <a:solidFill>
            <a:srgbClr val="FFFFFF"/>
          </a:solidFill>
          <a:ln w="9525">
            <a:solidFill>
              <a:srgbClr val="C9DCEE"/>
            </a:solidFill>
            <a:prstDash val="solid"/>
          </a:ln>
        </p:spPr>
      </p:sp>
      <p:sp>
        <p:nvSpPr>
          <p:cNvPr id="20" name="Shape 18"/>
          <p:cNvSpPr/>
          <p:nvPr/>
        </p:nvSpPr>
        <p:spPr>
          <a:xfrm>
            <a:off x="347472" y="2144268"/>
            <a:ext cx="274320" cy="274320"/>
          </a:xfrm>
          <a:prstGeom prst="ellipse">
            <a:avLst/>
          </a:prstGeom>
          <a:solidFill>
            <a:srgbClr val="00897B"/>
          </a:solidFill>
          <a:ln w="12700">
            <a:solidFill>
              <a:srgbClr val="00897B"/>
            </a:solidFill>
            <a:prstDash val="solid"/>
          </a:ln>
        </p:spPr>
      </p:sp>
      <p:sp>
        <p:nvSpPr>
          <p:cNvPr id="21" name="Text 19"/>
          <p:cNvSpPr txBox="1"/>
          <p:nvPr/>
        </p:nvSpPr>
        <p:spPr>
          <a:xfrm>
            <a:off x="347472" y="2144268"/>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2</a:t>
            </a:r>
            <a:endParaRPr lang="en-US" sz="1080" dirty="0"/>
          </a:p>
        </p:txBody>
      </p:sp>
      <p:sp>
        <p:nvSpPr>
          <p:cNvPr id="22" name="Text 20"/>
          <p:cNvSpPr txBox="1"/>
          <p:nvPr/>
        </p:nvSpPr>
        <p:spPr>
          <a:xfrm>
            <a:off x="685800" y="2103120"/>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7 min</a:t>
            </a:r>
            <a:endParaRPr lang="en-US" sz="900" dirty="0"/>
          </a:p>
        </p:txBody>
      </p:sp>
      <p:sp>
        <p:nvSpPr>
          <p:cNvPr id="23" name="Text 21"/>
          <p:cNvSpPr txBox="1"/>
          <p:nvPr/>
        </p:nvSpPr>
        <p:spPr>
          <a:xfrm>
            <a:off x="1234440" y="2093976"/>
            <a:ext cx="7543800" cy="384048"/>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Warm-up (exercise book) — </a:t>
            </a:r>
            <a:pPr indent="0" marL="0">
              <a:buNone/>
            </a:pPr>
            <a:r>
              <a:rPr lang="en-US" sz="850" dirty="0">
                <a:solidFill>
                  <a:srgbClr val="1F2933"/>
                </a:solidFill>
                <a:latin typeface="Calibri" pitchFamily="34" charset="0"/>
                <a:ea typeface="Calibri" pitchFamily="34" charset="-122"/>
                <a:cs typeface="Calibri" pitchFamily="34" charset="-120"/>
              </a:rPr>
              <a:t>Students write in their exercise books: when you meet an unknown English word, what do you do first? Is it the same in your first language? Take two or three answers aloud.</a:t>
            </a:r>
            <a:endParaRPr lang="en-US" sz="850" dirty="0"/>
          </a:p>
        </p:txBody>
      </p:sp>
      <p:sp>
        <p:nvSpPr>
          <p:cNvPr id="24" name="Shape 22"/>
          <p:cNvSpPr/>
          <p:nvPr/>
        </p:nvSpPr>
        <p:spPr>
          <a:xfrm>
            <a:off x="274320" y="2542032"/>
            <a:ext cx="8595360" cy="429768"/>
          </a:xfrm>
          <a:prstGeom prst="roundRect">
            <a:avLst>
              <a:gd name="adj" fmla="val 8511"/>
            </a:avLst>
          </a:prstGeom>
          <a:solidFill>
            <a:srgbClr val="FFFFFF"/>
          </a:solidFill>
          <a:ln w="9525">
            <a:solidFill>
              <a:srgbClr val="C9DCEE"/>
            </a:solidFill>
            <a:prstDash val="solid"/>
          </a:ln>
        </p:spPr>
      </p:sp>
      <p:sp>
        <p:nvSpPr>
          <p:cNvPr id="25" name="Shape 23"/>
          <p:cNvSpPr/>
          <p:nvPr/>
        </p:nvSpPr>
        <p:spPr>
          <a:xfrm>
            <a:off x="347472" y="2619756"/>
            <a:ext cx="274320" cy="274320"/>
          </a:xfrm>
          <a:prstGeom prst="ellipse">
            <a:avLst/>
          </a:prstGeom>
          <a:solidFill>
            <a:srgbClr val="00897B"/>
          </a:solidFill>
          <a:ln w="12700">
            <a:solidFill>
              <a:srgbClr val="00897B"/>
            </a:solidFill>
            <a:prstDash val="solid"/>
          </a:ln>
        </p:spPr>
      </p:sp>
      <p:sp>
        <p:nvSpPr>
          <p:cNvPr id="26" name="Text 24"/>
          <p:cNvSpPr txBox="1"/>
          <p:nvPr/>
        </p:nvSpPr>
        <p:spPr>
          <a:xfrm>
            <a:off x="347472" y="2619756"/>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3</a:t>
            </a:r>
            <a:endParaRPr lang="en-US" sz="1080" dirty="0"/>
          </a:p>
        </p:txBody>
      </p:sp>
      <p:sp>
        <p:nvSpPr>
          <p:cNvPr id="27" name="Text 25"/>
          <p:cNvSpPr txBox="1"/>
          <p:nvPr/>
        </p:nvSpPr>
        <p:spPr>
          <a:xfrm>
            <a:off x="685800" y="2578608"/>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3 min</a:t>
            </a:r>
            <a:endParaRPr lang="en-US" sz="900" dirty="0"/>
          </a:p>
        </p:txBody>
      </p:sp>
      <p:sp>
        <p:nvSpPr>
          <p:cNvPr id="28" name="Text 26"/>
          <p:cNvSpPr txBox="1"/>
          <p:nvPr/>
        </p:nvSpPr>
        <p:spPr>
          <a:xfrm>
            <a:off x="1234440" y="2569464"/>
            <a:ext cx="7543800" cy="384048"/>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Title and goals — </a:t>
            </a:r>
            <a:pPr indent="0" marL="0">
              <a:buNone/>
            </a:pPr>
            <a:r>
              <a:rPr lang="en-US" sz="850" dirty="0">
                <a:solidFill>
                  <a:srgbClr val="1F2933"/>
                </a:solidFill>
                <a:latin typeface="Calibri" pitchFamily="34" charset="0"/>
                <a:ea typeface="Calibri" pitchFamily="34" charset="-122"/>
                <a:cs typeface="Calibri" pitchFamily="34" charset="-120"/>
              </a:rPr>
              <a:t>Name the three goals; say plainly that today there WILL be words they do not know, and that is planned.</a:t>
            </a:r>
            <a:endParaRPr lang="en-US" sz="850" dirty="0"/>
          </a:p>
        </p:txBody>
      </p:sp>
      <p:sp>
        <p:nvSpPr>
          <p:cNvPr id="29" name="Shape 27"/>
          <p:cNvSpPr/>
          <p:nvPr/>
        </p:nvSpPr>
        <p:spPr>
          <a:xfrm>
            <a:off x="274320" y="3017520"/>
            <a:ext cx="8595360" cy="429768"/>
          </a:xfrm>
          <a:prstGeom prst="roundRect">
            <a:avLst>
              <a:gd name="adj" fmla="val 8511"/>
            </a:avLst>
          </a:prstGeom>
          <a:solidFill>
            <a:srgbClr val="FFFFFF"/>
          </a:solidFill>
          <a:ln w="9525">
            <a:solidFill>
              <a:srgbClr val="C9DCEE"/>
            </a:solidFill>
            <a:prstDash val="solid"/>
          </a:ln>
        </p:spPr>
      </p:sp>
      <p:sp>
        <p:nvSpPr>
          <p:cNvPr id="30" name="Shape 28"/>
          <p:cNvSpPr/>
          <p:nvPr/>
        </p:nvSpPr>
        <p:spPr>
          <a:xfrm>
            <a:off x="347472" y="3095244"/>
            <a:ext cx="274320" cy="274320"/>
          </a:xfrm>
          <a:prstGeom prst="ellipse">
            <a:avLst/>
          </a:prstGeom>
          <a:solidFill>
            <a:srgbClr val="00897B"/>
          </a:solidFill>
          <a:ln w="12700">
            <a:solidFill>
              <a:srgbClr val="00897B"/>
            </a:solidFill>
            <a:prstDash val="solid"/>
          </a:ln>
        </p:spPr>
      </p:sp>
      <p:sp>
        <p:nvSpPr>
          <p:cNvPr id="31" name="Text 29"/>
          <p:cNvSpPr txBox="1"/>
          <p:nvPr/>
        </p:nvSpPr>
        <p:spPr>
          <a:xfrm>
            <a:off x="347472" y="3095244"/>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4</a:t>
            </a:r>
            <a:endParaRPr lang="en-US" sz="1080" dirty="0"/>
          </a:p>
        </p:txBody>
      </p:sp>
      <p:sp>
        <p:nvSpPr>
          <p:cNvPr id="32" name="Text 30"/>
          <p:cNvSpPr txBox="1"/>
          <p:nvPr/>
        </p:nvSpPr>
        <p:spPr>
          <a:xfrm>
            <a:off x="685800" y="3054096"/>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12 min</a:t>
            </a:r>
            <a:endParaRPr lang="en-US" sz="900" dirty="0"/>
          </a:p>
        </p:txBody>
      </p:sp>
      <p:sp>
        <p:nvSpPr>
          <p:cNvPr id="33" name="Text 31"/>
          <p:cNvSpPr txBox="1"/>
          <p:nvPr/>
        </p:nvSpPr>
        <p:spPr>
          <a:xfrm>
            <a:off x="1234440" y="3044952"/>
            <a:ext cx="7543800" cy="384048"/>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Vocabulary + Part A — </a:t>
            </a:r>
            <a:pPr indent="0" marL="0">
              <a:buNone/>
            </a:pPr>
            <a:r>
              <a:rPr lang="en-US" sz="850" dirty="0">
                <a:solidFill>
                  <a:srgbClr val="1F2933"/>
                </a:solidFill>
                <a:latin typeface="Calibri" pitchFamily="34" charset="0"/>
                <a:ea typeface="Calibri" pitchFamily="34" charset="-122"/>
                <a:cs typeface="Calibri" pitchFamily="34" charset="-120"/>
              </a:rPr>
              <a:t>Hand out the worksheet. Teach the ten words, then students complete Part A (example word already crossed out). Reveal answers one at a time.</a:t>
            </a:r>
            <a:endParaRPr lang="en-US" sz="850" dirty="0"/>
          </a:p>
        </p:txBody>
      </p:sp>
      <p:sp>
        <p:nvSpPr>
          <p:cNvPr id="34" name="Shape 32"/>
          <p:cNvSpPr/>
          <p:nvPr/>
        </p:nvSpPr>
        <p:spPr>
          <a:xfrm>
            <a:off x="274320" y="3493008"/>
            <a:ext cx="8595360" cy="429768"/>
          </a:xfrm>
          <a:prstGeom prst="roundRect">
            <a:avLst>
              <a:gd name="adj" fmla="val 8511"/>
            </a:avLst>
          </a:prstGeom>
          <a:solidFill>
            <a:srgbClr val="FFFFFF"/>
          </a:solidFill>
          <a:ln w="9525">
            <a:solidFill>
              <a:srgbClr val="C9DCEE"/>
            </a:solidFill>
            <a:prstDash val="solid"/>
          </a:ln>
        </p:spPr>
      </p:sp>
      <p:sp>
        <p:nvSpPr>
          <p:cNvPr id="35" name="Shape 33"/>
          <p:cNvSpPr/>
          <p:nvPr/>
        </p:nvSpPr>
        <p:spPr>
          <a:xfrm>
            <a:off x="347472" y="3570732"/>
            <a:ext cx="274320" cy="274320"/>
          </a:xfrm>
          <a:prstGeom prst="ellipse">
            <a:avLst/>
          </a:prstGeom>
          <a:solidFill>
            <a:srgbClr val="00897B"/>
          </a:solidFill>
          <a:ln w="12700">
            <a:solidFill>
              <a:srgbClr val="00897B"/>
            </a:solidFill>
            <a:prstDash val="solid"/>
          </a:ln>
        </p:spPr>
      </p:sp>
      <p:sp>
        <p:nvSpPr>
          <p:cNvPr id="36" name="Text 34"/>
          <p:cNvSpPr txBox="1"/>
          <p:nvPr/>
        </p:nvSpPr>
        <p:spPr>
          <a:xfrm>
            <a:off x="347472" y="3570732"/>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5</a:t>
            </a:r>
            <a:endParaRPr lang="en-US" sz="1080" dirty="0"/>
          </a:p>
        </p:txBody>
      </p:sp>
      <p:sp>
        <p:nvSpPr>
          <p:cNvPr id="37" name="Text 35"/>
          <p:cNvSpPr txBox="1"/>
          <p:nvPr/>
        </p:nvSpPr>
        <p:spPr>
          <a:xfrm>
            <a:off x="685800" y="3529584"/>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10 min</a:t>
            </a:r>
            <a:endParaRPr lang="en-US" sz="900" dirty="0"/>
          </a:p>
        </p:txBody>
      </p:sp>
      <p:sp>
        <p:nvSpPr>
          <p:cNvPr id="38" name="Text 36"/>
          <p:cNvSpPr txBox="1"/>
          <p:nvPr/>
        </p:nvSpPr>
        <p:spPr>
          <a:xfrm>
            <a:off x="1234440" y="3520440"/>
            <a:ext cx="7543800" cy="384048"/>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Two kinds of question + Part B — </a:t>
            </a:r>
            <a:pPr indent="0" marL="0">
              <a:buNone/>
            </a:pPr>
            <a:r>
              <a:rPr lang="en-US" sz="850" dirty="0">
                <a:solidFill>
                  <a:srgbClr val="1F2933"/>
                </a:solidFill>
                <a:latin typeface="Calibri" pitchFamily="34" charset="0"/>
                <a:ea typeface="Calibri" pitchFamily="34" charset="-122"/>
                <a:cs typeface="Calibri" pitchFamily="34" charset="-120"/>
              </a:rPr>
              <a:t>Literal = you can point at a line; inference = you work it out. Hood-up example. Students complete Part B; reveal one at a time.</a:t>
            </a:r>
            <a:endParaRPr lang="en-US" sz="850" dirty="0"/>
          </a:p>
        </p:txBody>
      </p:sp>
      <p:sp>
        <p:nvSpPr>
          <p:cNvPr id="39" name="Shape 37"/>
          <p:cNvSpPr/>
          <p:nvPr/>
        </p:nvSpPr>
        <p:spPr>
          <a:xfrm>
            <a:off x="274320" y="3968496"/>
            <a:ext cx="8595360" cy="429768"/>
          </a:xfrm>
          <a:prstGeom prst="roundRect">
            <a:avLst>
              <a:gd name="adj" fmla="val 8511"/>
            </a:avLst>
          </a:prstGeom>
          <a:solidFill>
            <a:srgbClr val="FFFFFF"/>
          </a:solidFill>
          <a:ln w="9525">
            <a:solidFill>
              <a:srgbClr val="C9DCEE"/>
            </a:solidFill>
            <a:prstDash val="solid"/>
          </a:ln>
        </p:spPr>
      </p:sp>
      <p:sp>
        <p:nvSpPr>
          <p:cNvPr id="40" name="Shape 38"/>
          <p:cNvSpPr/>
          <p:nvPr/>
        </p:nvSpPr>
        <p:spPr>
          <a:xfrm>
            <a:off x="347472" y="4046220"/>
            <a:ext cx="274320" cy="274320"/>
          </a:xfrm>
          <a:prstGeom prst="ellipse">
            <a:avLst/>
          </a:prstGeom>
          <a:solidFill>
            <a:srgbClr val="00897B"/>
          </a:solidFill>
          <a:ln w="12700">
            <a:solidFill>
              <a:srgbClr val="00897B"/>
            </a:solidFill>
            <a:prstDash val="solid"/>
          </a:ln>
        </p:spPr>
      </p:sp>
      <p:sp>
        <p:nvSpPr>
          <p:cNvPr id="41" name="Text 39"/>
          <p:cNvSpPr txBox="1"/>
          <p:nvPr/>
        </p:nvSpPr>
        <p:spPr>
          <a:xfrm>
            <a:off x="347472" y="404622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6</a:t>
            </a:r>
            <a:endParaRPr lang="en-US" sz="1080" dirty="0"/>
          </a:p>
        </p:txBody>
      </p:sp>
      <p:sp>
        <p:nvSpPr>
          <p:cNvPr id="42" name="Text 40"/>
          <p:cNvSpPr txBox="1"/>
          <p:nvPr/>
        </p:nvSpPr>
        <p:spPr>
          <a:xfrm>
            <a:off x="685800" y="4005072"/>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4 min</a:t>
            </a:r>
            <a:endParaRPr lang="en-US" sz="900" dirty="0"/>
          </a:p>
        </p:txBody>
      </p:sp>
      <p:sp>
        <p:nvSpPr>
          <p:cNvPr id="43" name="Text 41"/>
          <p:cNvSpPr txBox="1"/>
          <p:nvPr/>
        </p:nvSpPr>
        <p:spPr>
          <a:xfrm>
            <a:off x="1234440" y="3995928"/>
            <a:ext cx="7543800" cy="384048"/>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Guessing is allowed — </a:t>
            </a:r>
            <a:pPr indent="0" marL="0">
              <a:buNone/>
            </a:pPr>
            <a:r>
              <a:rPr lang="en-US" sz="850" dirty="0">
                <a:solidFill>
                  <a:srgbClr val="1F2933"/>
                </a:solidFill>
                <a:latin typeface="Calibri" pitchFamily="34" charset="0"/>
                <a:ea typeface="Calibri" pitchFamily="34" charset="-122"/>
                <a:cs typeface="Calibri" pitchFamily="34" charset="-120"/>
              </a:rPr>
              <a:t>Read to the end of the sentence; underline and keep going; the right idea with the wrong word still counts.</a:t>
            </a:r>
            <a:endParaRPr lang="en-US" sz="850" dirty="0"/>
          </a:p>
        </p:txBody>
      </p:sp>
      <p:sp>
        <p:nvSpPr>
          <p:cNvPr id="44" name="Shape 42"/>
          <p:cNvSpPr/>
          <p:nvPr/>
        </p:nvSpPr>
        <p:spPr>
          <a:xfrm>
            <a:off x="274320" y="4443984"/>
            <a:ext cx="8595360" cy="429768"/>
          </a:xfrm>
          <a:prstGeom prst="roundRect">
            <a:avLst>
              <a:gd name="adj" fmla="val 8511"/>
            </a:avLst>
          </a:prstGeom>
          <a:solidFill>
            <a:srgbClr val="FFFFFF"/>
          </a:solidFill>
          <a:ln w="9525">
            <a:solidFill>
              <a:srgbClr val="C9DCEE"/>
            </a:solidFill>
            <a:prstDash val="solid"/>
          </a:ln>
        </p:spPr>
      </p:sp>
      <p:sp>
        <p:nvSpPr>
          <p:cNvPr id="45" name="Shape 43"/>
          <p:cNvSpPr/>
          <p:nvPr/>
        </p:nvSpPr>
        <p:spPr>
          <a:xfrm>
            <a:off x="347472" y="4521708"/>
            <a:ext cx="274320" cy="274320"/>
          </a:xfrm>
          <a:prstGeom prst="ellipse">
            <a:avLst/>
          </a:prstGeom>
          <a:solidFill>
            <a:srgbClr val="00897B"/>
          </a:solidFill>
          <a:ln w="12700">
            <a:solidFill>
              <a:srgbClr val="00897B"/>
            </a:solidFill>
            <a:prstDash val="solid"/>
          </a:ln>
        </p:spPr>
      </p:sp>
      <p:sp>
        <p:nvSpPr>
          <p:cNvPr id="46" name="Text 44"/>
          <p:cNvSpPr txBox="1"/>
          <p:nvPr/>
        </p:nvSpPr>
        <p:spPr>
          <a:xfrm>
            <a:off x="347472" y="4521708"/>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7</a:t>
            </a:r>
            <a:endParaRPr lang="en-US" sz="1080" dirty="0"/>
          </a:p>
        </p:txBody>
      </p:sp>
      <p:sp>
        <p:nvSpPr>
          <p:cNvPr id="47" name="Text 45"/>
          <p:cNvSpPr txBox="1"/>
          <p:nvPr/>
        </p:nvSpPr>
        <p:spPr>
          <a:xfrm>
            <a:off x="685800" y="4480560"/>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15 min</a:t>
            </a:r>
            <a:endParaRPr lang="en-US" sz="900" dirty="0"/>
          </a:p>
        </p:txBody>
      </p:sp>
      <p:sp>
        <p:nvSpPr>
          <p:cNvPr id="48" name="Text 46"/>
          <p:cNvSpPr txBox="1"/>
          <p:nvPr/>
        </p:nvSpPr>
        <p:spPr>
          <a:xfrm>
            <a:off x="1234440" y="4471416"/>
            <a:ext cx="7543800" cy="384048"/>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Read ‘The Long Way Home’ — </a:t>
            </a:r>
            <a:pPr indent="0" marL="0">
              <a:buNone/>
            </a:pPr>
            <a:r>
              <a:rPr lang="en-US" sz="850" dirty="0">
                <a:solidFill>
                  <a:srgbClr val="1F2933"/>
                </a:solidFill>
                <a:latin typeface="Calibri" pitchFamily="34" charset="0"/>
                <a:ea typeface="Calibri" pitchFamily="34" charset="-122"/>
                <a:cs typeface="Calibri" pitchFamily="34" charset="-120"/>
              </a:rPr>
              <a:t>First read straight through, no stopping, no word list. Second read with a pencil: underline unsure words, star what you pictured, ? beside anything confusing. Story is on the slides in full; the word list slide follows.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p:bgPr>
    </p:bg>
    <p:spTree>
      <p:nvGrpSpPr>
        <p:cNvPr id="1" name=""/>
        <p:cNvGrpSpPr/>
        <p:nvPr/>
      </p:nvGrpSpPr>
      <p:grpSpPr>
        <a:xfrm>
          <a:off x="0" y="0"/>
          <a:ext cx="0" cy="0"/>
          <a:chOff x="0" y="0"/>
          <a:chExt cx="0" cy="0"/>
        </a:xfrm>
      </p:grpSpPr>
      <p:sp>
        <p:nvSpPr>
          <p:cNvPr id="2" name="Shape 0"/>
          <p:cNvSpPr/>
          <p:nvPr/>
        </p:nvSpPr>
        <p:spPr>
          <a:xfrm>
            <a:off x="0" y="0"/>
            <a:ext cx="9144000" cy="310896"/>
          </a:xfrm>
          <a:prstGeom prst="rect">
            <a:avLst/>
          </a:prstGeom>
          <a:solidFill>
            <a:srgbClr val="0B2C4D"/>
          </a:solidFill>
          <a:ln w="12700">
            <a:solidFill>
              <a:srgbClr val="0B2C4D"/>
            </a:solidFill>
            <a:prstDash val="solid"/>
          </a:ln>
        </p:spPr>
      </p:sp>
      <p:sp>
        <p:nvSpPr>
          <p:cNvPr id="3" name="Text 1"/>
          <p:cNvSpPr txBox="1"/>
          <p:nvPr/>
        </p:nvSpPr>
        <p:spPr>
          <a:xfrm>
            <a:off x="274320" y="82296"/>
            <a:ext cx="6400800" cy="164592"/>
          </a:xfrm>
          <a:prstGeom prst="rect">
            <a:avLst/>
          </a:prstGeom>
          <a:noFill/>
          <a:ln/>
        </p:spPr>
        <p:txBody>
          <a:bodyPr wrap="square" lIns="0" tIns="0" rIns="0" bIns="0" rtlCol="0" anchor="t"/>
          <a:lstStyle/>
          <a:p>
            <a:pPr indent="0" marL="0">
              <a:buNone/>
            </a:pPr>
            <a:r>
              <a:rPr lang="en-US" sz="850" b="1" spc="200" kern="0" dirty="0">
                <a:solidFill>
                  <a:srgbClr val="FFFFFF"/>
                </a:solidFill>
                <a:latin typeface="Calibri" pitchFamily="34" charset="0"/>
                <a:ea typeface="Calibri" pitchFamily="34" charset="-122"/>
                <a:cs typeface="Calibri" pitchFamily="34" charset="-120"/>
              </a:rPr>
              <a:t>LESSON PLAN 2 OF 2  ·  TEACHER SLIDE  ·  SKIP WHEN PRESENTING</a:t>
            </a:r>
            <a:endParaRPr lang="en-US" sz="850" dirty="0"/>
          </a:p>
        </p:txBody>
      </p:sp>
      <p:sp>
        <p:nvSpPr>
          <p:cNvPr id="4" name="Shape 2"/>
          <p:cNvSpPr/>
          <p:nvPr/>
        </p:nvSpPr>
        <p:spPr>
          <a:xfrm>
            <a:off x="7498080" y="45720"/>
            <a:ext cx="457200" cy="219456"/>
          </a:xfrm>
          <a:prstGeom prst="roundRect">
            <a:avLst>
              <a:gd name="adj" fmla="val 20833"/>
            </a:avLst>
          </a:prstGeom>
          <a:solidFill>
            <a:srgbClr val="00897B"/>
          </a:solidFill>
          <a:ln w="12700">
            <a:solidFill>
              <a:srgbClr val="00897B"/>
            </a:solidFill>
            <a:prstDash val="solid"/>
          </a:ln>
        </p:spPr>
      </p:sp>
      <p:sp>
        <p:nvSpPr>
          <p:cNvPr id="5" name="Text 3"/>
          <p:cNvSpPr txBox="1"/>
          <p:nvPr/>
        </p:nvSpPr>
        <p:spPr>
          <a:xfrm>
            <a:off x="7498080" y="45720"/>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COM</a:t>
            </a:r>
            <a:endParaRPr lang="en-US" sz="800" dirty="0"/>
          </a:p>
        </p:txBody>
      </p:sp>
      <p:sp>
        <p:nvSpPr>
          <p:cNvPr id="6" name="Shape 4"/>
          <p:cNvSpPr/>
          <p:nvPr/>
        </p:nvSpPr>
        <p:spPr>
          <a:xfrm>
            <a:off x="8028432" y="45720"/>
            <a:ext cx="457200" cy="219456"/>
          </a:xfrm>
          <a:prstGeom prst="roundRect">
            <a:avLst>
              <a:gd name="adj" fmla="val 20833"/>
            </a:avLst>
          </a:prstGeom>
          <a:solidFill>
            <a:srgbClr val="00897B"/>
          </a:solidFill>
          <a:ln w="12700">
            <a:solidFill>
              <a:srgbClr val="00897B"/>
            </a:solidFill>
            <a:prstDash val="solid"/>
          </a:ln>
        </p:spPr>
      </p:sp>
      <p:sp>
        <p:nvSpPr>
          <p:cNvPr id="7" name="Text 5"/>
          <p:cNvSpPr txBox="1"/>
          <p:nvPr/>
        </p:nvSpPr>
        <p:spPr>
          <a:xfrm>
            <a:off x="8028432" y="45720"/>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TH</a:t>
            </a:r>
            <a:endParaRPr lang="en-US" sz="800" dirty="0"/>
          </a:p>
        </p:txBody>
      </p:sp>
      <p:sp>
        <p:nvSpPr>
          <p:cNvPr id="8" name="Shape 6"/>
          <p:cNvSpPr/>
          <p:nvPr/>
        </p:nvSpPr>
        <p:spPr>
          <a:xfrm>
            <a:off x="8558784" y="45720"/>
            <a:ext cx="457200" cy="219456"/>
          </a:xfrm>
          <a:prstGeom prst="roundRect">
            <a:avLst>
              <a:gd name="adj" fmla="val 20833"/>
            </a:avLst>
          </a:prstGeom>
          <a:solidFill>
            <a:srgbClr val="00897B"/>
          </a:solidFill>
          <a:ln w="12700">
            <a:solidFill>
              <a:srgbClr val="00897B"/>
            </a:solidFill>
            <a:prstDash val="solid"/>
          </a:ln>
        </p:spPr>
      </p:sp>
      <p:sp>
        <p:nvSpPr>
          <p:cNvPr id="9" name="Text 7"/>
          <p:cNvSpPr txBox="1"/>
          <p:nvPr/>
        </p:nvSpPr>
        <p:spPr>
          <a:xfrm>
            <a:off x="8558784" y="45720"/>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PS</a:t>
            </a:r>
            <a:endParaRPr lang="en-US" sz="800" dirty="0"/>
          </a:p>
        </p:txBody>
      </p:sp>
      <p:sp>
        <p:nvSpPr>
          <p:cNvPr id="10" name="Text 8"/>
          <p:cNvSpPr txBox="1"/>
          <p:nvPr/>
        </p:nvSpPr>
        <p:spPr>
          <a:xfrm>
            <a:off x="274320" y="384048"/>
            <a:ext cx="8595360" cy="228600"/>
          </a:xfrm>
          <a:prstGeom prst="rect">
            <a:avLst/>
          </a:prstGeom>
          <a:noFill/>
          <a:ln/>
        </p:spPr>
        <p:txBody>
          <a:bodyPr wrap="square" lIns="0" tIns="0" rIns="0" bIns="0" rtlCol="0" anchor="t"/>
          <a:lstStyle/>
          <a:p>
            <a:pPr indent="0" marL="0">
              <a:buNone/>
            </a:pPr>
            <a:r>
              <a:rPr lang="en-US" sz="1300" b="1" dirty="0">
                <a:solidFill>
                  <a:srgbClr val="0B2C4D"/>
                </a:solidFill>
                <a:latin typeface="Calibri" pitchFamily="34" charset="0"/>
                <a:ea typeface="Calibri" pitchFamily="34" charset="-122"/>
                <a:cs typeface="Calibri" pitchFamily="34" charset="-120"/>
              </a:rPr>
              <a:t>ELL3 — Unit 1: The Exact Thing — Lesson 2: Cold Start: First Reading</a:t>
            </a:r>
            <a:endParaRPr lang="en-US" sz="1300" dirty="0"/>
          </a:p>
        </p:txBody>
      </p:sp>
      <p:sp>
        <p:nvSpPr>
          <p:cNvPr id="11" name="Text 9"/>
          <p:cNvSpPr txBox="1"/>
          <p:nvPr/>
        </p:nvSpPr>
        <p:spPr>
          <a:xfrm>
            <a:off x="274320" y="685800"/>
            <a:ext cx="8229600" cy="182880"/>
          </a:xfrm>
          <a:prstGeom prst="rect">
            <a:avLst/>
          </a:prstGeom>
          <a:noFill/>
          <a:ln/>
        </p:spPr>
        <p:txBody>
          <a:bodyPr wrap="square" lIns="0" tIns="0" rIns="0" bIns="0" rtlCol="0" anchor="t"/>
          <a:lstStyle/>
          <a:p>
            <a:pPr indent="0" marL="0">
              <a:buNone/>
            </a:pPr>
            <a:r>
              <a:rPr lang="en-US" sz="850" b="1" spc="100" kern="0" dirty="0">
                <a:solidFill>
                  <a:srgbClr val="5F6B7A"/>
                </a:solidFill>
                <a:latin typeface="Calibri" pitchFamily="34" charset="0"/>
                <a:ea typeface="Calibri" pitchFamily="34" charset="-122"/>
                <a:cs typeface="Calibri" pitchFamily="34" charset="-120"/>
              </a:rPr>
              <a:t>TIMED SEQUENCE (continued)  ·  about 105 minutes in all — carry over as needed</a:t>
            </a:r>
            <a:endParaRPr lang="en-US" sz="850" dirty="0"/>
          </a:p>
        </p:txBody>
      </p:sp>
      <p:sp>
        <p:nvSpPr>
          <p:cNvPr id="12" name="Shape 10"/>
          <p:cNvSpPr/>
          <p:nvPr/>
        </p:nvSpPr>
        <p:spPr>
          <a:xfrm>
            <a:off x="274320" y="905256"/>
            <a:ext cx="8595360" cy="374904"/>
          </a:xfrm>
          <a:prstGeom prst="roundRect">
            <a:avLst>
              <a:gd name="adj" fmla="val 9756"/>
            </a:avLst>
          </a:prstGeom>
          <a:solidFill>
            <a:srgbClr val="FFFFFF"/>
          </a:solidFill>
          <a:ln w="9525">
            <a:solidFill>
              <a:srgbClr val="C9DCEE"/>
            </a:solidFill>
            <a:prstDash val="solid"/>
          </a:ln>
        </p:spPr>
      </p:sp>
      <p:sp>
        <p:nvSpPr>
          <p:cNvPr id="13" name="Shape 11"/>
          <p:cNvSpPr/>
          <p:nvPr/>
        </p:nvSpPr>
        <p:spPr>
          <a:xfrm>
            <a:off x="347472" y="955548"/>
            <a:ext cx="274320" cy="274320"/>
          </a:xfrm>
          <a:prstGeom prst="ellipse">
            <a:avLst/>
          </a:prstGeom>
          <a:solidFill>
            <a:srgbClr val="00897B"/>
          </a:solidFill>
          <a:ln w="12700">
            <a:solidFill>
              <a:srgbClr val="00897B"/>
            </a:solidFill>
            <a:prstDash val="solid"/>
          </a:ln>
        </p:spPr>
      </p:sp>
      <p:sp>
        <p:nvSpPr>
          <p:cNvPr id="14" name="Text 12"/>
          <p:cNvSpPr txBox="1"/>
          <p:nvPr/>
        </p:nvSpPr>
        <p:spPr>
          <a:xfrm>
            <a:off x="347472" y="955548"/>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8</a:t>
            </a:r>
            <a:endParaRPr lang="en-US" sz="1080" dirty="0"/>
          </a:p>
        </p:txBody>
      </p:sp>
      <p:sp>
        <p:nvSpPr>
          <p:cNvPr id="15" name="Text 13"/>
          <p:cNvSpPr txBox="1"/>
          <p:nvPr/>
        </p:nvSpPr>
        <p:spPr>
          <a:xfrm>
            <a:off x="685800" y="941832"/>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20 min</a:t>
            </a:r>
            <a:endParaRPr lang="en-US" sz="900" dirty="0"/>
          </a:p>
        </p:txBody>
      </p:sp>
      <p:sp>
        <p:nvSpPr>
          <p:cNvPr id="16" name="Text 14"/>
          <p:cNvSpPr txBox="1"/>
          <p:nvPr/>
        </p:nvSpPr>
        <p:spPr>
          <a:xfrm>
            <a:off x="1234440" y="932688"/>
            <a:ext cx="7543800" cy="329184"/>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Parts C and D (independent) — </a:t>
            </a:r>
            <a:pPr indent="0" marL="0">
              <a:buNone/>
            </a:pPr>
            <a:r>
              <a:rPr lang="en-US" sz="850" dirty="0">
                <a:solidFill>
                  <a:srgbClr val="1F2933"/>
                </a:solidFill>
                <a:latin typeface="Calibri" pitchFamily="34" charset="0"/>
                <a:ea typeface="Calibri" pitchFamily="34" charset="-122"/>
                <a:cs typeface="Calibri" pitchFamily="34" charset="-120"/>
              </a:rPr>
              <a:t>C: literal answers with line numbers. D: inference — a claim AND the evidence (sentence frame in the box). Circulate; help slips in use. Reveal C and D answers after.</a:t>
            </a:r>
            <a:endParaRPr lang="en-US" sz="850" dirty="0"/>
          </a:p>
        </p:txBody>
      </p:sp>
      <p:sp>
        <p:nvSpPr>
          <p:cNvPr id="17" name="Shape 15"/>
          <p:cNvSpPr/>
          <p:nvPr/>
        </p:nvSpPr>
        <p:spPr>
          <a:xfrm>
            <a:off x="274320" y="1325880"/>
            <a:ext cx="8595360" cy="374904"/>
          </a:xfrm>
          <a:prstGeom prst="roundRect">
            <a:avLst>
              <a:gd name="adj" fmla="val 9756"/>
            </a:avLst>
          </a:prstGeom>
          <a:solidFill>
            <a:srgbClr val="FFFFFF"/>
          </a:solidFill>
          <a:ln w="9525">
            <a:solidFill>
              <a:srgbClr val="C9DCEE"/>
            </a:solidFill>
            <a:prstDash val="solid"/>
          </a:ln>
        </p:spPr>
      </p:sp>
      <p:sp>
        <p:nvSpPr>
          <p:cNvPr id="18" name="Shape 16"/>
          <p:cNvSpPr/>
          <p:nvPr/>
        </p:nvSpPr>
        <p:spPr>
          <a:xfrm>
            <a:off x="347472" y="1376172"/>
            <a:ext cx="274320" cy="274320"/>
          </a:xfrm>
          <a:prstGeom prst="ellipse">
            <a:avLst/>
          </a:prstGeom>
          <a:solidFill>
            <a:srgbClr val="00897B"/>
          </a:solidFill>
          <a:ln w="12700">
            <a:solidFill>
              <a:srgbClr val="00897B"/>
            </a:solidFill>
            <a:prstDash val="solid"/>
          </a:ln>
        </p:spPr>
      </p:sp>
      <p:sp>
        <p:nvSpPr>
          <p:cNvPr id="19" name="Text 17"/>
          <p:cNvSpPr txBox="1"/>
          <p:nvPr/>
        </p:nvSpPr>
        <p:spPr>
          <a:xfrm>
            <a:off x="347472" y="1376172"/>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9</a:t>
            </a:r>
            <a:endParaRPr lang="en-US" sz="1080" dirty="0"/>
          </a:p>
        </p:txBody>
      </p:sp>
      <p:sp>
        <p:nvSpPr>
          <p:cNvPr id="20" name="Text 18"/>
          <p:cNvSpPr txBox="1"/>
          <p:nvPr/>
        </p:nvSpPr>
        <p:spPr>
          <a:xfrm>
            <a:off x="685800" y="1362456"/>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7 min</a:t>
            </a:r>
            <a:endParaRPr lang="en-US" sz="900" dirty="0"/>
          </a:p>
        </p:txBody>
      </p:sp>
      <p:sp>
        <p:nvSpPr>
          <p:cNvPr id="21" name="Text 19"/>
          <p:cNvSpPr txBox="1"/>
          <p:nvPr/>
        </p:nvSpPr>
        <p:spPr>
          <a:xfrm>
            <a:off x="1234440" y="1353312"/>
            <a:ext cx="7543800" cy="329184"/>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Talk it through (partners) — </a:t>
            </a:r>
            <a:pPr indent="0" marL="0">
              <a:buNone/>
            </a:pPr>
            <a:r>
              <a:rPr lang="en-US" sz="850" dirty="0">
                <a:solidFill>
                  <a:srgbClr val="1F2933"/>
                </a:solidFill>
                <a:latin typeface="Calibri" pitchFamily="34" charset="0"/>
                <a:ea typeface="Calibri" pitchFamily="34" charset="-122"/>
                <a:cs typeface="Calibri" pitchFamily="34" charset="-120"/>
              </a:rPr>
              <a:t>Compare underlines, stars and question marks with the frames. They do not have to agree.</a:t>
            </a:r>
            <a:endParaRPr lang="en-US" sz="850" dirty="0"/>
          </a:p>
        </p:txBody>
      </p:sp>
      <p:sp>
        <p:nvSpPr>
          <p:cNvPr id="22" name="Shape 20"/>
          <p:cNvSpPr/>
          <p:nvPr/>
        </p:nvSpPr>
        <p:spPr>
          <a:xfrm>
            <a:off x="274320" y="1746504"/>
            <a:ext cx="8595360" cy="374904"/>
          </a:xfrm>
          <a:prstGeom prst="roundRect">
            <a:avLst>
              <a:gd name="adj" fmla="val 9756"/>
            </a:avLst>
          </a:prstGeom>
          <a:solidFill>
            <a:srgbClr val="FFFFFF"/>
          </a:solidFill>
          <a:ln w="9525">
            <a:solidFill>
              <a:srgbClr val="C9DCEE"/>
            </a:solidFill>
            <a:prstDash val="solid"/>
          </a:ln>
        </p:spPr>
      </p:sp>
      <p:sp>
        <p:nvSpPr>
          <p:cNvPr id="23" name="Shape 21"/>
          <p:cNvSpPr/>
          <p:nvPr/>
        </p:nvSpPr>
        <p:spPr>
          <a:xfrm>
            <a:off x="347472" y="1796796"/>
            <a:ext cx="274320" cy="274320"/>
          </a:xfrm>
          <a:prstGeom prst="ellipse">
            <a:avLst/>
          </a:prstGeom>
          <a:solidFill>
            <a:srgbClr val="00897B"/>
          </a:solidFill>
          <a:ln w="12700">
            <a:solidFill>
              <a:srgbClr val="00897B"/>
            </a:solidFill>
            <a:prstDash val="solid"/>
          </a:ln>
        </p:spPr>
      </p:sp>
      <p:sp>
        <p:nvSpPr>
          <p:cNvPr id="24" name="Text 22"/>
          <p:cNvSpPr txBox="1"/>
          <p:nvPr/>
        </p:nvSpPr>
        <p:spPr>
          <a:xfrm>
            <a:off x="347472" y="1796796"/>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10</a:t>
            </a:r>
            <a:endParaRPr lang="en-US" sz="1080" dirty="0"/>
          </a:p>
        </p:txBody>
      </p:sp>
      <p:sp>
        <p:nvSpPr>
          <p:cNvPr id="25" name="Text 23"/>
          <p:cNvSpPr txBox="1"/>
          <p:nvPr/>
        </p:nvSpPr>
        <p:spPr>
          <a:xfrm>
            <a:off x="685800" y="1783080"/>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10 min</a:t>
            </a:r>
            <a:endParaRPr lang="en-US" sz="900" dirty="0"/>
          </a:p>
        </p:txBody>
      </p:sp>
      <p:sp>
        <p:nvSpPr>
          <p:cNvPr id="26" name="Text 24"/>
          <p:cNvSpPr txBox="1"/>
          <p:nvPr/>
        </p:nvSpPr>
        <p:spPr>
          <a:xfrm>
            <a:off x="1234440" y="1773936"/>
            <a:ext cx="7543800" cy="329184"/>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Parts E, F, G — </a:t>
            </a:r>
            <a:pPr indent="0" marL="0">
              <a:buNone/>
            </a:pPr>
            <a:r>
              <a:rPr lang="en-US" sz="850" dirty="0">
                <a:solidFill>
                  <a:srgbClr val="1F2933"/>
                </a:solidFill>
                <a:latin typeface="Calibri" pitchFamily="34" charset="0"/>
                <a:ea typeface="Calibri" pitchFamily="34" charset="-122"/>
                <a:cs typeface="Calibri" pitchFamily="34" charset="-120"/>
              </a:rPr>
              <a:t>E: list own strategies. F: why an inference needs a because; write a literal + an inference question. G: tick-box check before handing in.</a:t>
            </a:r>
            <a:endParaRPr lang="en-US" sz="850" dirty="0"/>
          </a:p>
        </p:txBody>
      </p:sp>
      <p:sp>
        <p:nvSpPr>
          <p:cNvPr id="27" name="Shape 25"/>
          <p:cNvSpPr/>
          <p:nvPr/>
        </p:nvSpPr>
        <p:spPr>
          <a:xfrm>
            <a:off x="274320" y="2167128"/>
            <a:ext cx="8595360" cy="374904"/>
          </a:xfrm>
          <a:prstGeom prst="roundRect">
            <a:avLst>
              <a:gd name="adj" fmla="val 9756"/>
            </a:avLst>
          </a:prstGeom>
          <a:solidFill>
            <a:srgbClr val="FFFFFF"/>
          </a:solidFill>
          <a:ln w="9525">
            <a:solidFill>
              <a:srgbClr val="C9DCEE"/>
            </a:solidFill>
            <a:prstDash val="solid"/>
          </a:ln>
        </p:spPr>
      </p:sp>
      <p:sp>
        <p:nvSpPr>
          <p:cNvPr id="28" name="Shape 26"/>
          <p:cNvSpPr/>
          <p:nvPr/>
        </p:nvSpPr>
        <p:spPr>
          <a:xfrm>
            <a:off x="347472" y="2217420"/>
            <a:ext cx="274320" cy="274320"/>
          </a:xfrm>
          <a:prstGeom prst="ellipse">
            <a:avLst/>
          </a:prstGeom>
          <a:solidFill>
            <a:srgbClr val="00897B"/>
          </a:solidFill>
          <a:ln w="12700">
            <a:solidFill>
              <a:srgbClr val="00897B"/>
            </a:solidFill>
            <a:prstDash val="solid"/>
          </a:ln>
        </p:spPr>
      </p:sp>
      <p:sp>
        <p:nvSpPr>
          <p:cNvPr id="29" name="Text 27"/>
          <p:cNvSpPr txBox="1"/>
          <p:nvPr/>
        </p:nvSpPr>
        <p:spPr>
          <a:xfrm>
            <a:off x="347472" y="2217420"/>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11</a:t>
            </a:r>
            <a:endParaRPr lang="en-US" sz="1080" dirty="0"/>
          </a:p>
        </p:txBody>
      </p:sp>
      <p:sp>
        <p:nvSpPr>
          <p:cNvPr id="30" name="Text 28"/>
          <p:cNvSpPr txBox="1"/>
          <p:nvPr/>
        </p:nvSpPr>
        <p:spPr>
          <a:xfrm>
            <a:off x="685800" y="2203704"/>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5 min</a:t>
            </a:r>
            <a:endParaRPr lang="en-US" sz="900" dirty="0"/>
          </a:p>
        </p:txBody>
      </p:sp>
      <p:sp>
        <p:nvSpPr>
          <p:cNvPr id="31" name="Text 29"/>
          <p:cNvSpPr txBox="1"/>
          <p:nvPr/>
        </p:nvSpPr>
        <p:spPr>
          <a:xfrm>
            <a:off x="1234440" y="2194560"/>
            <a:ext cx="7543800" cy="329184"/>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Exit ticket (Part H) — </a:t>
            </a:r>
            <a:pPr indent="0" marL="0">
              <a:buNone/>
            </a:pPr>
            <a:r>
              <a:rPr lang="en-US" sz="850" dirty="0">
                <a:solidFill>
                  <a:srgbClr val="1F2933"/>
                </a:solidFill>
                <a:latin typeface="Calibri" pitchFamily="34" charset="0"/>
                <a:ea typeface="Calibri" pitchFamily="34" charset="-122"/>
                <a:cs typeface="Calibri" pitchFamily="34" charset="-120"/>
              </a:rPr>
              <a:t>Last Part on the sheet. Then the whole worksheet goes into the duotang — collect duotangs.</a:t>
            </a:r>
            <a:endParaRPr lang="en-US" sz="850" dirty="0"/>
          </a:p>
        </p:txBody>
      </p:sp>
      <p:sp>
        <p:nvSpPr>
          <p:cNvPr id="32" name="Shape 30"/>
          <p:cNvSpPr/>
          <p:nvPr/>
        </p:nvSpPr>
        <p:spPr>
          <a:xfrm>
            <a:off x="274320" y="2587752"/>
            <a:ext cx="8595360" cy="374904"/>
          </a:xfrm>
          <a:prstGeom prst="roundRect">
            <a:avLst>
              <a:gd name="adj" fmla="val 9756"/>
            </a:avLst>
          </a:prstGeom>
          <a:solidFill>
            <a:srgbClr val="FFFFFF"/>
          </a:solidFill>
          <a:ln w="9525">
            <a:solidFill>
              <a:srgbClr val="C9DCEE"/>
            </a:solidFill>
            <a:prstDash val="solid"/>
          </a:ln>
        </p:spPr>
      </p:sp>
      <p:sp>
        <p:nvSpPr>
          <p:cNvPr id="33" name="Shape 31"/>
          <p:cNvSpPr/>
          <p:nvPr/>
        </p:nvSpPr>
        <p:spPr>
          <a:xfrm>
            <a:off x="347472" y="2638044"/>
            <a:ext cx="274320" cy="274320"/>
          </a:xfrm>
          <a:prstGeom prst="ellipse">
            <a:avLst/>
          </a:prstGeom>
          <a:solidFill>
            <a:srgbClr val="00897B"/>
          </a:solidFill>
          <a:ln w="12700">
            <a:solidFill>
              <a:srgbClr val="00897B"/>
            </a:solidFill>
            <a:prstDash val="solid"/>
          </a:ln>
        </p:spPr>
      </p:sp>
      <p:sp>
        <p:nvSpPr>
          <p:cNvPr id="34" name="Text 32"/>
          <p:cNvSpPr txBox="1"/>
          <p:nvPr/>
        </p:nvSpPr>
        <p:spPr>
          <a:xfrm>
            <a:off x="347472" y="2638044"/>
            <a:ext cx="274320" cy="27432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12</a:t>
            </a:r>
            <a:endParaRPr lang="en-US" sz="1080" dirty="0"/>
          </a:p>
        </p:txBody>
      </p:sp>
      <p:sp>
        <p:nvSpPr>
          <p:cNvPr id="35" name="Text 33"/>
          <p:cNvSpPr txBox="1"/>
          <p:nvPr/>
        </p:nvSpPr>
        <p:spPr>
          <a:xfrm>
            <a:off x="685800" y="2624328"/>
            <a:ext cx="548640" cy="182880"/>
          </a:xfrm>
          <a:prstGeom prst="rect">
            <a:avLst/>
          </a:prstGeom>
          <a:noFill/>
          <a:ln/>
        </p:spPr>
        <p:txBody>
          <a:bodyPr wrap="square" lIns="0" tIns="0" rIns="0" bIns="0" rtlCol="0" anchor="t"/>
          <a:lstStyle/>
          <a:p>
            <a:pPr indent="0" marL="0">
              <a:buNone/>
            </a:pPr>
            <a:r>
              <a:rPr lang="en-US" sz="900" b="1" dirty="0">
                <a:solidFill>
                  <a:srgbClr val="00897B"/>
                </a:solidFill>
                <a:latin typeface="Calibri" pitchFamily="34" charset="0"/>
                <a:ea typeface="Calibri" pitchFamily="34" charset="-122"/>
                <a:cs typeface="Calibri" pitchFamily="34" charset="-120"/>
              </a:rPr>
              <a:t>2 min</a:t>
            </a:r>
            <a:endParaRPr lang="en-US" sz="900" dirty="0"/>
          </a:p>
        </p:txBody>
      </p:sp>
      <p:sp>
        <p:nvSpPr>
          <p:cNvPr id="36" name="Text 34"/>
          <p:cNvSpPr txBox="1"/>
          <p:nvPr/>
        </p:nvSpPr>
        <p:spPr>
          <a:xfrm>
            <a:off x="1234440" y="2615184"/>
            <a:ext cx="7543800" cy="329184"/>
          </a:xfrm>
          <a:prstGeom prst="rect">
            <a:avLst/>
          </a:prstGeom>
          <a:noFill/>
          <a:ln/>
        </p:spPr>
        <p:txBody>
          <a:bodyPr wrap="square" lIns="0" tIns="0" rIns="0" bIns="0" rtlCol="0" anchor="ctr"/>
          <a:lstStyle/>
          <a:p>
            <a:pPr indent="0" marL="0">
              <a:buNone/>
            </a:pPr>
            <a:r>
              <a:rPr lang="en-US" sz="850" b="1" dirty="0">
                <a:solidFill>
                  <a:srgbClr val="0B2C4D"/>
                </a:solidFill>
                <a:latin typeface="Calibri" pitchFamily="34" charset="0"/>
                <a:ea typeface="Calibri" pitchFamily="34" charset="-122"/>
                <a:cs typeface="Calibri" pitchFamily="34" charset="-120"/>
              </a:rPr>
              <a:t>Next class + exercise books — </a:t>
            </a:r>
            <a:pPr indent="0" marL="0">
              <a:buNone/>
            </a:pPr>
            <a:r>
              <a:rPr lang="en-US" sz="850" dirty="0">
                <a:solidFill>
                  <a:srgbClr val="1F2933"/>
                </a:solidFill>
                <a:latin typeface="Calibri" pitchFamily="34" charset="0"/>
                <a:ea typeface="Calibri" pitchFamily="34" charset="-122"/>
                <a:cs typeface="Calibri" pitchFamily="34" charset="-120"/>
              </a:rPr>
              <a:t>Next class is a class write. Students write that in their exercise books.</a:t>
            </a:r>
            <a:endParaRPr lang="en-US" sz="850" dirty="0"/>
          </a:p>
        </p:txBody>
      </p:sp>
      <p:sp>
        <p:nvSpPr>
          <p:cNvPr id="37" name="Shape 35"/>
          <p:cNvSpPr/>
          <p:nvPr/>
        </p:nvSpPr>
        <p:spPr>
          <a:xfrm>
            <a:off x="274320" y="3081528"/>
            <a:ext cx="4224528" cy="731520"/>
          </a:xfrm>
          <a:prstGeom prst="roundRect">
            <a:avLst>
              <a:gd name="adj" fmla="val 10000"/>
            </a:avLst>
          </a:prstGeom>
          <a:solidFill>
            <a:srgbClr val="E3F0FB"/>
          </a:solidFill>
          <a:ln w="15875">
            <a:solidFill>
              <a:srgbClr val="90B4D8"/>
            </a:solidFill>
            <a:prstDash val="solid"/>
          </a:ln>
        </p:spPr>
      </p:sp>
      <p:sp>
        <p:nvSpPr>
          <p:cNvPr id="38" name="Text 36"/>
          <p:cNvSpPr txBox="1"/>
          <p:nvPr/>
        </p:nvSpPr>
        <p:spPr>
          <a:xfrm>
            <a:off x="365760" y="3136392"/>
            <a:ext cx="4041648" cy="640080"/>
          </a:xfrm>
          <a:prstGeom prst="rect">
            <a:avLst/>
          </a:prstGeom>
          <a:noFill/>
          <a:ln/>
        </p:spPr>
        <p:txBody>
          <a:bodyPr wrap="square" lIns="0" tIns="0" rIns="0" bIns="0" rtlCol="0" anchor="t"/>
          <a:lstStyle/>
          <a:p>
            <a:pPr indent="0" marL="0">
              <a:buNone/>
            </a:pPr>
            <a:r>
              <a:rPr lang="en-US" sz="850" b="1" dirty="0">
                <a:solidFill>
                  <a:srgbClr val="0B2C4D"/>
                </a:solidFill>
                <a:latin typeface="Calibri" pitchFamily="34" charset="0"/>
                <a:ea typeface="Calibri" pitchFamily="34" charset="-122"/>
                <a:cs typeface="Calibri" pitchFamily="34" charset="-120"/>
              </a:rPr>
              <a:t>Differentiation   </a:t>
            </a:r>
            <a:endParaRPr lang="en-US" sz="850" dirty="0"/>
          </a:p>
          <a:p>
            <a:pPr indent="0" marL="0">
              <a:buNone/>
            </a:pPr>
            <a:r>
              <a:rPr lang="en-US" sz="850" dirty="0">
                <a:solidFill>
                  <a:srgbClr val="1F2933"/>
                </a:solidFill>
                <a:latin typeface="Calibri" pitchFamily="34" charset="0"/>
                <a:ea typeface="Calibri" pitchFamily="34" charset="-122"/>
                <a:cs typeface="Calibri" pitchFamily="34" charset="-120"/>
              </a:rPr>
              <a:t>SUPPORT: word list on screen during the SECOND read; Part D sentence frame; for Part C a line number with key words is a full answer; first-language partner for the warm-up talk. EXTENSION: Part D — add a second piece of evidence; Part E — rank your strategies, most useful first.</a:t>
            </a:r>
            <a:endParaRPr lang="en-US" sz="850" dirty="0"/>
          </a:p>
        </p:txBody>
      </p:sp>
      <p:sp>
        <p:nvSpPr>
          <p:cNvPr id="39" name="Shape 37"/>
          <p:cNvSpPr/>
          <p:nvPr/>
        </p:nvSpPr>
        <p:spPr>
          <a:xfrm>
            <a:off x="4645152" y="3081528"/>
            <a:ext cx="4224528" cy="731520"/>
          </a:xfrm>
          <a:prstGeom prst="roundRect">
            <a:avLst>
              <a:gd name="adj" fmla="val 10000"/>
            </a:avLst>
          </a:prstGeom>
          <a:solidFill>
            <a:srgbClr val="E3F0FB"/>
          </a:solidFill>
          <a:ln w="15875">
            <a:solidFill>
              <a:srgbClr val="90B4D8"/>
            </a:solidFill>
            <a:prstDash val="solid"/>
          </a:ln>
        </p:spPr>
      </p:sp>
      <p:sp>
        <p:nvSpPr>
          <p:cNvPr id="40" name="Text 38"/>
          <p:cNvSpPr txBox="1"/>
          <p:nvPr/>
        </p:nvSpPr>
        <p:spPr>
          <a:xfrm>
            <a:off x="4736592" y="3136392"/>
            <a:ext cx="4041648" cy="640080"/>
          </a:xfrm>
          <a:prstGeom prst="rect">
            <a:avLst/>
          </a:prstGeom>
          <a:noFill/>
          <a:ln/>
        </p:spPr>
        <p:txBody>
          <a:bodyPr wrap="square" lIns="0" tIns="0" rIns="0" bIns="0" rtlCol="0" anchor="t"/>
          <a:lstStyle/>
          <a:p>
            <a:pPr indent="0" marL="0">
              <a:buNone/>
            </a:pPr>
            <a:r>
              <a:rPr lang="en-US" sz="850" b="1" dirty="0">
                <a:solidFill>
                  <a:srgbClr val="0B2C4D"/>
                </a:solidFill>
                <a:latin typeface="Calibri" pitchFamily="34" charset="0"/>
                <a:ea typeface="Calibri" pitchFamily="34" charset="-122"/>
                <a:cs typeface="Calibri" pitchFamily="34" charset="-120"/>
              </a:rPr>
              <a:t>Assessment (formative)   </a:t>
            </a:r>
            <a:endParaRPr lang="en-US" sz="850" dirty="0"/>
          </a:p>
          <a:p>
            <a:pPr indent="0" marL="0">
              <a:buNone/>
            </a:pPr>
            <a:r>
              <a:rPr lang="en-US" sz="850" dirty="0">
                <a:solidFill>
                  <a:srgbClr val="1F2933"/>
                </a:solidFill>
                <a:latin typeface="Calibri" pitchFamily="34" charset="0"/>
                <a:ea typeface="Calibri" pitchFamily="34" charset="-122"/>
                <a:cs typeface="Calibri" pitchFamily="34" charset="-120"/>
              </a:rPr>
              <a:t>Part C: literal retrieval with line references. Part D: does every inference carry evidence (W5 because-sentences)? Part F and exit ticket read from the duotangs after class.</a:t>
            </a:r>
            <a:endParaRPr lang="en-US" sz="850" dirty="0"/>
          </a:p>
        </p:txBody>
      </p:sp>
      <p:sp>
        <p:nvSpPr>
          <p:cNvPr id="41" name="Shape 39"/>
          <p:cNvSpPr/>
          <p:nvPr/>
        </p:nvSpPr>
        <p:spPr>
          <a:xfrm>
            <a:off x="274320" y="3867912"/>
            <a:ext cx="4224528" cy="731520"/>
          </a:xfrm>
          <a:prstGeom prst="roundRect">
            <a:avLst>
              <a:gd name="adj" fmla="val 10000"/>
            </a:avLst>
          </a:prstGeom>
          <a:solidFill>
            <a:srgbClr val="E3F0FB"/>
          </a:solidFill>
          <a:ln w="15875">
            <a:solidFill>
              <a:srgbClr val="90B4D8"/>
            </a:solidFill>
            <a:prstDash val="solid"/>
          </a:ln>
        </p:spPr>
      </p:sp>
      <p:sp>
        <p:nvSpPr>
          <p:cNvPr id="42" name="Text 40"/>
          <p:cNvSpPr txBox="1"/>
          <p:nvPr/>
        </p:nvSpPr>
        <p:spPr>
          <a:xfrm>
            <a:off x="365760" y="3922776"/>
            <a:ext cx="4041648" cy="640080"/>
          </a:xfrm>
          <a:prstGeom prst="rect">
            <a:avLst/>
          </a:prstGeom>
          <a:noFill/>
          <a:ln/>
        </p:spPr>
        <p:txBody>
          <a:bodyPr wrap="square" lIns="0" tIns="0" rIns="0" bIns="0" rtlCol="0" anchor="t"/>
          <a:lstStyle/>
          <a:p>
            <a:pPr indent="0" marL="0">
              <a:buNone/>
            </a:pPr>
            <a:r>
              <a:rPr lang="en-US" sz="850" b="1" dirty="0">
                <a:solidFill>
                  <a:srgbClr val="0B2C4D"/>
                </a:solidFill>
                <a:latin typeface="Calibri" pitchFamily="34" charset="0"/>
                <a:ea typeface="Calibri" pitchFamily="34" charset="-122"/>
                <a:cs typeface="Calibri" pitchFamily="34" charset="-120"/>
              </a:rPr>
              <a:t>Homework   </a:t>
            </a:r>
            <a:endParaRPr lang="en-US" sz="850" dirty="0"/>
          </a:p>
          <a:p>
            <a:pPr indent="0" marL="0">
              <a:buNone/>
            </a:pPr>
            <a:r>
              <a:rPr lang="en-US" sz="850" dirty="0">
                <a:solidFill>
                  <a:srgbClr val="1F2933"/>
                </a:solidFill>
                <a:latin typeface="Calibri" pitchFamily="34" charset="0"/>
                <a:ea typeface="Calibri" pitchFamily="34" charset="-122"/>
                <a:cs typeface="Calibri" pitchFamily="34" charset="-120"/>
              </a:rPr>
              <a:t>None. Write in exercise books: next class is a class write — bring the exercise book.</a:t>
            </a:r>
            <a:endParaRPr lang="en-US" sz="850" dirty="0"/>
          </a:p>
        </p:txBody>
      </p:sp>
      <p:sp>
        <p:nvSpPr>
          <p:cNvPr id="43" name="Shape 41"/>
          <p:cNvSpPr/>
          <p:nvPr/>
        </p:nvSpPr>
        <p:spPr>
          <a:xfrm>
            <a:off x="4645152" y="3867912"/>
            <a:ext cx="4224528" cy="731520"/>
          </a:xfrm>
          <a:prstGeom prst="roundRect">
            <a:avLst>
              <a:gd name="adj" fmla="val 10000"/>
            </a:avLst>
          </a:prstGeom>
          <a:solidFill>
            <a:srgbClr val="FFF3D6"/>
          </a:solidFill>
          <a:ln w="15875">
            <a:solidFill>
              <a:srgbClr val="E0B252"/>
            </a:solidFill>
            <a:prstDash val="solid"/>
          </a:ln>
        </p:spPr>
      </p:sp>
      <p:sp>
        <p:nvSpPr>
          <p:cNvPr id="44" name="Text 42"/>
          <p:cNvSpPr txBox="1"/>
          <p:nvPr/>
        </p:nvSpPr>
        <p:spPr>
          <a:xfrm>
            <a:off x="4736592" y="3922776"/>
            <a:ext cx="4041648" cy="640080"/>
          </a:xfrm>
          <a:prstGeom prst="rect">
            <a:avLst/>
          </a:prstGeom>
          <a:noFill/>
          <a:ln/>
        </p:spPr>
        <p:txBody>
          <a:bodyPr wrap="square" lIns="0" tIns="0" rIns="0" bIns="0" rtlCol="0" anchor="t"/>
          <a:lstStyle/>
          <a:p>
            <a:pPr indent="0" marL="0">
              <a:buNone/>
            </a:pPr>
            <a:r>
              <a:rPr lang="en-US" sz="850" b="1" dirty="0">
                <a:solidFill>
                  <a:srgbClr val="0B2C4D"/>
                </a:solidFill>
                <a:latin typeface="Calibri" pitchFamily="34" charset="0"/>
                <a:ea typeface="Calibri" pitchFamily="34" charset="-122"/>
                <a:cs typeface="Calibri" pitchFamily="34" charset="-120"/>
              </a:rPr>
              <a:t>Watch for   </a:t>
            </a:r>
            <a:endParaRPr lang="en-US" sz="850" dirty="0"/>
          </a:p>
          <a:p>
            <a:pPr indent="0" marL="0">
              <a:buNone/>
            </a:pPr>
            <a:r>
              <a:rPr lang="en-US" sz="850" dirty="0">
                <a:solidFill>
                  <a:srgbClr val="1F2933"/>
                </a:solidFill>
                <a:latin typeface="Calibri" pitchFamily="34" charset="0"/>
                <a:ea typeface="Calibri" pitchFamily="34" charset="-122"/>
                <a:cs typeface="Calibri" pitchFamily="34" charset="-120"/>
              </a:rPr>
              <a:t>Students stopping at the first unknown word (point back to ‘Guessing is allowed’); Part D answers with a claim and no quote, or a quote and no claim; students reading the word list before the first read.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SHAPE OF THE DAY</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Today</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How our class works</a:t>
            </a:r>
            <a:endParaRPr lang="en-US" sz="950" dirty="0"/>
          </a:p>
        </p:txBody>
      </p:sp>
      <p:sp>
        <p:nvSpPr>
          <p:cNvPr id="17" name="Shape 15"/>
          <p:cNvSpPr/>
          <p:nvPr/>
        </p:nvSpPr>
        <p:spPr>
          <a:xfrm>
            <a:off x="411480" y="1417320"/>
            <a:ext cx="402336" cy="402336"/>
          </a:xfrm>
          <a:prstGeom prst="ellipse">
            <a:avLst/>
          </a:prstGeom>
          <a:solidFill>
            <a:srgbClr val="00897B"/>
          </a:solidFill>
          <a:ln w="12700">
            <a:solidFill>
              <a:srgbClr val="00897B"/>
            </a:solidFill>
            <a:prstDash val="solid"/>
          </a:ln>
        </p:spPr>
      </p:sp>
      <p:sp>
        <p:nvSpPr>
          <p:cNvPr id="18" name="Text 16"/>
          <p:cNvSpPr txBox="1"/>
          <p:nvPr/>
        </p:nvSpPr>
        <p:spPr>
          <a:xfrm>
            <a:off x="411480" y="141732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1</a:t>
            </a:r>
            <a:endParaRPr lang="en-US" sz="1584" dirty="0"/>
          </a:p>
        </p:txBody>
      </p:sp>
      <p:sp>
        <p:nvSpPr>
          <p:cNvPr id="19" name="Text 17"/>
          <p:cNvSpPr txBox="1"/>
          <p:nvPr/>
        </p:nvSpPr>
        <p:spPr>
          <a:xfrm>
            <a:off x="941832" y="141732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How our class works</a:t>
            </a:r>
            <a:pPr indent="0" marL="0">
              <a:buNone/>
            </a:pPr>
            <a:r>
              <a:rPr lang="en-US" sz="1600" dirty="0">
                <a:solidFill>
                  <a:srgbClr val="5F6B7A"/>
                </a:solidFill>
                <a:latin typeface="Calibri" pitchFamily="34" charset="0"/>
                <a:ea typeface="Calibri" pitchFamily="34" charset="-122"/>
                <a:cs typeface="Calibri" pitchFamily="34" charset="-120"/>
              </a:rPr>
              <a:t>  (routines)</a:t>
            </a:r>
            <a:endParaRPr lang="en-US" sz="1600" dirty="0"/>
          </a:p>
        </p:txBody>
      </p:sp>
      <p:sp>
        <p:nvSpPr>
          <p:cNvPr id="20" name="Shape 18"/>
          <p:cNvSpPr/>
          <p:nvPr/>
        </p:nvSpPr>
        <p:spPr>
          <a:xfrm>
            <a:off x="411480" y="1965960"/>
            <a:ext cx="402336" cy="402336"/>
          </a:xfrm>
          <a:prstGeom prst="ellipse">
            <a:avLst/>
          </a:prstGeom>
          <a:solidFill>
            <a:srgbClr val="00897B"/>
          </a:solidFill>
          <a:ln w="12700">
            <a:solidFill>
              <a:srgbClr val="00897B"/>
            </a:solidFill>
            <a:prstDash val="solid"/>
          </a:ln>
        </p:spPr>
      </p:sp>
      <p:sp>
        <p:nvSpPr>
          <p:cNvPr id="21" name="Text 19"/>
          <p:cNvSpPr txBox="1"/>
          <p:nvPr/>
        </p:nvSpPr>
        <p:spPr>
          <a:xfrm>
            <a:off x="411480" y="196596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2</a:t>
            </a:r>
            <a:endParaRPr lang="en-US" sz="1584" dirty="0"/>
          </a:p>
        </p:txBody>
      </p:sp>
      <p:sp>
        <p:nvSpPr>
          <p:cNvPr id="22" name="Text 20"/>
          <p:cNvSpPr txBox="1"/>
          <p:nvPr/>
        </p:nvSpPr>
        <p:spPr>
          <a:xfrm>
            <a:off x="941832" y="196596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Warm-up</a:t>
            </a:r>
            <a:pPr indent="0" marL="0">
              <a:buNone/>
            </a:pPr>
            <a:r>
              <a:rPr lang="en-US" sz="1600" dirty="0">
                <a:solidFill>
                  <a:srgbClr val="5F6B7A"/>
                </a:solidFill>
                <a:latin typeface="Calibri" pitchFamily="34" charset="0"/>
                <a:ea typeface="Calibri" pitchFamily="34" charset="-122"/>
                <a:cs typeface="Calibri" pitchFamily="34" charset="-120"/>
              </a:rPr>
              <a:t>  (exercise book)</a:t>
            </a:r>
            <a:endParaRPr lang="en-US" sz="1600" dirty="0"/>
          </a:p>
        </p:txBody>
      </p:sp>
      <p:sp>
        <p:nvSpPr>
          <p:cNvPr id="23" name="Shape 21"/>
          <p:cNvSpPr/>
          <p:nvPr/>
        </p:nvSpPr>
        <p:spPr>
          <a:xfrm>
            <a:off x="411480" y="2514600"/>
            <a:ext cx="402336" cy="402336"/>
          </a:xfrm>
          <a:prstGeom prst="ellipse">
            <a:avLst/>
          </a:prstGeom>
          <a:solidFill>
            <a:srgbClr val="00897B"/>
          </a:solidFill>
          <a:ln w="12700">
            <a:solidFill>
              <a:srgbClr val="00897B"/>
            </a:solidFill>
            <a:prstDash val="solid"/>
          </a:ln>
        </p:spPr>
      </p:sp>
      <p:sp>
        <p:nvSpPr>
          <p:cNvPr id="24" name="Text 22"/>
          <p:cNvSpPr txBox="1"/>
          <p:nvPr/>
        </p:nvSpPr>
        <p:spPr>
          <a:xfrm>
            <a:off x="411480" y="251460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3</a:t>
            </a:r>
            <a:endParaRPr lang="en-US" sz="1584" dirty="0"/>
          </a:p>
        </p:txBody>
      </p:sp>
      <p:sp>
        <p:nvSpPr>
          <p:cNvPr id="25" name="Text 23"/>
          <p:cNvSpPr txBox="1"/>
          <p:nvPr/>
        </p:nvSpPr>
        <p:spPr>
          <a:xfrm>
            <a:off x="941832" y="251460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Key vocabulary — Part A</a:t>
            </a:r>
            <a:pPr indent="0" marL="0">
              <a:buNone/>
            </a:pPr>
            <a:r>
              <a:rPr lang="en-US" sz="1600" dirty="0">
                <a:solidFill>
                  <a:srgbClr val="5F6B7A"/>
                </a:solidFill>
                <a:latin typeface="Calibri" pitchFamily="34" charset="0"/>
                <a:ea typeface="Calibri" pitchFamily="34" charset="-122"/>
                <a:cs typeface="Calibri" pitchFamily="34" charset="-120"/>
              </a:rPr>
              <a:t>  (word bank)</a:t>
            </a:r>
            <a:endParaRPr lang="en-US" sz="1600" dirty="0"/>
          </a:p>
        </p:txBody>
      </p:sp>
      <p:sp>
        <p:nvSpPr>
          <p:cNvPr id="26" name="Shape 24"/>
          <p:cNvSpPr/>
          <p:nvPr/>
        </p:nvSpPr>
        <p:spPr>
          <a:xfrm>
            <a:off x="411480" y="3063240"/>
            <a:ext cx="402336" cy="402336"/>
          </a:xfrm>
          <a:prstGeom prst="ellipse">
            <a:avLst/>
          </a:prstGeom>
          <a:solidFill>
            <a:srgbClr val="00897B"/>
          </a:solidFill>
          <a:ln w="12700">
            <a:solidFill>
              <a:srgbClr val="00897B"/>
            </a:solidFill>
            <a:prstDash val="solid"/>
          </a:ln>
        </p:spPr>
      </p:sp>
      <p:sp>
        <p:nvSpPr>
          <p:cNvPr id="27" name="Text 25"/>
          <p:cNvSpPr txBox="1"/>
          <p:nvPr/>
        </p:nvSpPr>
        <p:spPr>
          <a:xfrm>
            <a:off x="411480" y="306324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4</a:t>
            </a:r>
            <a:endParaRPr lang="en-US" sz="1584" dirty="0"/>
          </a:p>
        </p:txBody>
      </p:sp>
      <p:sp>
        <p:nvSpPr>
          <p:cNvPr id="28" name="Text 26"/>
          <p:cNvSpPr txBox="1"/>
          <p:nvPr/>
        </p:nvSpPr>
        <p:spPr>
          <a:xfrm>
            <a:off x="941832" y="306324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Two kinds of question — Part B</a:t>
            </a:r>
            <a:pPr indent="0" marL="0">
              <a:buNone/>
            </a:pPr>
            <a:r>
              <a:rPr lang="en-US" sz="1600" dirty="0">
                <a:solidFill>
                  <a:srgbClr val="5F6B7A"/>
                </a:solidFill>
                <a:latin typeface="Calibri" pitchFamily="34" charset="0"/>
                <a:ea typeface="Calibri" pitchFamily="34" charset="-122"/>
                <a:cs typeface="Calibri" pitchFamily="34" charset="-120"/>
              </a:rPr>
              <a:t>  (mini-lesson)</a:t>
            </a:r>
            <a:endParaRPr lang="en-US" sz="1600" dirty="0"/>
          </a:p>
        </p:txBody>
      </p:sp>
      <p:sp>
        <p:nvSpPr>
          <p:cNvPr id="29" name="Shape 27"/>
          <p:cNvSpPr/>
          <p:nvPr/>
        </p:nvSpPr>
        <p:spPr>
          <a:xfrm>
            <a:off x="411480" y="3611880"/>
            <a:ext cx="402336" cy="402336"/>
          </a:xfrm>
          <a:prstGeom prst="ellipse">
            <a:avLst/>
          </a:prstGeom>
          <a:solidFill>
            <a:srgbClr val="00897B"/>
          </a:solidFill>
          <a:ln w="12700">
            <a:solidFill>
              <a:srgbClr val="00897B"/>
            </a:solidFill>
            <a:prstDash val="solid"/>
          </a:ln>
        </p:spPr>
      </p:sp>
      <p:sp>
        <p:nvSpPr>
          <p:cNvPr id="30" name="Text 28"/>
          <p:cNvSpPr txBox="1"/>
          <p:nvPr/>
        </p:nvSpPr>
        <p:spPr>
          <a:xfrm>
            <a:off x="411480" y="361188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5</a:t>
            </a:r>
            <a:endParaRPr lang="en-US" sz="1584" dirty="0"/>
          </a:p>
        </p:txBody>
      </p:sp>
      <p:sp>
        <p:nvSpPr>
          <p:cNvPr id="31" name="Text 29"/>
          <p:cNvSpPr txBox="1"/>
          <p:nvPr/>
        </p:nvSpPr>
        <p:spPr>
          <a:xfrm>
            <a:off x="941832" y="361188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Guessing is allowed</a:t>
            </a:r>
            <a:pPr indent="0" marL="0">
              <a:buNone/>
            </a:pPr>
            <a:r>
              <a:rPr lang="en-US" sz="1600" dirty="0">
                <a:solidFill>
                  <a:srgbClr val="5F6B7A"/>
                </a:solidFill>
                <a:latin typeface="Calibri" pitchFamily="34" charset="0"/>
                <a:ea typeface="Calibri" pitchFamily="34" charset="-122"/>
                <a:cs typeface="Calibri" pitchFamily="34" charset="-120"/>
              </a:rPr>
              <a:t>  (mini-lesson)</a:t>
            </a:r>
            <a:endParaRPr lang="en-US" sz="1600" dirty="0"/>
          </a:p>
        </p:txBody>
      </p:sp>
      <p:sp>
        <p:nvSpPr>
          <p:cNvPr id="32" name="Shape 30"/>
          <p:cNvSpPr/>
          <p:nvPr/>
        </p:nvSpPr>
        <p:spPr>
          <a:xfrm>
            <a:off x="411480" y="4160520"/>
            <a:ext cx="402336" cy="402336"/>
          </a:xfrm>
          <a:prstGeom prst="ellipse">
            <a:avLst/>
          </a:prstGeom>
          <a:solidFill>
            <a:srgbClr val="00897B"/>
          </a:solidFill>
          <a:ln w="12700">
            <a:solidFill>
              <a:srgbClr val="00897B"/>
            </a:solidFill>
            <a:prstDash val="solid"/>
          </a:ln>
        </p:spPr>
      </p:sp>
      <p:sp>
        <p:nvSpPr>
          <p:cNvPr id="33" name="Text 31"/>
          <p:cNvSpPr txBox="1"/>
          <p:nvPr/>
        </p:nvSpPr>
        <p:spPr>
          <a:xfrm>
            <a:off x="411480" y="416052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6</a:t>
            </a:r>
            <a:endParaRPr lang="en-US" sz="1584" dirty="0"/>
          </a:p>
        </p:txBody>
      </p:sp>
      <p:sp>
        <p:nvSpPr>
          <p:cNvPr id="34" name="Text 32"/>
          <p:cNvSpPr txBox="1"/>
          <p:nvPr/>
        </p:nvSpPr>
        <p:spPr>
          <a:xfrm>
            <a:off x="941832" y="416052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Read ‘The Long Way Home’</a:t>
            </a:r>
            <a:pPr indent="0" marL="0">
              <a:buNone/>
            </a:pPr>
            <a:r>
              <a:rPr lang="en-US" sz="1600" dirty="0">
                <a:solidFill>
                  <a:srgbClr val="5F6B7A"/>
                </a:solidFill>
                <a:latin typeface="Calibri" pitchFamily="34" charset="0"/>
                <a:ea typeface="Calibri" pitchFamily="34" charset="-122"/>
                <a:cs typeface="Calibri" pitchFamily="34" charset="-120"/>
              </a:rPr>
              <a:t>  (silent reading)</a:t>
            </a:r>
            <a:endParaRPr lang="en-US" sz="1600" dirty="0"/>
          </a:p>
        </p:txBody>
      </p:sp>
      <p:sp>
        <p:nvSpPr>
          <p:cNvPr id="35" name="Shape 33"/>
          <p:cNvSpPr/>
          <p:nvPr/>
        </p:nvSpPr>
        <p:spPr>
          <a:xfrm>
            <a:off x="4709160" y="1417320"/>
            <a:ext cx="402336" cy="402336"/>
          </a:xfrm>
          <a:prstGeom prst="ellipse">
            <a:avLst/>
          </a:prstGeom>
          <a:solidFill>
            <a:srgbClr val="00897B"/>
          </a:solidFill>
          <a:ln w="12700">
            <a:solidFill>
              <a:srgbClr val="00897B"/>
            </a:solidFill>
            <a:prstDash val="solid"/>
          </a:ln>
        </p:spPr>
      </p:sp>
      <p:sp>
        <p:nvSpPr>
          <p:cNvPr id="36" name="Text 34"/>
          <p:cNvSpPr txBox="1"/>
          <p:nvPr/>
        </p:nvSpPr>
        <p:spPr>
          <a:xfrm>
            <a:off x="4709160" y="141732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7</a:t>
            </a:r>
            <a:endParaRPr lang="en-US" sz="1584" dirty="0"/>
          </a:p>
        </p:txBody>
      </p:sp>
      <p:sp>
        <p:nvSpPr>
          <p:cNvPr id="37" name="Text 35"/>
          <p:cNvSpPr txBox="1"/>
          <p:nvPr/>
        </p:nvSpPr>
        <p:spPr>
          <a:xfrm>
            <a:off x="5239512" y="141732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Parts C and D</a:t>
            </a:r>
            <a:pPr indent="0" marL="0">
              <a:buNone/>
            </a:pPr>
            <a:r>
              <a:rPr lang="en-US" sz="1600" dirty="0">
                <a:solidFill>
                  <a:srgbClr val="5F6B7A"/>
                </a:solidFill>
                <a:latin typeface="Calibri" pitchFamily="34" charset="0"/>
                <a:ea typeface="Calibri" pitchFamily="34" charset="-122"/>
                <a:cs typeface="Calibri" pitchFamily="34" charset="-120"/>
              </a:rPr>
              <a:t>  (independent writing)</a:t>
            </a:r>
            <a:endParaRPr lang="en-US" sz="1600" dirty="0"/>
          </a:p>
        </p:txBody>
      </p:sp>
      <p:sp>
        <p:nvSpPr>
          <p:cNvPr id="38" name="Shape 36"/>
          <p:cNvSpPr/>
          <p:nvPr/>
        </p:nvSpPr>
        <p:spPr>
          <a:xfrm>
            <a:off x="4709160" y="1965960"/>
            <a:ext cx="402336" cy="402336"/>
          </a:xfrm>
          <a:prstGeom prst="ellipse">
            <a:avLst/>
          </a:prstGeom>
          <a:solidFill>
            <a:srgbClr val="00897B"/>
          </a:solidFill>
          <a:ln w="12700">
            <a:solidFill>
              <a:srgbClr val="00897B"/>
            </a:solidFill>
            <a:prstDash val="solid"/>
          </a:ln>
        </p:spPr>
      </p:sp>
      <p:sp>
        <p:nvSpPr>
          <p:cNvPr id="39" name="Text 37"/>
          <p:cNvSpPr txBox="1"/>
          <p:nvPr/>
        </p:nvSpPr>
        <p:spPr>
          <a:xfrm>
            <a:off x="4709160" y="196596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8</a:t>
            </a:r>
            <a:endParaRPr lang="en-US" sz="1584" dirty="0"/>
          </a:p>
        </p:txBody>
      </p:sp>
      <p:sp>
        <p:nvSpPr>
          <p:cNvPr id="40" name="Text 38"/>
          <p:cNvSpPr txBox="1"/>
          <p:nvPr/>
        </p:nvSpPr>
        <p:spPr>
          <a:xfrm>
            <a:off x="5239512" y="196596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Talk it through</a:t>
            </a:r>
            <a:pPr indent="0" marL="0">
              <a:buNone/>
            </a:pPr>
            <a:r>
              <a:rPr lang="en-US" sz="1600" dirty="0">
                <a:solidFill>
                  <a:srgbClr val="5F6B7A"/>
                </a:solidFill>
                <a:latin typeface="Calibri" pitchFamily="34" charset="0"/>
                <a:ea typeface="Calibri" pitchFamily="34" charset="-122"/>
                <a:cs typeface="Calibri" pitchFamily="34" charset="-120"/>
              </a:rPr>
              <a:t>  (partner talk)</a:t>
            </a:r>
            <a:endParaRPr lang="en-US" sz="1600" dirty="0"/>
          </a:p>
        </p:txBody>
      </p:sp>
      <p:sp>
        <p:nvSpPr>
          <p:cNvPr id="41" name="Shape 39"/>
          <p:cNvSpPr/>
          <p:nvPr/>
        </p:nvSpPr>
        <p:spPr>
          <a:xfrm>
            <a:off x="4709160" y="2514600"/>
            <a:ext cx="402336" cy="402336"/>
          </a:xfrm>
          <a:prstGeom prst="ellipse">
            <a:avLst/>
          </a:prstGeom>
          <a:solidFill>
            <a:srgbClr val="00897B"/>
          </a:solidFill>
          <a:ln w="12700">
            <a:solidFill>
              <a:srgbClr val="00897B"/>
            </a:solidFill>
            <a:prstDash val="solid"/>
          </a:ln>
        </p:spPr>
      </p:sp>
      <p:sp>
        <p:nvSpPr>
          <p:cNvPr id="42" name="Text 40"/>
          <p:cNvSpPr txBox="1"/>
          <p:nvPr/>
        </p:nvSpPr>
        <p:spPr>
          <a:xfrm>
            <a:off x="4709160" y="251460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9</a:t>
            </a:r>
            <a:endParaRPr lang="en-US" sz="1584" dirty="0"/>
          </a:p>
        </p:txBody>
      </p:sp>
      <p:sp>
        <p:nvSpPr>
          <p:cNvPr id="43" name="Text 41"/>
          <p:cNvSpPr txBox="1"/>
          <p:nvPr/>
        </p:nvSpPr>
        <p:spPr>
          <a:xfrm>
            <a:off x="5239512" y="251460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Parts E, F and G</a:t>
            </a:r>
            <a:pPr indent="0" marL="0">
              <a:buNone/>
            </a:pPr>
            <a:r>
              <a:rPr lang="en-US" sz="1600" dirty="0">
                <a:solidFill>
                  <a:srgbClr val="5F6B7A"/>
                </a:solidFill>
                <a:latin typeface="Calibri" pitchFamily="34" charset="0"/>
                <a:ea typeface="Calibri" pitchFamily="34" charset="-122"/>
                <a:cs typeface="Calibri" pitchFamily="34" charset="-120"/>
              </a:rPr>
              <a:t>  (independent writing)</a:t>
            </a:r>
            <a:endParaRPr lang="en-US" sz="1600" dirty="0"/>
          </a:p>
        </p:txBody>
      </p:sp>
      <p:sp>
        <p:nvSpPr>
          <p:cNvPr id="44" name="Shape 42"/>
          <p:cNvSpPr/>
          <p:nvPr/>
        </p:nvSpPr>
        <p:spPr>
          <a:xfrm>
            <a:off x="4709160" y="3063240"/>
            <a:ext cx="402336" cy="402336"/>
          </a:xfrm>
          <a:prstGeom prst="ellipse">
            <a:avLst/>
          </a:prstGeom>
          <a:solidFill>
            <a:srgbClr val="00897B"/>
          </a:solidFill>
          <a:ln w="12700">
            <a:solidFill>
              <a:srgbClr val="00897B"/>
            </a:solidFill>
            <a:prstDash val="solid"/>
          </a:ln>
        </p:spPr>
      </p:sp>
      <p:sp>
        <p:nvSpPr>
          <p:cNvPr id="45" name="Text 43"/>
          <p:cNvSpPr txBox="1"/>
          <p:nvPr/>
        </p:nvSpPr>
        <p:spPr>
          <a:xfrm>
            <a:off x="4709160" y="306324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10</a:t>
            </a:r>
            <a:endParaRPr lang="en-US" sz="1584" dirty="0"/>
          </a:p>
        </p:txBody>
      </p:sp>
      <p:sp>
        <p:nvSpPr>
          <p:cNvPr id="46" name="Text 44"/>
          <p:cNvSpPr txBox="1"/>
          <p:nvPr/>
        </p:nvSpPr>
        <p:spPr>
          <a:xfrm>
            <a:off x="5239512" y="306324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Exit ticket — Part H</a:t>
            </a:r>
            <a:pPr indent="0" marL="0">
              <a:buNone/>
            </a:pPr>
            <a:r>
              <a:rPr lang="en-US" sz="1600" dirty="0">
                <a:solidFill>
                  <a:srgbClr val="5F6B7A"/>
                </a:solidFill>
                <a:latin typeface="Calibri" pitchFamily="34" charset="0"/>
                <a:ea typeface="Calibri" pitchFamily="34" charset="-122"/>
                <a:cs typeface="Calibri" pitchFamily="34" charset="-120"/>
              </a:rPr>
              <a:t>  (quick write)</a:t>
            </a:r>
            <a:endParaRPr lang="en-US" sz="1600" dirty="0"/>
          </a:p>
        </p:txBody>
      </p:sp>
      <p:sp>
        <p:nvSpPr>
          <p:cNvPr id="47" name="Shape 45"/>
          <p:cNvSpPr/>
          <p:nvPr/>
        </p:nvSpPr>
        <p:spPr>
          <a:xfrm>
            <a:off x="4709160" y="3611880"/>
            <a:ext cx="402336" cy="402336"/>
          </a:xfrm>
          <a:prstGeom prst="ellipse">
            <a:avLst/>
          </a:prstGeom>
          <a:solidFill>
            <a:srgbClr val="00897B"/>
          </a:solidFill>
          <a:ln w="12700">
            <a:solidFill>
              <a:srgbClr val="00897B"/>
            </a:solidFill>
            <a:prstDash val="solid"/>
          </a:ln>
        </p:spPr>
      </p:sp>
      <p:sp>
        <p:nvSpPr>
          <p:cNvPr id="48" name="Text 46"/>
          <p:cNvSpPr txBox="1"/>
          <p:nvPr/>
        </p:nvSpPr>
        <p:spPr>
          <a:xfrm>
            <a:off x="4709160" y="3611880"/>
            <a:ext cx="402336" cy="402336"/>
          </a:xfrm>
          <a:prstGeom prst="rect">
            <a:avLst/>
          </a:prstGeom>
          <a:noFill/>
          <a:ln/>
        </p:spPr>
        <p:txBody>
          <a:bodyPr wrap="square" lIns="0" tIns="0" rIns="0" bIns="0" rtlCol="0" anchor="ctr"/>
          <a:lstStyle/>
          <a:p>
            <a:pPr algn="ctr" indent="0" marL="0">
              <a:buNone/>
            </a:pPr>
            <a:r>
              <a:rPr lang="en-US" sz="1584" b="1" dirty="0">
                <a:solidFill>
                  <a:srgbClr val="FFFFFF"/>
                </a:solidFill>
                <a:latin typeface="Calibri" pitchFamily="34" charset="0"/>
                <a:ea typeface="Calibri" pitchFamily="34" charset="-122"/>
                <a:cs typeface="Calibri" pitchFamily="34" charset="-120"/>
              </a:rPr>
              <a:t>11</a:t>
            </a:r>
            <a:endParaRPr lang="en-US" sz="1584" dirty="0"/>
          </a:p>
        </p:txBody>
      </p:sp>
      <p:sp>
        <p:nvSpPr>
          <p:cNvPr id="49" name="Text 47"/>
          <p:cNvSpPr txBox="1"/>
          <p:nvPr/>
        </p:nvSpPr>
        <p:spPr>
          <a:xfrm>
            <a:off x="5239512" y="3611880"/>
            <a:ext cx="3657600" cy="402336"/>
          </a:xfrm>
          <a:prstGeom prst="rect">
            <a:avLst/>
          </a:prstGeom>
          <a:noFill/>
          <a:ln/>
        </p:spPr>
        <p:txBody>
          <a:bodyPr wrap="square" lIns="0" tIns="0" rIns="0" bIns="0" rtlCol="0" anchor="ctr"/>
          <a:lstStyle/>
          <a:p>
            <a:pPr indent="0" marL="0">
              <a:buNone/>
            </a:pPr>
            <a:r>
              <a:rPr lang="en-US" sz="1600" b="1" dirty="0">
                <a:solidFill>
                  <a:srgbClr val="0B2C4D"/>
                </a:solidFill>
                <a:latin typeface="Calibri" pitchFamily="34" charset="0"/>
                <a:ea typeface="Calibri" pitchFamily="34" charset="-122"/>
                <a:cs typeface="Calibri" pitchFamily="34" charset="-120"/>
              </a:rPr>
              <a:t>Next class</a:t>
            </a:r>
            <a:pPr indent="0" marL="0">
              <a:buNone/>
            </a:pPr>
            <a:r>
              <a:rPr lang="en-US" sz="1600" dirty="0">
                <a:solidFill>
                  <a:srgbClr val="5F6B7A"/>
                </a:solidFill>
                <a:latin typeface="Calibri" pitchFamily="34" charset="0"/>
                <a:ea typeface="Calibri" pitchFamily="34" charset="-122"/>
                <a:cs typeface="Calibri" pitchFamily="34" charset="-120"/>
              </a:rPr>
              <a:t>  (exercise book)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C4D"/>
        </a:solidFill>
      </p:bgPr>
    </p:bg>
    <p:spTree>
      <p:nvGrpSpPr>
        <p:cNvPr id="1" name=""/>
        <p:cNvGrpSpPr/>
        <p:nvPr/>
      </p:nvGrpSpPr>
      <p:grpSpPr>
        <a:xfrm>
          <a:off x="0" y="0"/>
          <a:ext cx="0" cy="0"/>
          <a:chOff x="0" y="0"/>
          <a:chExt cx="0" cy="0"/>
        </a:xfrm>
      </p:grpSpPr>
      <p:pic>
        <p:nvPicPr>
          <p:cNvPr id="2" name="Image 0" descr="out/ws/icon-hand.png">    </p:cNvPr>
          <p:cNvPicPr>
            <a:picLocks noChangeAspect="1"/>
          </p:cNvPicPr>
          <p:nvPr/>
        </p:nvPicPr>
        <p:blipFill>
          <a:blip r:embed="rId1"/>
          <a:stretch>
            <a:fillRect/>
          </a:stretch>
        </p:blipFill>
        <p:spPr>
          <a:xfrm>
            <a:off x="731520" y="1463040"/>
            <a:ext cx="1737360" cy="1737360"/>
          </a:xfrm>
          <a:prstGeom prst="rect">
            <a:avLst/>
          </a:prstGeom>
        </p:spPr>
      </p:pic>
      <p:sp>
        <p:nvSpPr>
          <p:cNvPr id="3" name="Text 0"/>
          <p:cNvSpPr txBox="1"/>
          <p:nvPr/>
        </p:nvSpPr>
        <p:spPr>
          <a:xfrm>
            <a:off x="2926080" y="1463040"/>
            <a:ext cx="5760720" cy="274320"/>
          </a:xfrm>
          <a:prstGeom prst="rect">
            <a:avLst/>
          </a:prstGeom>
          <a:noFill/>
          <a:ln/>
        </p:spPr>
        <p:txBody>
          <a:bodyPr wrap="square" lIns="0" tIns="0" rIns="0" bIns="0" rtlCol="0" anchor="t"/>
          <a:lstStyle/>
          <a:p>
            <a:pPr indent="0" marL="0">
              <a:buNone/>
            </a:pPr>
            <a:r>
              <a:rPr lang="en-US" sz="1300" b="1" spc="300" kern="0" dirty="0">
                <a:solidFill>
                  <a:srgbClr val="7FD1C7"/>
                </a:solidFill>
                <a:latin typeface="Calibri" pitchFamily="34" charset="0"/>
                <a:ea typeface="Calibri" pitchFamily="34" charset="-122"/>
                <a:cs typeface="Calibri" pitchFamily="34" charset="-120"/>
              </a:rPr>
              <a:t>BEFORE WE START</a:t>
            </a:r>
            <a:endParaRPr lang="en-US" sz="1300" dirty="0"/>
          </a:p>
        </p:txBody>
      </p:sp>
      <p:sp>
        <p:nvSpPr>
          <p:cNvPr id="4" name="Text 1"/>
          <p:cNvSpPr txBox="1"/>
          <p:nvPr/>
        </p:nvSpPr>
        <p:spPr>
          <a:xfrm>
            <a:off x="2926080" y="1783080"/>
            <a:ext cx="576072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How our class works</a:t>
            </a:r>
            <a:endParaRPr lang="en-US" sz="4000" dirty="0"/>
          </a:p>
        </p:txBody>
      </p:sp>
      <p:sp>
        <p:nvSpPr>
          <p:cNvPr id="5" name="Text 2"/>
          <p:cNvSpPr txBox="1"/>
          <p:nvPr/>
        </p:nvSpPr>
        <p:spPr>
          <a:xfrm>
            <a:off x="2926080" y="4206240"/>
            <a:ext cx="5486400" cy="274320"/>
          </a:xfrm>
          <a:prstGeom prst="rect">
            <a:avLst/>
          </a:prstGeom>
          <a:noFill/>
          <a:ln/>
        </p:spPr>
        <p:txBody>
          <a:bodyPr wrap="square" lIns="0" tIns="0" rIns="0" bIns="0" rtlCol="0" anchor="t"/>
          <a:lstStyle/>
          <a:p>
            <a:pPr indent="0" marL="0">
              <a:buNone/>
            </a:pPr>
            <a:r>
              <a:rPr lang="en-US" sz="1300" i="1" dirty="0">
                <a:solidFill>
                  <a:srgbClr val="A9CBEF"/>
                </a:solidFill>
                <a:latin typeface="Calibri" pitchFamily="34" charset="0"/>
                <a:ea typeface="Calibri" pitchFamily="34" charset="-122"/>
                <a:cs typeface="Calibri" pitchFamily="34" charset="-120"/>
              </a:rPr>
              <a:t>Next → Your exercise book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HOW OUR CLASS WORKS</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Your exercise book goes home</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Your duotang</a:t>
            </a:r>
            <a:endParaRPr lang="en-US" sz="950" dirty="0"/>
          </a:p>
        </p:txBody>
      </p:sp>
      <p:sp>
        <p:nvSpPr>
          <p:cNvPr id="17" name="Shape 15"/>
          <p:cNvSpPr/>
          <p:nvPr/>
        </p:nvSpPr>
        <p:spPr>
          <a:xfrm>
            <a:off x="365760" y="1417320"/>
            <a:ext cx="2377440" cy="3246120"/>
          </a:xfrm>
          <a:prstGeom prst="roundRect">
            <a:avLst>
              <a:gd name="adj" fmla="val 3077"/>
            </a:avLst>
          </a:prstGeom>
          <a:solidFill>
            <a:srgbClr val="F4F8FC"/>
          </a:solidFill>
          <a:ln w="15875">
            <a:solidFill>
              <a:srgbClr val="C9DCEE"/>
            </a:solidFill>
            <a:prstDash val="solid"/>
          </a:ln>
        </p:spPr>
      </p:sp>
      <p:pic>
        <p:nvPicPr>
          <p:cNvPr id="18" name="Image 0" descr="out/ws/icon-book.png">    </p:cNvPr>
          <p:cNvPicPr>
            <a:picLocks noChangeAspect="1"/>
          </p:cNvPicPr>
          <p:nvPr/>
        </p:nvPicPr>
        <p:blipFill>
          <a:blip r:embed="rId1"/>
          <a:stretch>
            <a:fillRect/>
          </a:stretch>
        </p:blipFill>
        <p:spPr>
          <a:xfrm>
            <a:off x="777240" y="1828800"/>
            <a:ext cx="1554480" cy="1554480"/>
          </a:xfrm>
          <a:prstGeom prst="rect">
            <a:avLst/>
          </a:prstGeom>
        </p:spPr>
      </p:pic>
      <p:sp>
        <p:nvSpPr>
          <p:cNvPr id="19" name="Text 16"/>
          <p:cNvSpPr txBox="1"/>
          <p:nvPr/>
        </p:nvSpPr>
        <p:spPr>
          <a:xfrm>
            <a:off x="457200" y="3520440"/>
            <a:ext cx="2194560" cy="1005840"/>
          </a:xfrm>
          <a:prstGeom prst="rect">
            <a:avLst/>
          </a:prstGeom>
          <a:noFill/>
          <a:ln/>
        </p:spPr>
        <p:txBody>
          <a:bodyPr wrap="square" lIns="0" tIns="0" rIns="0" bIns="0" rtlCol="0" anchor="t"/>
          <a:lstStyle/>
          <a:p>
            <a:pPr algn="ctr" indent="0" marL="0">
              <a:buNone/>
            </a:pPr>
            <a:r>
              <a:rPr lang="en-US" sz="1700" b="1" dirty="0">
                <a:solidFill>
                  <a:srgbClr val="1565C0"/>
                </a:solidFill>
                <a:latin typeface="Calibri" pitchFamily="34" charset="0"/>
                <a:ea typeface="Calibri" pitchFamily="34" charset="-122"/>
                <a:cs typeface="Calibri" pitchFamily="34" charset="-120"/>
              </a:rPr>
              <a:t>Take it home.</a:t>
            </a:r>
            <a:endParaRPr lang="en-US" sz="1700" dirty="0"/>
          </a:p>
          <a:p>
            <a:pPr algn="ctr" indent="0" marL="0">
              <a:buNone/>
            </a:pPr>
            <a:r>
              <a:rPr lang="en-US" sz="1700" b="1" dirty="0">
                <a:solidFill>
                  <a:srgbClr val="1565C0"/>
                </a:solidFill>
                <a:latin typeface="Calibri" pitchFamily="34" charset="0"/>
                <a:ea typeface="Calibri" pitchFamily="34" charset="-122"/>
                <a:cs typeface="Calibri" pitchFamily="34" charset="-120"/>
              </a:rPr>
              <a:t>Bring it back.</a:t>
            </a:r>
            <a:endParaRPr lang="en-US" sz="1700" dirty="0"/>
          </a:p>
        </p:txBody>
      </p:sp>
      <p:sp>
        <p:nvSpPr>
          <p:cNvPr id="20" name="Shape 17"/>
          <p:cNvSpPr/>
          <p:nvPr/>
        </p:nvSpPr>
        <p:spPr>
          <a:xfrm>
            <a:off x="2926080" y="1417320"/>
            <a:ext cx="5852160" cy="731520"/>
          </a:xfrm>
          <a:prstGeom prst="roundRect">
            <a:avLst>
              <a:gd name="adj" fmla="val 10000"/>
            </a:avLst>
          </a:prstGeom>
          <a:solidFill>
            <a:srgbClr val="E3F0FB"/>
          </a:solidFill>
          <a:ln w="15875">
            <a:solidFill>
              <a:srgbClr val="90B4D8"/>
            </a:solidFill>
            <a:prstDash val="solid"/>
          </a:ln>
        </p:spPr>
      </p:sp>
      <p:sp>
        <p:nvSpPr>
          <p:cNvPr id="21" name="Shape 18"/>
          <p:cNvSpPr/>
          <p:nvPr/>
        </p:nvSpPr>
        <p:spPr>
          <a:xfrm>
            <a:off x="3063240" y="1572768"/>
            <a:ext cx="420624" cy="420624"/>
          </a:xfrm>
          <a:prstGeom prst="ellipse">
            <a:avLst/>
          </a:prstGeom>
          <a:solidFill>
            <a:srgbClr val="00897B"/>
          </a:solidFill>
          <a:ln w="12700">
            <a:solidFill>
              <a:srgbClr val="00897B"/>
            </a:solidFill>
            <a:prstDash val="solid"/>
          </a:ln>
        </p:spPr>
      </p:sp>
      <p:sp>
        <p:nvSpPr>
          <p:cNvPr id="22" name="Text 19"/>
          <p:cNvSpPr txBox="1"/>
          <p:nvPr/>
        </p:nvSpPr>
        <p:spPr>
          <a:xfrm>
            <a:off x="3063240" y="1572768"/>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1</a:t>
            </a:r>
            <a:endParaRPr lang="en-US" sz="1656" dirty="0"/>
          </a:p>
        </p:txBody>
      </p:sp>
      <p:sp>
        <p:nvSpPr>
          <p:cNvPr id="23" name="Text 20"/>
          <p:cNvSpPr txBox="1"/>
          <p:nvPr/>
        </p:nvSpPr>
        <p:spPr>
          <a:xfrm>
            <a:off x="3657600" y="1463040"/>
            <a:ext cx="5029200" cy="64008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Write notes in it, so you can review at home.</a:t>
            </a:r>
            <a:endParaRPr lang="en-US" sz="1800" dirty="0"/>
          </a:p>
        </p:txBody>
      </p:sp>
      <p:sp>
        <p:nvSpPr>
          <p:cNvPr id="24" name="Shape 21"/>
          <p:cNvSpPr/>
          <p:nvPr/>
        </p:nvSpPr>
        <p:spPr>
          <a:xfrm>
            <a:off x="2926080" y="2240280"/>
            <a:ext cx="5852160" cy="731520"/>
          </a:xfrm>
          <a:prstGeom prst="roundRect">
            <a:avLst>
              <a:gd name="adj" fmla="val 10000"/>
            </a:avLst>
          </a:prstGeom>
          <a:solidFill>
            <a:srgbClr val="E3F0FB"/>
          </a:solidFill>
          <a:ln w="15875">
            <a:solidFill>
              <a:srgbClr val="90B4D8"/>
            </a:solidFill>
            <a:prstDash val="solid"/>
          </a:ln>
        </p:spPr>
      </p:sp>
      <p:sp>
        <p:nvSpPr>
          <p:cNvPr id="25" name="Shape 22"/>
          <p:cNvSpPr/>
          <p:nvPr/>
        </p:nvSpPr>
        <p:spPr>
          <a:xfrm>
            <a:off x="3063240" y="2395728"/>
            <a:ext cx="420624" cy="420624"/>
          </a:xfrm>
          <a:prstGeom prst="ellipse">
            <a:avLst/>
          </a:prstGeom>
          <a:solidFill>
            <a:srgbClr val="00897B"/>
          </a:solidFill>
          <a:ln w="12700">
            <a:solidFill>
              <a:srgbClr val="00897B"/>
            </a:solidFill>
            <a:prstDash val="solid"/>
          </a:ln>
        </p:spPr>
      </p:sp>
      <p:sp>
        <p:nvSpPr>
          <p:cNvPr id="26" name="Text 23"/>
          <p:cNvSpPr txBox="1"/>
          <p:nvPr/>
        </p:nvSpPr>
        <p:spPr>
          <a:xfrm>
            <a:off x="3063240" y="2395728"/>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2</a:t>
            </a:r>
            <a:endParaRPr lang="en-US" sz="1656" dirty="0"/>
          </a:p>
        </p:txBody>
      </p:sp>
      <p:sp>
        <p:nvSpPr>
          <p:cNvPr id="27" name="Text 24"/>
          <p:cNvSpPr txBox="1"/>
          <p:nvPr/>
        </p:nvSpPr>
        <p:spPr>
          <a:xfrm>
            <a:off x="3657600" y="2286000"/>
            <a:ext cx="5029200" cy="64008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Write down assignments and due dates.</a:t>
            </a:r>
            <a:endParaRPr lang="en-US" sz="1800" dirty="0"/>
          </a:p>
        </p:txBody>
      </p:sp>
      <p:sp>
        <p:nvSpPr>
          <p:cNvPr id="28" name="Shape 25"/>
          <p:cNvSpPr/>
          <p:nvPr/>
        </p:nvSpPr>
        <p:spPr>
          <a:xfrm>
            <a:off x="2926080" y="3063240"/>
            <a:ext cx="5852160" cy="731520"/>
          </a:xfrm>
          <a:prstGeom prst="roundRect">
            <a:avLst>
              <a:gd name="adj" fmla="val 10000"/>
            </a:avLst>
          </a:prstGeom>
          <a:solidFill>
            <a:srgbClr val="E3F0FB"/>
          </a:solidFill>
          <a:ln w="15875">
            <a:solidFill>
              <a:srgbClr val="90B4D8"/>
            </a:solidFill>
            <a:prstDash val="solid"/>
          </a:ln>
        </p:spPr>
      </p:sp>
      <p:sp>
        <p:nvSpPr>
          <p:cNvPr id="29" name="Shape 26"/>
          <p:cNvSpPr/>
          <p:nvPr/>
        </p:nvSpPr>
        <p:spPr>
          <a:xfrm>
            <a:off x="3063240" y="3218688"/>
            <a:ext cx="420624" cy="420624"/>
          </a:xfrm>
          <a:prstGeom prst="ellipse">
            <a:avLst/>
          </a:prstGeom>
          <a:solidFill>
            <a:srgbClr val="00897B"/>
          </a:solidFill>
          <a:ln w="12700">
            <a:solidFill>
              <a:srgbClr val="00897B"/>
            </a:solidFill>
            <a:prstDash val="solid"/>
          </a:ln>
        </p:spPr>
      </p:sp>
      <p:sp>
        <p:nvSpPr>
          <p:cNvPr id="30" name="Text 27"/>
          <p:cNvSpPr txBox="1"/>
          <p:nvPr/>
        </p:nvSpPr>
        <p:spPr>
          <a:xfrm>
            <a:off x="3063240" y="3218688"/>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3</a:t>
            </a:r>
            <a:endParaRPr lang="en-US" sz="1656" dirty="0"/>
          </a:p>
        </p:txBody>
      </p:sp>
      <p:sp>
        <p:nvSpPr>
          <p:cNvPr id="31" name="Text 28"/>
          <p:cNvSpPr txBox="1"/>
          <p:nvPr/>
        </p:nvSpPr>
        <p:spPr>
          <a:xfrm>
            <a:off x="3657600" y="3108960"/>
            <a:ext cx="5029200" cy="64008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Write down announcements and reminders.</a:t>
            </a:r>
            <a:endParaRPr lang="en-US" sz="1800" dirty="0"/>
          </a:p>
        </p:txBody>
      </p:sp>
      <p:sp>
        <p:nvSpPr>
          <p:cNvPr id="32" name="Shape 29"/>
          <p:cNvSpPr/>
          <p:nvPr/>
        </p:nvSpPr>
        <p:spPr>
          <a:xfrm>
            <a:off x="2926080" y="3886200"/>
            <a:ext cx="5852160" cy="731520"/>
          </a:xfrm>
          <a:prstGeom prst="roundRect">
            <a:avLst>
              <a:gd name="adj" fmla="val 10000"/>
            </a:avLst>
          </a:prstGeom>
          <a:solidFill>
            <a:srgbClr val="E3F0FB"/>
          </a:solidFill>
          <a:ln w="15875">
            <a:solidFill>
              <a:srgbClr val="90B4D8"/>
            </a:solidFill>
            <a:prstDash val="solid"/>
          </a:ln>
        </p:spPr>
      </p:sp>
      <p:sp>
        <p:nvSpPr>
          <p:cNvPr id="33" name="Shape 30"/>
          <p:cNvSpPr/>
          <p:nvPr/>
        </p:nvSpPr>
        <p:spPr>
          <a:xfrm>
            <a:off x="3063240" y="4041648"/>
            <a:ext cx="420624" cy="420624"/>
          </a:xfrm>
          <a:prstGeom prst="ellipse">
            <a:avLst/>
          </a:prstGeom>
          <a:solidFill>
            <a:srgbClr val="00897B"/>
          </a:solidFill>
          <a:ln w="12700">
            <a:solidFill>
              <a:srgbClr val="00897B"/>
            </a:solidFill>
            <a:prstDash val="solid"/>
          </a:ln>
        </p:spPr>
      </p:sp>
      <p:sp>
        <p:nvSpPr>
          <p:cNvPr id="34" name="Text 31"/>
          <p:cNvSpPr txBox="1"/>
          <p:nvPr/>
        </p:nvSpPr>
        <p:spPr>
          <a:xfrm>
            <a:off x="3063240" y="4041648"/>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4</a:t>
            </a:r>
            <a:endParaRPr lang="en-US" sz="1656" dirty="0"/>
          </a:p>
        </p:txBody>
      </p:sp>
      <p:sp>
        <p:nvSpPr>
          <p:cNvPr id="35" name="Text 32"/>
          <p:cNvSpPr txBox="1"/>
          <p:nvPr/>
        </p:nvSpPr>
        <p:spPr>
          <a:xfrm>
            <a:off x="3657600" y="3931920"/>
            <a:ext cx="5029200" cy="64008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Warm-ups go in here — starting today.</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HOW OUR CLASS WORKS</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Your duotang stays in class</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Help slips</a:t>
            </a:r>
            <a:endParaRPr lang="en-US" sz="950" dirty="0"/>
          </a:p>
        </p:txBody>
      </p:sp>
      <p:sp>
        <p:nvSpPr>
          <p:cNvPr id="17" name="Shape 15"/>
          <p:cNvSpPr/>
          <p:nvPr/>
        </p:nvSpPr>
        <p:spPr>
          <a:xfrm>
            <a:off x="365760" y="1417320"/>
            <a:ext cx="2377440" cy="3246120"/>
          </a:xfrm>
          <a:prstGeom prst="roundRect">
            <a:avLst>
              <a:gd name="adj" fmla="val 3077"/>
            </a:avLst>
          </a:prstGeom>
          <a:solidFill>
            <a:srgbClr val="F4F8FC"/>
          </a:solidFill>
          <a:ln w="15875">
            <a:solidFill>
              <a:srgbClr val="C9DCEE"/>
            </a:solidFill>
            <a:prstDash val="solid"/>
          </a:ln>
        </p:spPr>
      </p:sp>
      <p:pic>
        <p:nvPicPr>
          <p:cNvPr id="18" name="Image 0" descr="out/ws/icon-folder.png">    </p:cNvPr>
          <p:cNvPicPr>
            <a:picLocks noChangeAspect="1"/>
          </p:cNvPicPr>
          <p:nvPr/>
        </p:nvPicPr>
        <p:blipFill>
          <a:blip r:embed="rId1"/>
          <a:stretch>
            <a:fillRect/>
          </a:stretch>
        </p:blipFill>
        <p:spPr>
          <a:xfrm>
            <a:off x="777240" y="1828800"/>
            <a:ext cx="1554480" cy="1554480"/>
          </a:xfrm>
          <a:prstGeom prst="rect">
            <a:avLst/>
          </a:prstGeom>
        </p:spPr>
      </p:pic>
      <p:sp>
        <p:nvSpPr>
          <p:cNvPr id="19" name="Text 16"/>
          <p:cNvSpPr txBox="1"/>
          <p:nvPr/>
        </p:nvSpPr>
        <p:spPr>
          <a:xfrm>
            <a:off x="457200" y="3520440"/>
            <a:ext cx="2194560" cy="1005840"/>
          </a:xfrm>
          <a:prstGeom prst="rect">
            <a:avLst/>
          </a:prstGeom>
          <a:noFill/>
          <a:ln/>
        </p:spPr>
        <p:txBody>
          <a:bodyPr wrap="square" lIns="0" tIns="0" rIns="0" bIns="0" rtlCol="0" anchor="t"/>
          <a:lstStyle/>
          <a:p>
            <a:pPr algn="ctr" indent="0" marL="0">
              <a:buNone/>
            </a:pPr>
            <a:r>
              <a:rPr lang="en-US" sz="1700" b="1" dirty="0">
                <a:solidFill>
                  <a:srgbClr val="1565C0"/>
                </a:solidFill>
                <a:latin typeface="Calibri" pitchFamily="34" charset="0"/>
                <a:ea typeface="Calibri" pitchFamily="34" charset="-122"/>
                <a:cs typeface="Calibri" pitchFamily="34" charset="-120"/>
              </a:rPr>
              <a:t>It lives here.</a:t>
            </a:r>
            <a:endParaRPr lang="en-US" sz="1700" dirty="0"/>
          </a:p>
          <a:p>
            <a:pPr algn="ctr" indent="0" marL="0">
              <a:buNone/>
            </a:pPr>
            <a:r>
              <a:rPr lang="en-US" sz="1700" b="1" dirty="0">
                <a:solidFill>
                  <a:srgbClr val="1565C0"/>
                </a:solidFill>
                <a:latin typeface="Calibri" pitchFamily="34" charset="0"/>
                <a:ea typeface="Calibri" pitchFamily="34" charset="-122"/>
                <a:cs typeface="Calibri" pitchFamily="34" charset="-120"/>
              </a:rPr>
              <a:t>It never goes home.</a:t>
            </a:r>
            <a:endParaRPr lang="en-US" sz="1700" dirty="0"/>
          </a:p>
        </p:txBody>
      </p:sp>
      <p:sp>
        <p:nvSpPr>
          <p:cNvPr id="20" name="Shape 17"/>
          <p:cNvSpPr/>
          <p:nvPr/>
        </p:nvSpPr>
        <p:spPr>
          <a:xfrm>
            <a:off x="2926080" y="1417320"/>
            <a:ext cx="5852160" cy="731520"/>
          </a:xfrm>
          <a:prstGeom prst="roundRect">
            <a:avLst>
              <a:gd name="adj" fmla="val 10000"/>
            </a:avLst>
          </a:prstGeom>
          <a:solidFill>
            <a:srgbClr val="D7ECEA"/>
          </a:solidFill>
          <a:ln w="15875">
            <a:solidFill>
              <a:srgbClr val="7FC4BB"/>
            </a:solidFill>
            <a:prstDash val="solid"/>
          </a:ln>
        </p:spPr>
      </p:sp>
      <p:sp>
        <p:nvSpPr>
          <p:cNvPr id="21" name="Shape 18"/>
          <p:cNvSpPr/>
          <p:nvPr/>
        </p:nvSpPr>
        <p:spPr>
          <a:xfrm>
            <a:off x="3063240" y="1572768"/>
            <a:ext cx="420624" cy="420624"/>
          </a:xfrm>
          <a:prstGeom prst="ellipse">
            <a:avLst/>
          </a:prstGeom>
          <a:solidFill>
            <a:srgbClr val="00897B"/>
          </a:solidFill>
          <a:ln w="12700">
            <a:solidFill>
              <a:srgbClr val="00897B"/>
            </a:solidFill>
            <a:prstDash val="solid"/>
          </a:ln>
        </p:spPr>
      </p:sp>
      <p:sp>
        <p:nvSpPr>
          <p:cNvPr id="22" name="Text 19"/>
          <p:cNvSpPr txBox="1"/>
          <p:nvPr/>
        </p:nvSpPr>
        <p:spPr>
          <a:xfrm>
            <a:off x="3063240" y="1572768"/>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1</a:t>
            </a:r>
            <a:endParaRPr lang="en-US" sz="1656" dirty="0"/>
          </a:p>
        </p:txBody>
      </p:sp>
      <p:sp>
        <p:nvSpPr>
          <p:cNvPr id="23" name="Text 20"/>
          <p:cNvSpPr txBox="1"/>
          <p:nvPr/>
        </p:nvSpPr>
        <p:spPr>
          <a:xfrm>
            <a:off x="3657600" y="1463040"/>
            <a:ext cx="5029200" cy="64008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Your worksheets and class work go in your duotang.</a:t>
            </a:r>
            <a:endParaRPr lang="en-US" sz="1800" dirty="0"/>
          </a:p>
        </p:txBody>
      </p:sp>
      <p:sp>
        <p:nvSpPr>
          <p:cNvPr id="24" name="Shape 21"/>
          <p:cNvSpPr/>
          <p:nvPr/>
        </p:nvSpPr>
        <p:spPr>
          <a:xfrm>
            <a:off x="2926080" y="2240280"/>
            <a:ext cx="5852160" cy="731520"/>
          </a:xfrm>
          <a:prstGeom prst="roundRect">
            <a:avLst>
              <a:gd name="adj" fmla="val 10000"/>
            </a:avLst>
          </a:prstGeom>
          <a:solidFill>
            <a:srgbClr val="D7ECEA"/>
          </a:solidFill>
          <a:ln w="15875">
            <a:solidFill>
              <a:srgbClr val="7FC4BB"/>
            </a:solidFill>
            <a:prstDash val="solid"/>
          </a:ln>
        </p:spPr>
      </p:sp>
      <p:sp>
        <p:nvSpPr>
          <p:cNvPr id="25" name="Shape 22"/>
          <p:cNvSpPr/>
          <p:nvPr/>
        </p:nvSpPr>
        <p:spPr>
          <a:xfrm>
            <a:off x="3063240" y="2395728"/>
            <a:ext cx="420624" cy="420624"/>
          </a:xfrm>
          <a:prstGeom prst="ellipse">
            <a:avLst/>
          </a:prstGeom>
          <a:solidFill>
            <a:srgbClr val="00897B"/>
          </a:solidFill>
          <a:ln w="12700">
            <a:solidFill>
              <a:srgbClr val="00897B"/>
            </a:solidFill>
            <a:prstDash val="solid"/>
          </a:ln>
        </p:spPr>
      </p:sp>
      <p:sp>
        <p:nvSpPr>
          <p:cNvPr id="26" name="Text 23"/>
          <p:cNvSpPr txBox="1"/>
          <p:nvPr/>
        </p:nvSpPr>
        <p:spPr>
          <a:xfrm>
            <a:off x="3063240" y="2395728"/>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2</a:t>
            </a:r>
            <a:endParaRPr lang="en-US" sz="1656" dirty="0"/>
          </a:p>
        </p:txBody>
      </p:sp>
      <p:sp>
        <p:nvSpPr>
          <p:cNvPr id="27" name="Text 24"/>
          <p:cNvSpPr txBox="1"/>
          <p:nvPr/>
        </p:nvSpPr>
        <p:spPr>
          <a:xfrm>
            <a:off x="3657600" y="2286000"/>
            <a:ext cx="5029200" cy="64008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At the end of every lesson, put today’s work in it.</a:t>
            </a:r>
            <a:endParaRPr lang="en-US" sz="1800" dirty="0"/>
          </a:p>
        </p:txBody>
      </p:sp>
      <p:sp>
        <p:nvSpPr>
          <p:cNvPr id="28" name="Shape 25"/>
          <p:cNvSpPr/>
          <p:nvPr/>
        </p:nvSpPr>
        <p:spPr>
          <a:xfrm>
            <a:off x="2926080" y="3063240"/>
            <a:ext cx="5852160" cy="731520"/>
          </a:xfrm>
          <a:prstGeom prst="roundRect">
            <a:avLst>
              <a:gd name="adj" fmla="val 10000"/>
            </a:avLst>
          </a:prstGeom>
          <a:solidFill>
            <a:srgbClr val="D7ECEA"/>
          </a:solidFill>
          <a:ln w="15875">
            <a:solidFill>
              <a:srgbClr val="7FC4BB"/>
            </a:solidFill>
            <a:prstDash val="solid"/>
          </a:ln>
        </p:spPr>
      </p:sp>
      <p:sp>
        <p:nvSpPr>
          <p:cNvPr id="29" name="Shape 26"/>
          <p:cNvSpPr/>
          <p:nvPr/>
        </p:nvSpPr>
        <p:spPr>
          <a:xfrm>
            <a:off x="3063240" y="3218688"/>
            <a:ext cx="420624" cy="420624"/>
          </a:xfrm>
          <a:prstGeom prst="ellipse">
            <a:avLst/>
          </a:prstGeom>
          <a:solidFill>
            <a:srgbClr val="00897B"/>
          </a:solidFill>
          <a:ln w="12700">
            <a:solidFill>
              <a:srgbClr val="00897B"/>
            </a:solidFill>
            <a:prstDash val="solid"/>
          </a:ln>
        </p:spPr>
      </p:sp>
      <p:sp>
        <p:nvSpPr>
          <p:cNvPr id="30" name="Text 27"/>
          <p:cNvSpPr txBox="1"/>
          <p:nvPr/>
        </p:nvSpPr>
        <p:spPr>
          <a:xfrm>
            <a:off x="3063240" y="3218688"/>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3</a:t>
            </a:r>
            <a:endParaRPr lang="en-US" sz="1656" dirty="0"/>
          </a:p>
        </p:txBody>
      </p:sp>
      <p:sp>
        <p:nvSpPr>
          <p:cNvPr id="31" name="Text 28"/>
          <p:cNvSpPr txBox="1"/>
          <p:nvPr/>
        </p:nvSpPr>
        <p:spPr>
          <a:xfrm>
            <a:off x="3657600" y="3108960"/>
            <a:ext cx="5029200" cy="64008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Hand it in — I read your work from it.</a:t>
            </a:r>
            <a:endParaRPr lang="en-US" sz="1800" dirty="0"/>
          </a:p>
        </p:txBody>
      </p:sp>
      <p:sp>
        <p:nvSpPr>
          <p:cNvPr id="32" name="Shape 29"/>
          <p:cNvSpPr/>
          <p:nvPr/>
        </p:nvSpPr>
        <p:spPr>
          <a:xfrm>
            <a:off x="2926080" y="3886200"/>
            <a:ext cx="5852160" cy="731520"/>
          </a:xfrm>
          <a:prstGeom prst="roundRect">
            <a:avLst>
              <a:gd name="adj" fmla="val 10000"/>
            </a:avLst>
          </a:prstGeom>
          <a:solidFill>
            <a:srgbClr val="D7ECEA"/>
          </a:solidFill>
          <a:ln w="15875">
            <a:solidFill>
              <a:srgbClr val="7FC4BB"/>
            </a:solidFill>
            <a:prstDash val="solid"/>
          </a:ln>
        </p:spPr>
      </p:sp>
      <p:sp>
        <p:nvSpPr>
          <p:cNvPr id="33" name="Shape 30"/>
          <p:cNvSpPr/>
          <p:nvPr/>
        </p:nvSpPr>
        <p:spPr>
          <a:xfrm>
            <a:off x="3063240" y="4041648"/>
            <a:ext cx="420624" cy="420624"/>
          </a:xfrm>
          <a:prstGeom prst="ellipse">
            <a:avLst/>
          </a:prstGeom>
          <a:solidFill>
            <a:srgbClr val="00897B"/>
          </a:solidFill>
          <a:ln w="12700">
            <a:solidFill>
              <a:srgbClr val="00897B"/>
            </a:solidFill>
            <a:prstDash val="solid"/>
          </a:ln>
        </p:spPr>
      </p:sp>
      <p:sp>
        <p:nvSpPr>
          <p:cNvPr id="34" name="Text 31"/>
          <p:cNvSpPr txBox="1"/>
          <p:nvPr/>
        </p:nvSpPr>
        <p:spPr>
          <a:xfrm>
            <a:off x="3063240" y="4041648"/>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4</a:t>
            </a:r>
            <a:endParaRPr lang="en-US" sz="1656" dirty="0"/>
          </a:p>
        </p:txBody>
      </p:sp>
      <p:sp>
        <p:nvSpPr>
          <p:cNvPr id="35" name="Text 32"/>
          <p:cNvSpPr txBox="1"/>
          <p:nvPr/>
        </p:nvSpPr>
        <p:spPr>
          <a:xfrm>
            <a:off x="3657600" y="3931920"/>
            <a:ext cx="5029200" cy="64008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It is here for you at the start of every class.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HOW OUR CLASS WORKS</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Stuck? Use a help slip</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What a help slip looks like</a:t>
            </a:r>
            <a:endParaRPr lang="en-US" sz="950" dirty="0"/>
          </a:p>
        </p:txBody>
      </p:sp>
      <p:sp>
        <p:nvSpPr>
          <p:cNvPr id="17" name="Shape 15"/>
          <p:cNvSpPr/>
          <p:nvPr/>
        </p:nvSpPr>
        <p:spPr>
          <a:xfrm>
            <a:off x="442131" y="1335024"/>
            <a:ext cx="2681898" cy="341071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helpslip.png">    </p:cNvPr>
          <p:cNvPicPr>
            <a:picLocks noChangeAspect="1"/>
          </p:cNvPicPr>
          <p:nvPr/>
        </p:nvPicPr>
        <p:blipFill>
          <a:blip r:embed="rId1"/>
          <a:stretch>
            <a:fillRect/>
          </a:stretch>
        </p:blipFill>
        <p:spPr>
          <a:xfrm>
            <a:off x="478707" y="1371600"/>
            <a:ext cx="2608746" cy="3337560"/>
          </a:xfrm>
          <a:prstGeom prst="rect">
            <a:avLst/>
          </a:prstGeom>
        </p:spPr>
      </p:pic>
      <p:sp>
        <p:nvSpPr>
          <p:cNvPr id="19" name="Shape 16"/>
          <p:cNvSpPr/>
          <p:nvPr/>
        </p:nvSpPr>
        <p:spPr>
          <a:xfrm>
            <a:off x="3429000" y="1371600"/>
            <a:ext cx="5349240" cy="758952"/>
          </a:xfrm>
          <a:prstGeom prst="roundRect">
            <a:avLst>
              <a:gd name="adj" fmla="val 9639"/>
            </a:avLst>
          </a:prstGeom>
          <a:solidFill>
            <a:srgbClr val="E3F0FB"/>
          </a:solidFill>
          <a:ln w="15875">
            <a:solidFill>
              <a:srgbClr val="90B4D8"/>
            </a:solidFill>
            <a:prstDash val="solid"/>
          </a:ln>
        </p:spPr>
      </p:sp>
      <p:sp>
        <p:nvSpPr>
          <p:cNvPr id="20" name="Shape 17"/>
          <p:cNvSpPr/>
          <p:nvPr/>
        </p:nvSpPr>
        <p:spPr>
          <a:xfrm>
            <a:off x="3566160" y="1536192"/>
            <a:ext cx="420624" cy="420624"/>
          </a:xfrm>
          <a:prstGeom prst="ellipse">
            <a:avLst/>
          </a:prstGeom>
          <a:solidFill>
            <a:srgbClr val="00897B"/>
          </a:solidFill>
          <a:ln w="12700">
            <a:solidFill>
              <a:srgbClr val="00897B"/>
            </a:solidFill>
            <a:prstDash val="solid"/>
          </a:ln>
        </p:spPr>
      </p:sp>
      <p:sp>
        <p:nvSpPr>
          <p:cNvPr id="21" name="Text 18"/>
          <p:cNvSpPr txBox="1"/>
          <p:nvPr/>
        </p:nvSpPr>
        <p:spPr>
          <a:xfrm>
            <a:off x="3566160" y="1536192"/>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1</a:t>
            </a:r>
            <a:endParaRPr lang="en-US" sz="1656" dirty="0"/>
          </a:p>
        </p:txBody>
      </p:sp>
      <p:sp>
        <p:nvSpPr>
          <p:cNvPr id="22" name="Text 19"/>
          <p:cNvSpPr txBox="1"/>
          <p:nvPr/>
        </p:nvSpPr>
        <p:spPr>
          <a:xfrm>
            <a:off x="4160520" y="1417320"/>
            <a:ext cx="4526280" cy="667512"/>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Take a slip from the box. You do not need to ask me first.</a:t>
            </a:r>
            <a:endParaRPr lang="en-US" sz="1700" dirty="0"/>
          </a:p>
        </p:txBody>
      </p:sp>
      <p:sp>
        <p:nvSpPr>
          <p:cNvPr id="23" name="Shape 20"/>
          <p:cNvSpPr/>
          <p:nvPr/>
        </p:nvSpPr>
        <p:spPr>
          <a:xfrm>
            <a:off x="3429000" y="2221992"/>
            <a:ext cx="5349240" cy="758952"/>
          </a:xfrm>
          <a:prstGeom prst="roundRect">
            <a:avLst>
              <a:gd name="adj" fmla="val 9639"/>
            </a:avLst>
          </a:prstGeom>
          <a:solidFill>
            <a:srgbClr val="E3F0FB"/>
          </a:solidFill>
          <a:ln w="15875">
            <a:solidFill>
              <a:srgbClr val="90B4D8"/>
            </a:solidFill>
            <a:prstDash val="solid"/>
          </a:ln>
        </p:spPr>
      </p:sp>
      <p:sp>
        <p:nvSpPr>
          <p:cNvPr id="24" name="Shape 21"/>
          <p:cNvSpPr/>
          <p:nvPr/>
        </p:nvSpPr>
        <p:spPr>
          <a:xfrm>
            <a:off x="3566160" y="2386584"/>
            <a:ext cx="420624" cy="420624"/>
          </a:xfrm>
          <a:prstGeom prst="ellipse">
            <a:avLst/>
          </a:prstGeom>
          <a:solidFill>
            <a:srgbClr val="00897B"/>
          </a:solidFill>
          <a:ln w="12700">
            <a:solidFill>
              <a:srgbClr val="00897B"/>
            </a:solidFill>
            <a:prstDash val="solid"/>
          </a:ln>
        </p:spPr>
      </p:sp>
      <p:sp>
        <p:nvSpPr>
          <p:cNvPr id="25" name="Text 22"/>
          <p:cNvSpPr txBox="1"/>
          <p:nvPr/>
        </p:nvSpPr>
        <p:spPr>
          <a:xfrm>
            <a:off x="3566160" y="2386584"/>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2</a:t>
            </a:r>
            <a:endParaRPr lang="en-US" sz="1656" dirty="0"/>
          </a:p>
        </p:txBody>
      </p:sp>
      <p:sp>
        <p:nvSpPr>
          <p:cNvPr id="26" name="Text 23"/>
          <p:cNvSpPr txBox="1"/>
          <p:nvPr/>
        </p:nvSpPr>
        <p:spPr>
          <a:xfrm>
            <a:off x="4160520" y="2267712"/>
            <a:ext cx="4526280" cy="667512"/>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Tick what you want me to check.</a:t>
            </a:r>
            <a:endParaRPr lang="en-US" sz="1700" dirty="0"/>
          </a:p>
        </p:txBody>
      </p:sp>
      <p:sp>
        <p:nvSpPr>
          <p:cNvPr id="27" name="Shape 24"/>
          <p:cNvSpPr/>
          <p:nvPr/>
        </p:nvSpPr>
        <p:spPr>
          <a:xfrm>
            <a:off x="3429000" y="3072384"/>
            <a:ext cx="5349240" cy="758952"/>
          </a:xfrm>
          <a:prstGeom prst="roundRect">
            <a:avLst>
              <a:gd name="adj" fmla="val 9639"/>
            </a:avLst>
          </a:prstGeom>
          <a:solidFill>
            <a:srgbClr val="E3F0FB"/>
          </a:solidFill>
          <a:ln w="15875">
            <a:solidFill>
              <a:srgbClr val="90B4D8"/>
            </a:solidFill>
            <a:prstDash val="solid"/>
          </a:ln>
        </p:spPr>
      </p:sp>
      <p:sp>
        <p:nvSpPr>
          <p:cNvPr id="28" name="Shape 25"/>
          <p:cNvSpPr/>
          <p:nvPr/>
        </p:nvSpPr>
        <p:spPr>
          <a:xfrm>
            <a:off x="3566160" y="3236976"/>
            <a:ext cx="420624" cy="420624"/>
          </a:xfrm>
          <a:prstGeom prst="ellipse">
            <a:avLst/>
          </a:prstGeom>
          <a:solidFill>
            <a:srgbClr val="00897B"/>
          </a:solidFill>
          <a:ln w="12700">
            <a:solidFill>
              <a:srgbClr val="00897B"/>
            </a:solidFill>
            <a:prstDash val="solid"/>
          </a:ln>
        </p:spPr>
      </p:sp>
      <p:sp>
        <p:nvSpPr>
          <p:cNvPr id="29" name="Text 26"/>
          <p:cNvSpPr txBox="1"/>
          <p:nvPr/>
        </p:nvSpPr>
        <p:spPr>
          <a:xfrm>
            <a:off x="3566160" y="3236976"/>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3</a:t>
            </a:r>
            <a:endParaRPr lang="en-US" sz="1656" dirty="0"/>
          </a:p>
        </p:txBody>
      </p:sp>
      <p:sp>
        <p:nvSpPr>
          <p:cNvPr id="30" name="Text 27"/>
          <p:cNvSpPr txBox="1"/>
          <p:nvPr/>
        </p:nvSpPr>
        <p:spPr>
          <a:xfrm>
            <a:off x="4160520" y="3118104"/>
            <a:ext cx="4526280" cy="667512"/>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Write exactly what you need help with, and your question in words.</a:t>
            </a:r>
            <a:endParaRPr lang="en-US" sz="1700" dirty="0"/>
          </a:p>
        </p:txBody>
      </p:sp>
      <p:sp>
        <p:nvSpPr>
          <p:cNvPr id="31" name="Shape 28"/>
          <p:cNvSpPr/>
          <p:nvPr/>
        </p:nvSpPr>
        <p:spPr>
          <a:xfrm>
            <a:off x="3429000" y="3922776"/>
            <a:ext cx="5349240" cy="758952"/>
          </a:xfrm>
          <a:prstGeom prst="roundRect">
            <a:avLst>
              <a:gd name="adj" fmla="val 9639"/>
            </a:avLst>
          </a:prstGeom>
          <a:solidFill>
            <a:srgbClr val="E3F0FB"/>
          </a:solidFill>
          <a:ln w="15875">
            <a:solidFill>
              <a:srgbClr val="90B4D8"/>
            </a:solidFill>
            <a:prstDash val="solid"/>
          </a:ln>
        </p:spPr>
      </p:sp>
      <p:sp>
        <p:nvSpPr>
          <p:cNvPr id="32" name="Shape 29"/>
          <p:cNvSpPr/>
          <p:nvPr/>
        </p:nvSpPr>
        <p:spPr>
          <a:xfrm>
            <a:off x="3566160" y="4087368"/>
            <a:ext cx="420624" cy="420624"/>
          </a:xfrm>
          <a:prstGeom prst="ellipse">
            <a:avLst/>
          </a:prstGeom>
          <a:solidFill>
            <a:srgbClr val="00897B"/>
          </a:solidFill>
          <a:ln w="12700">
            <a:solidFill>
              <a:srgbClr val="00897B"/>
            </a:solidFill>
            <a:prstDash val="solid"/>
          </a:ln>
        </p:spPr>
      </p:sp>
      <p:sp>
        <p:nvSpPr>
          <p:cNvPr id="33" name="Text 30"/>
          <p:cNvSpPr txBox="1"/>
          <p:nvPr/>
        </p:nvSpPr>
        <p:spPr>
          <a:xfrm>
            <a:off x="3566160" y="4087368"/>
            <a:ext cx="420624" cy="420624"/>
          </a:xfrm>
          <a:prstGeom prst="rect">
            <a:avLst/>
          </a:prstGeom>
          <a:noFill/>
          <a:ln/>
        </p:spPr>
        <p:txBody>
          <a:bodyPr wrap="square" lIns="0" tIns="0" rIns="0" bIns="0" rtlCol="0" anchor="ctr"/>
          <a:lstStyle/>
          <a:p>
            <a:pPr algn="ctr" indent="0" marL="0">
              <a:buNone/>
            </a:pPr>
            <a:r>
              <a:rPr lang="en-US" sz="1656" b="1" dirty="0">
                <a:solidFill>
                  <a:srgbClr val="FFFFFF"/>
                </a:solidFill>
                <a:latin typeface="Calibri" pitchFamily="34" charset="0"/>
                <a:ea typeface="Calibri" pitchFamily="34" charset="-122"/>
                <a:cs typeface="Calibri" pitchFamily="34" charset="-120"/>
              </a:rPr>
              <a:t>4</a:t>
            </a:r>
            <a:endParaRPr lang="en-US" sz="1656" dirty="0"/>
          </a:p>
        </p:txBody>
      </p:sp>
      <p:sp>
        <p:nvSpPr>
          <p:cNvPr id="34" name="Text 31"/>
          <p:cNvSpPr txBox="1"/>
          <p:nvPr/>
        </p:nvSpPr>
        <p:spPr>
          <a:xfrm>
            <a:off x="4160520" y="3968496"/>
            <a:ext cx="4526280" cy="667512"/>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Hand it to me and keep working. It comes back with my answer in the box.</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HOW OUR CLASS WORKS</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A help slip, filled in</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Warm-up</a:t>
            </a:r>
            <a:endParaRPr lang="en-US" sz="950" dirty="0"/>
          </a:p>
        </p:txBody>
      </p:sp>
      <p:sp>
        <p:nvSpPr>
          <p:cNvPr id="17" name="Shape 15"/>
          <p:cNvSpPr/>
          <p:nvPr/>
        </p:nvSpPr>
        <p:spPr>
          <a:xfrm>
            <a:off x="442131" y="1335024"/>
            <a:ext cx="2681898" cy="341071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helpslip-filled.png">    </p:cNvPr>
          <p:cNvPicPr>
            <a:picLocks noChangeAspect="1"/>
          </p:cNvPicPr>
          <p:nvPr/>
        </p:nvPicPr>
        <p:blipFill>
          <a:blip r:embed="rId1"/>
          <a:stretch>
            <a:fillRect/>
          </a:stretch>
        </p:blipFill>
        <p:spPr>
          <a:xfrm>
            <a:off x="478707" y="1371600"/>
            <a:ext cx="2608746" cy="3337560"/>
          </a:xfrm>
          <a:prstGeom prst="rect">
            <a:avLst/>
          </a:prstGeom>
        </p:spPr>
      </p:pic>
      <p:sp>
        <p:nvSpPr>
          <p:cNvPr id="19" name="Shape 16"/>
          <p:cNvSpPr/>
          <p:nvPr/>
        </p:nvSpPr>
        <p:spPr>
          <a:xfrm>
            <a:off x="3429000" y="1371600"/>
            <a:ext cx="5349240" cy="3337560"/>
          </a:xfrm>
          <a:prstGeom prst="roundRect">
            <a:avLst>
              <a:gd name="adj" fmla="val 2192"/>
            </a:avLst>
          </a:prstGeom>
          <a:solidFill>
            <a:srgbClr val="D7ECEA"/>
          </a:solidFill>
          <a:ln w="15875">
            <a:solidFill>
              <a:srgbClr val="7FC4BB"/>
            </a:solidFill>
            <a:prstDash val="solid"/>
          </a:ln>
        </p:spPr>
      </p:sp>
      <p:sp>
        <p:nvSpPr>
          <p:cNvPr id="20" name="Text 17"/>
          <p:cNvSpPr txBox="1"/>
          <p:nvPr/>
        </p:nvSpPr>
        <p:spPr>
          <a:xfrm>
            <a:off x="3611880" y="1508760"/>
            <a:ext cx="5029200" cy="3108960"/>
          </a:xfrm>
          <a:prstGeom prst="rect">
            <a:avLst/>
          </a:prstGeom>
          <a:noFill/>
          <a:ln/>
        </p:spPr>
        <p:txBody>
          <a:bodyPr wrap="square" lIns="0" tIns="0" rIns="0" bIns="0" rtlCol="0" anchor="t"/>
          <a:lstStyle/>
          <a:p>
            <a:pPr indent="0" marL="0">
              <a:spcAft>
                <a:spcPts val="800"/>
              </a:spcAft>
              <a:buNone/>
            </a:pPr>
            <a:r>
              <a:rPr lang="en-US" sz="2000" b="1" dirty="0">
                <a:solidFill>
                  <a:srgbClr val="0B2C4D"/>
                </a:solidFill>
                <a:latin typeface="Calibri" pitchFamily="34" charset="0"/>
                <a:ea typeface="Calibri" pitchFamily="34" charset="-122"/>
                <a:cs typeface="Calibri" pitchFamily="34" charset="-120"/>
              </a:rPr>
              <a:t>What makes this a good help slip</a:t>
            </a:r>
            <a:endParaRPr lang="en-US" sz="1700" dirty="0"/>
          </a:p>
          <a:p>
            <a:pPr indent="0" marL="0">
              <a:spcAft>
                <a:spcPts val="800"/>
              </a:spcAft>
              <a:buNone/>
            </a:pPr>
            <a:r>
              <a:rPr lang="en-US" sz="800" dirty="0">
                <a:solidFill>
                  <a:srgbClr val="1F2933"/>
                </a:solidFill>
                <a:latin typeface="Calibri" pitchFamily="34" charset="0"/>
                <a:ea typeface="Calibri" pitchFamily="34" charset="-122"/>
                <a:cs typeface="Calibri" pitchFamily="34" charset="-120"/>
              </a:rPr>
              <a:t> </a:t>
            </a:r>
            <a:endParaRPr lang="en-US" sz="1700" dirty="0"/>
          </a:p>
          <a:p>
            <a:pPr marL="342900" indent="-3429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It says exactly where: Part D, question 2.</a:t>
            </a:r>
            <a:endParaRPr lang="en-US" sz="1700" dirty="0"/>
          </a:p>
          <a:p>
            <a:pPr marL="342900" indent="-3429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It asks a real question in words — not just “I don’t get it.”</a:t>
            </a:r>
            <a:endParaRPr lang="en-US" sz="1700" dirty="0"/>
          </a:p>
          <a:p>
            <a:pPr marL="342900" indent="-3429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Mina kept working while she waited.</a:t>
            </a:r>
            <a:endParaRPr lang="en-US" sz="1700" dirty="0"/>
          </a:p>
          <a:p>
            <a:pPr marL="342900" indent="-3429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Asking for help is not a problem. It is how writers get better.</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WARM-UP</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Warm-up — in your exercise book</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Today’s lesson</a:t>
            </a:r>
            <a:endParaRPr lang="en-US" sz="950" dirty="0"/>
          </a:p>
        </p:txBody>
      </p:sp>
      <p:sp>
        <p:nvSpPr>
          <p:cNvPr id="17" name="Shape 15"/>
          <p:cNvSpPr/>
          <p:nvPr/>
        </p:nvSpPr>
        <p:spPr>
          <a:xfrm>
            <a:off x="365760" y="1371600"/>
            <a:ext cx="8412480" cy="502920"/>
          </a:xfrm>
          <a:prstGeom prst="roundRect">
            <a:avLst>
              <a:gd name="adj" fmla="val 14545"/>
            </a:avLst>
          </a:prstGeom>
          <a:solidFill>
            <a:srgbClr val="FFF3D6"/>
          </a:solidFill>
          <a:ln w="15875">
            <a:solidFill>
              <a:srgbClr val="E0B252"/>
            </a:solidFill>
            <a:prstDash val="solid"/>
          </a:ln>
        </p:spPr>
      </p:sp>
      <p:sp>
        <p:nvSpPr>
          <p:cNvPr id="18" name="Text 16"/>
          <p:cNvSpPr txBox="1"/>
          <p:nvPr/>
        </p:nvSpPr>
        <p:spPr>
          <a:xfrm>
            <a:off x="548640" y="1371600"/>
            <a:ext cx="8138160" cy="502920"/>
          </a:xfrm>
          <a:prstGeom prst="rect">
            <a:avLst/>
          </a:prstGeom>
          <a:noFill/>
          <a:ln/>
        </p:spPr>
        <p:txBody>
          <a:bodyPr wrap="square" lIns="0" tIns="0" rIns="0" bIns="0" rtlCol="0" anchor="ctr"/>
          <a:lstStyle/>
          <a:p>
            <a:pPr indent="0" marL="0">
              <a:buNone/>
            </a:pPr>
            <a:r>
              <a:rPr lang="en-US" sz="1700" b="1" dirty="0">
                <a:solidFill>
                  <a:srgbClr val="0B2C4D"/>
                </a:solidFill>
                <a:latin typeface="Calibri" pitchFamily="34" charset="0"/>
                <a:ea typeface="Calibri" pitchFamily="34" charset="-122"/>
                <a:cs typeface="Calibri" pitchFamily="34" charset="-120"/>
              </a:rPr>
              <a:t>Open your exercise book. Write today’s date, then write your answers.</a:t>
            </a:r>
            <a:endParaRPr lang="en-US" sz="1700" dirty="0"/>
          </a:p>
        </p:txBody>
      </p:sp>
      <p:sp>
        <p:nvSpPr>
          <p:cNvPr id="19" name="Shape 17"/>
          <p:cNvSpPr/>
          <p:nvPr/>
        </p:nvSpPr>
        <p:spPr>
          <a:xfrm>
            <a:off x="365760" y="2057400"/>
            <a:ext cx="8412480" cy="1188720"/>
          </a:xfrm>
          <a:prstGeom prst="roundRect">
            <a:avLst>
              <a:gd name="adj" fmla="val 6154"/>
            </a:avLst>
          </a:prstGeom>
          <a:solidFill>
            <a:srgbClr val="E3F0FB"/>
          </a:solidFill>
          <a:ln w="15875">
            <a:solidFill>
              <a:srgbClr val="90B4D8"/>
            </a:solidFill>
            <a:prstDash val="solid"/>
          </a:ln>
        </p:spPr>
      </p:sp>
      <p:sp>
        <p:nvSpPr>
          <p:cNvPr id="20" name="Shape 18"/>
          <p:cNvSpPr/>
          <p:nvPr/>
        </p:nvSpPr>
        <p:spPr>
          <a:xfrm>
            <a:off x="548640" y="2423160"/>
            <a:ext cx="475488" cy="475488"/>
          </a:xfrm>
          <a:prstGeom prst="ellipse">
            <a:avLst/>
          </a:prstGeom>
          <a:solidFill>
            <a:srgbClr val="00897B"/>
          </a:solidFill>
          <a:ln w="12700">
            <a:solidFill>
              <a:srgbClr val="00897B"/>
            </a:solidFill>
            <a:prstDash val="solid"/>
          </a:ln>
        </p:spPr>
      </p:sp>
      <p:sp>
        <p:nvSpPr>
          <p:cNvPr id="21" name="Text 19"/>
          <p:cNvSpPr txBox="1"/>
          <p:nvPr/>
        </p:nvSpPr>
        <p:spPr>
          <a:xfrm>
            <a:off x="548640" y="2423160"/>
            <a:ext cx="475488" cy="475488"/>
          </a:xfrm>
          <a:prstGeom prst="rect">
            <a:avLst/>
          </a:prstGeom>
          <a:noFill/>
          <a:ln/>
        </p:spPr>
        <p:txBody>
          <a:bodyPr wrap="square" lIns="0" tIns="0" rIns="0" bIns="0" rtlCol="0" anchor="ctr"/>
          <a:lstStyle/>
          <a:p>
            <a:pPr algn="ctr" indent="0" marL="0">
              <a:buNone/>
            </a:pPr>
            <a:r>
              <a:rPr lang="en-US" sz="1872" b="1" dirty="0">
                <a:solidFill>
                  <a:srgbClr val="FFFFFF"/>
                </a:solidFill>
                <a:latin typeface="Calibri" pitchFamily="34" charset="0"/>
                <a:ea typeface="Calibri" pitchFamily="34" charset="-122"/>
                <a:cs typeface="Calibri" pitchFamily="34" charset="-120"/>
              </a:rPr>
              <a:t>1</a:t>
            </a:r>
            <a:endParaRPr lang="en-US" sz="1872" dirty="0"/>
          </a:p>
        </p:txBody>
      </p:sp>
      <p:sp>
        <p:nvSpPr>
          <p:cNvPr id="22" name="Text 20"/>
          <p:cNvSpPr txBox="1"/>
          <p:nvPr/>
        </p:nvSpPr>
        <p:spPr>
          <a:xfrm>
            <a:off x="1234440" y="2148840"/>
            <a:ext cx="7406640" cy="10058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When you read in English and hit a word you do not know, what do you do first?</a:t>
            </a:r>
            <a:endParaRPr lang="en-US" sz="2200" dirty="0"/>
          </a:p>
        </p:txBody>
      </p:sp>
      <p:sp>
        <p:nvSpPr>
          <p:cNvPr id="23" name="Shape 21"/>
          <p:cNvSpPr/>
          <p:nvPr/>
        </p:nvSpPr>
        <p:spPr>
          <a:xfrm>
            <a:off x="365760" y="3383280"/>
            <a:ext cx="8412480" cy="1188720"/>
          </a:xfrm>
          <a:prstGeom prst="roundRect">
            <a:avLst>
              <a:gd name="adj" fmla="val 6154"/>
            </a:avLst>
          </a:prstGeom>
          <a:solidFill>
            <a:srgbClr val="E3F0FB"/>
          </a:solidFill>
          <a:ln w="15875">
            <a:solidFill>
              <a:srgbClr val="90B4D8"/>
            </a:solidFill>
            <a:prstDash val="solid"/>
          </a:ln>
        </p:spPr>
      </p:sp>
      <p:sp>
        <p:nvSpPr>
          <p:cNvPr id="24" name="Shape 22"/>
          <p:cNvSpPr/>
          <p:nvPr/>
        </p:nvSpPr>
        <p:spPr>
          <a:xfrm>
            <a:off x="548640" y="3749040"/>
            <a:ext cx="475488" cy="475488"/>
          </a:xfrm>
          <a:prstGeom prst="ellipse">
            <a:avLst/>
          </a:prstGeom>
          <a:solidFill>
            <a:srgbClr val="00897B"/>
          </a:solidFill>
          <a:ln w="12700">
            <a:solidFill>
              <a:srgbClr val="00897B"/>
            </a:solidFill>
            <a:prstDash val="solid"/>
          </a:ln>
        </p:spPr>
      </p:sp>
      <p:sp>
        <p:nvSpPr>
          <p:cNvPr id="25" name="Text 23"/>
          <p:cNvSpPr txBox="1"/>
          <p:nvPr/>
        </p:nvSpPr>
        <p:spPr>
          <a:xfrm>
            <a:off x="548640" y="3749040"/>
            <a:ext cx="475488" cy="475488"/>
          </a:xfrm>
          <a:prstGeom prst="rect">
            <a:avLst/>
          </a:prstGeom>
          <a:noFill/>
          <a:ln/>
        </p:spPr>
        <p:txBody>
          <a:bodyPr wrap="square" lIns="0" tIns="0" rIns="0" bIns="0" rtlCol="0" anchor="ctr"/>
          <a:lstStyle/>
          <a:p>
            <a:pPr algn="ctr" indent="0" marL="0">
              <a:buNone/>
            </a:pPr>
            <a:r>
              <a:rPr lang="en-US" sz="1872" b="1" dirty="0">
                <a:solidFill>
                  <a:srgbClr val="FFFFFF"/>
                </a:solidFill>
                <a:latin typeface="Calibri" pitchFamily="34" charset="0"/>
                <a:ea typeface="Calibri" pitchFamily="34" charset="-122"/>
                <a:cs typeface="Calibri" pitchFamily="34" charset="-120"/>
              </a:rPr>
              <a:t>2</a:t>
            </a:r>
            <a:endParaRPr lang="en-US" sz="1872" dirty="0"/>
          </a:p>
        </p:txBody>
      </p:sp>
      <p:sp>
        <p:nvSpPr>
          <p:cNvPr id="26" name="Text 24"/>
          <p:cNvSpPr txBox="1"/>
          <p:nvPr/>
        </p:nvSpPr>
        <p:spPr>
          <a:xfrm>
            <a:off x="1234440" y="3474720"/>
            <a:ext cx="7406640" cy="10058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Is that the same thing you do when you read in your first language?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C4D"/>
        </a:solidFill>
      </p:bgPr>
    </p:bg>
    <p:spTree>
      <p:nvGrpSpPr>
        <p:cNvPr id="1" name=""/>
        <p:cNvGrpSpPr/>
        <p:nvPr/>
      </p:nvGrpSpPr>
      <p:grpSpPr>
        <a:xfrm>
          <a:off x="0" y="0"/>
          <a:ext cx="0" cy="0"/>
          <a:chOff x="0" y="0"/>
          <a:chExt cx="0" cy="0"/>
        </a:xfrm>
      </p:grpSpPr>
      <p:sp>
        <p:nvSpPr>
          <p:cNvPr id="2" name="Text 0"/>
          <p:cNvSpPr txBox="1"/>
          <p:nvPr/>
        </p:nvSpPr>
        <p:spPr>
          <a:xfrm>
            <a:off x="731520" y="1417320"/>
            <a:ext cx="7315200" cy="274320"/>
          </a:xfrm>
          <a:prstGeom prst="rect">
            <a:avLst/>
          </a:prstGeom>
          <a:noFill/>
          <a:ln/>
        </p:spPr>
        <p:txBody>
          <a:bodyPr wrap="square" lIns="0" tIns="0" rIns="0" bIns="0" rtlCol="0" anchor="t"/>
          <a:lstStyle/>
          <a:p>
            <a:pPr indent="0" marL="0">
              <a:buNone/>
            </a:pPr>
            <a:r>
              <a:rPr lang="en-US" sz="1300" b="1" spc="300" kern="0" dirty="0">
                <a:solidFill>
                  <a:srgbClr val="A9CBEF"/>
                </a:solidFill>
                <a:latin typeface="Calibri" pitchFamily="34" charset="0"/>
                <a:ea typeface="Calibri" pitchFamily="34" charset="-122"/>
                <a:cs typeface="Calibri" pitchFamily="34" charset="-120"/>
              </a:rPr>
              <a:t>THE EXACT THING · SEPTEMBER</a:t>
            </a:r>
            <a:endParaRPr lang="en-US" sz="1300" dirty="0"/>
          </a:p>
        </p:txBody>
      </p:sp>
      <p:sp>
        <p:nvSpPr>
          <p:cNvPr id="3" name="Text 1"/>
          <p:cNvSpPr txBox="1"/>
          <p:nvPr/>
        </p:nvSpPr>
        <p:spPr>
          <a:xfrm>
            <a:off x="731520" y="1783080"/>
            <a:ext cx="7315200" cy="365760"/>
          </a:xfrm>
          <a:prstGeom prst="rect">
            <a:avLst/>
          </a:prstGeom>
          <a:noFill/>
          <a:ln/>
        </p:spPr>
        <p:txBody>
          <a:bodyPr wrap="square" lIns="0" tIns="0" rIns="0" bIns="0" rtlCol="0" anchor="t"/>
          <a:lstStyle/>
          <a:p>
            <a:pPr indent="0" marL="0">
              <a:buNone/>
            </a:pPr>
            <a:r>
              <a:rPr lang="en-US" sz="2000" b="1" dirty="0">
                <a:solidFill>
                  <a:srgbClr val="7FD1C7"/>
                </a:solidFill>
                <a:latin typeface="Calibri" pitchFamily="34" charset="0"/>
                <a:ea typeface="Calibri" pitchFamily="34" charset="-122"/>
                <a:cs typeface="Calibri" pitchFamily="34" charset="-120"/>
              </a:rPr>
              <a:t>Lesson 2</a:t>
            </a:r>
            <a:endParaRPr lang="en-US" sz="2000" dirty="0"/>
          </a:p>
        </p:txBody>
      </p:sp>
      <p:sp>
        <p:nvSpPr>
          <p:cNvPr id="4" name="Text 2"/>
          <p:cNvSpPr txBox="1"/>
          <p:nvPr/>
        </p:nvSpPr>
        <p:spPr>
          <a:xfrm>
            <a:off x="731520" y="2194560"/>
            <a:ext cx="7772400" cy="8229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Cold Start: First Reading</a:t>
            </a:r>
            <a:endParaRPr lang="en-US" sz="4400" dirty="0"/>
          </a:p>
        </p:txBody>
      </p:sp>
      <p:sp>
        <p:nvSpPr>
          <p:cNvPr id="5" name="Text 3"/>
          <p:cNvSpPr txBox="1"/>
          <p:nvPr/>
        </p:nvSpPr>
        <p:spPr>
          <a:xfrm>
            <a:off x="731520" y="3566160"/>
            <a:ext cx="7315200" cy="365760"/>
          </a:xfrm>
          <a:prstGeom prst="rect">
            <a:avLst/>
          </a:prstGeom>
          <a:noFill/>
          <a:ln/>
        </p:spPr>
        <p:txBody>
          <a:bodyPr wrap="square" lIns="0" tIns="0" rIns="0" bIns="0" rtlCol="0" anchor="t"/>
          <a:lstStyle/>
          <a:p>
            <a:pPr indent="0" marL="0">
              <a:buNone/>
            </a:pPr>
            <a:r>
              <a:rPr lang="en-US" sz="1600" i="1" dirty="0">
                <a:solidFill>
                  <a:srgbClr val="A9CBEF"/>
                </a:solidFill>
                <a:latin typeface="Calibri" pitchFamily="34" charset="0"/>
                <a:ea typeface="Calibri" pitchFamily="34" charset="-122"/>
                <a:cs typeface="Calibri" pitchFamily="34" charset="-120"/>
              </a:rPr>
              <a:t>Multicultural Voices</a:t>
            </a:r>
            <a:endParaRPr lang="en-US" sz="1600" dirty="0"/>
          </a:p>
        </p:txBody>
      </p:sp>
      <p:sp>
        <p:nvSpPr>
          <p:cNvPr id="6" name="Text 4"/>
          <p:cNvSpPr txBox="1"/>
          <p:nvPr/>
        </p:nvSpPr>
        <p:spPr>
          <a:xfrm>
            <a:off x="731520" y="4297680"/>
            <a:ext cx="7315200" cy="274320"/>
          </a:xfrm>
          <a:prstGeom prst="rect">
            <a:avLst/>
          </a:prstGeom>
          <a:noFill/>
          <a:ln/>
        </p:spPr>
        <p:txBody>
          <a:bodyPr wrap="square" lIns="0" tIns="0" rIns="0" bIns="0" rtlCol="0" anchor="t"/>
          <a:lstStyle/>
          <a:p>
            <a:pPr indent="0" marL="0">
              <a:buNone/>
            </a:pPr>
            <a:r>
              <a:rPr lang="en-US" sz="1200" i="1" dirty="0">
                <a:solidFill>
                  <a:srgbClr val="A9CBEF"/>
                </a:solidFill>
                <a:latin typeface="Calibri" pitchFamily="34" charset="0"/>
                <a:ea typeface="Calibri" pitchFamily="34" charset="-122"/>
                <a:cs typeface="Calibri" pitchFamily="34" charset="-120"/>
              </a:rPr>
              <a:t>Next → Today’s goals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GOALS</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By the end of this lesson you can:</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Hand out the worksheet</a:t>
            </a:r>
            <a:endParaRPr lang="en-US" sz="950" dirty="0"/>
          </a:p>
        </p:txBody>
      </p:sp>
      <p:sp>
        <p:nvSpPr>
          <p:cNvPr id="17" name="Shape 15"/>
          <p:cNvSpPr/>
          <p:nvPr/>
        </p:nvSpPr>
        <p:spPr>
          <a:xfrm>
            <a:off x="365760" y="1463040"/>
            <a:ext cx="8412480" cy="914400"/>
          </a:xfrm>
          <a:prstGeom prst="roundRect">
            <a:avLst>
              <a:gd name="adj" fmla="val 8000"/>
            </a:avLst>
          </a:prstGeom>
          <a:solidFill>
            <a:srgbClr val="E3F0FB"/>
          </a:solidFill>
          <a:ln w="15875">
            <a:solidFill>
              <a:srgbClr val="90B4D8"/>
            </a:solidFill>
            <a:prstDash val="solid"/>
          </a:ln>
        </p:spPr>
      </p:sp>
      <p:sp>
        <p:nvSpPr>
          <p:cNvPr id="18" name="Shape 16"/>
          <p:cNvSpPr/>
          <p:nvPr/>
        </p:nvSpPr>
        <p:spPr>
          <a:xfrm>
            <a:off x="548640" y="1682496"/>
            <a:ext cx="475488" cy="475488"/>
          </a:xfrm>
          <a:prstGeom prst="ellipse">
            <a:avLst/>
          </a:prstGeom>
          <a:solidFill>
            <a:srgbClr val="00897B"/>
          </a:solidFill>
          <a:ln w="12700">
            <a:solidFill>
              <a:srgbClr val="00897B"/>
            </a:solidFill>
            <a:prstDash val="solid"/>
          </a:ln>
        </p:spPr>
      </p:sp>
      <p:sp>
        <p:nvSpPr>
          <p:cNvPr id="19" name="Text 17"/>
          <p:cNvSpPr txBox="1"/>
          <p:nvPr/>
        </p:nvSpPr>
        <p:spPr>
          <a:xfrm>
            <a:off x="548640" y="1682496"/>
            <a:ext cx="475488" cy="475488"/>
          </a:xfrm>
          <a:prstGeom prst="rect">
            <a:avLst/>
          </a:prstGeom>
          <a:noFill/>
          <a:ln/>
        </p:spPr>
        <p:txBody>
          <a:bodyPr wrap="square" lIns="0" tIns="0" rIns="0" bIns="0" rtlCol="0" anchor="ctr"/>
          <a:lstStyle/>
          <a:p>
            <a:pPr algn="ctr" indent="0" marL="0">
              <a:buNone/>
            </a:pPr>
            <a:r>
              <a:rPr lang="en-US" sz="1872" b="1" dirty="0">
                <a:solidFill>
                  <a:srgbClr val="FFFFFF"/>
                </a:solidFill>
                <a:latin typeface="Calibri" pitchFamily="34" charset="0"/>
                <a:ea typeface="Calibri" pitchFamily="34" charset="-122"/>
                <a:cs typeface="Calibri" pitchFamily="34" charset="-120"/>
              </a:rPr>
              <a:t>1</a:t>
            </a:r>
            <a:endParaRPr lang="en-US" sz="1872" dirty="0"/>
          </a:p>
        </p:txBody>
      </p:sp>
      <p:sp>
        <p:nvSpPr>
          <p:cNvPr id="20" name="Text 18"/>
          <p:cNvSpPr txBox="1"/>
          <p:nvPr/>
        </p:nvSpPr>
        <p:spPr>
          <a:xfrm>
            <a:off x="1234440" y="1463040"/>
            <a:ext cx="7406640" cy="914400"/>
          </a:xfrm>
          <a:prstGeom prst="rect">
            <a:avLst/>
          </a:prstGeom>
          <a:noFill/>
          <a:ln/>
        </p:spPr>
        <p:txBody>
          <a:bodyPr wrap="square" lIns="0" tIns="0" rIns="0" bIns="0" rtlCol="0" anchor="ctr"/>
          <a:lstStyle/>
          <a:p>
            <a:pPr indent="0" marL="0">
              <a:buNone/>
            </a:pPr>
            <a:r>
              <a:rPr lang="en-US" sz="2400" dirty="0">
                <a:solidFill>
                  <a:srgbClr val="1F2933"/>
                </a:solidFill>
                <a:latin typeface="Calibri" pitchFamily="34" charset="0"/>
                <a:ea typeface="Calibri" pitchFamily="34" charset="-122"/>
                <a:cs typeface="Calibri" pitchFamily="34" charset="-120"/>
              </a:rPr>
              <a:t>Read a short, unseen story without help.</a:t>
            </a:r>
            <a:endParaRPr lang="en-US" sz="2400" dirty="0"/>
          </a:p>
        </p:txBody>
      </p:sp>
      <p:sp>
        <p:nvSpPr>
          <p:cNvPr id="21" name="Shape 19"/>
          <p:cNvSpPr/>
          <p:nvPr/>
        </p:nvSpPr>
        <p:spPr>
          <a:xfrm>
            <a:off x="365760" y="2514600"/>
            <a:ext cx="8412480" cy="914400"/>
          </a:xfrm>
          <a:prstGeom prst="roundRect">
            <a:avLst>
              <a:gd name="adj" fmla="val 8000"/>
            </a:avLst>
          </a:prstGeom>
          <a:solidFill>
            <a:srgbClr val="E3F0FB"/>
          </a:solidFill>
          <a:ln w="15875">
            <a:solidFill>
              <a:srgbClr val="90B4D8"/>
            </a:solidFill>
            <a:prstDash val="solid"/>
          </a:ln>
        </p:spPr>
      </p:sp>
      <p:sp>
        <p:nvSpPr>
          <p:cNvPr id="22" name="Shape 20"/>
          <p:cNvSpPr/>
          <p:nvPr/>
        </p:nvSpPr>
        <p:spPr>
          <a:xfrm>
            <a:off x="548640" y="2734056"/>
            <a:ext cx="475488" cy="475488"/>
          </a:xfrm>
          <a:prstGeom prst="ellipse">
            <a:avLst/>
          </a:prstGeom>
          <a:solidFill>
            <a:srgbClr val="00897B"/>
          </a:solidFill>
          <a:ln w="12700">
            <a:solidFill>
              <a:srgbClr val="00897B"/>
            </a:solidFill>
            <a:prstDash val="solid"/>
          </a:ln>
        </p:spPr>
      </p:sp>
      <p:sp>
        <p:nvSpPr>
          <p:cNvPr id="23" name="Text 21"/>
          <p:cNvSpPr txBox="1"/>
          <p:nvPr/>
        </p:nvSpPr>
        <p:spPr>
          <a:xfrm>
            <a:off x="548640" y="2734056"/>
            <a:ext cx="475488" cy="475488"/>
          </a:xfrm>
          <a:prstGeom prst="rect">
            <a:avLst/>
          </a:prstGeom>
          <a:noFill/>
          <a:ln/>
        </p:spPr>
        <p:txBody>
          <a:bodyPr wrap="square" lIns="0" tIns="0" rIns="0" bIns="0" rtlCol="0" anchor="ctr"/>
          <a:lstStyle/>
          <a:p>
            <a:pPr algn="ctr" indent="0" marL="0">
              <a:buNone/>
            </a:pPr>
            <a:r>
              <a:rPr lang="en-US" sz="1872" b="1" dirty="0">
                <a:solidFill>
                  <a:srgbClr val="FFFFFF"/>
                </a:solidFill>
                <a:latin typeface="Calibri" pitchFamily="34" charset="0"/>
                <a:ea typeface="Calibri" pitchFamily="34" charset="-122"/>
                <a:cs typeface="Calibri" pitchFamily="34" charset="-120"/>
              </a:rPr>
              <a:t>2</a:t>
            </a:r>
            <a:endParaRPr lang="en-US" sz="1872" dirty="0"/>
          </a:p>
        </p:txBody>
      </p:sp>
      <p:sp>
        <p:nvSpPr>
          <p:cNvPr id="24" name="Text 22"/>
          <p:cNvSpPr txBox="1"/>
          <p:nvPr/>
        </p:nvSpPr>
        <p:spPr>
          <a:xfrm>
            <a:off x="1234440" y="2514600"/>
            <a:ext cx="7406640" cy="914400"/>
          </a:xfrm>
          <a:prstGeom prst="rect">
            <a:avLst/>
          </a:prstGeom>
          <a:noFill/>
          <a:ln/>
        </p:spPr>
        <p:txBody>
          <a:bodyPr wrap="square" lIns="0" tIns="0" rIns="0" bIns="0" rtlCol="0" anchor="ctr"/>
          <a:lstStyle/>
          <a:p>
            <a:pPr indent="0" marL="0">
              <a:buNone/>
            </a:pPr>
            <a:r>
              <a:rPr lang="en-US" sz="2400" dirty="0">
                <a:solidFill>
                  <a:srgbClr val="1F2933"/>
                </a:solidFill>
                <a:latin typeface="Calibri" pitchFamily="34" charset="0"/>
                <a:ea typeface="Calibri" pitchFamily="34" charset="-122"/>
                <a:cs typeface="Calibri" pitchFamily="34" charset="-120"/>
              </a:rPr>
              <a:t>Answer questions on the page and underneath the page, in writing.</a:t>
            </a:r>
            <a:endParaRPr lang="en-US" sz="2400" dirty="0"/>
          </a:p>
        </p:txBody>
      </p:sp>
      <p:sp>
        <p:nvSpPr>
          <p:cNvPr id="25" name="Shape 23"/>
          <p:cNvSpPr/>
          <p:nvPr/>
        </p:nvSpPr>
        <p:spPr>
          <a:xfrm>
            <a:off x="365760" y="3566160"/>
            <a:ext cx="8412480" cy="914400"/>
          </a:xfrm>
          <a:prstGeom prst="roundRect">
            <a:avLst>
              <a:gd name="adj" fmla="val 8000"/>
            </a:avLst>
          </a:prstGeom>
          <a:solidFill>
            <a:srgbClr val="E3F0FB"/>
          </a:solidFill>
          <a:ln w="15875">
            <a:solidFill>
              <a:srgbClr val="90B4D8"/>
            </a:solidFill>
            <a:prstDash val="solid"/>
          </a:ln>
        </p:spPr>
      </p:sp>
      <p:sp>
        <p:nvSpPr>
          <p:cNvPr id="26" name="Shape 24"/>
          <p:cNvSpPr/>
          <p:nvPr/>
        </p:nvSpPr>
        <p:spPr>
          <a:xfrm>
            <a:off x="548640" y="3785616"/>
            <a:ext cx="475488" cy="475488"/>
          </a:xfrm>
          <a:prstGeom prst="ellipse">
            <a:avLst/>
          </a:prstGeom>
          <a:solidFill>
            <a:srgbClr val="00897B"/>
          </a:solidFill>
          <a:ln w="12700">
            <a:solidFill>
              <a:srgbClr val="00897B"/>
            </a:solidFill>
            <a:prstDash val="solid"/>
          </a:ln>
        </p:spPr>
      </p:sp>
      <p:sp>
        <p:nvSpPr>
          <p:cNvPr id="27" name="Text 25"/>
          <p:cNvSpPr txBox="1"/>
          <p:nvPr/>
        </p:nvSpPr>
        <p:spPr>
          <a:xfrm>
            <a:off x="548640" y="3785616"/>
            <a:ext cx="475488" cy="475488"/>
          </a:xfrm>
          <a:prstGeom prst="rect">
            <a:avLst/>
          </a:prstGeom>
          <a:noFill/>
          <a:ln/>
        </p:spPr>
        <p:txBody>
          <a:bodyPr wrap="square" lIns="0" tIns="0" rIns="0" bIns="0" rtlCol="0" anchor="ctr"/>
          <a:lstStyle/>
          <a:p>
            <a:pPr algn="ctr" indent="0" marL="0">
              <a:buNone/>
            </a:pPr>
            <a:r>
              <a:rPr lang="en-US" sz="1872" b="1" dirty="0">
                <a:solidFill>
                  <a:srgbClr val="FFFFFF"/>
                </a:solidFill>
                <a:latin typeface="Calibri" pitchFamily="34" charset="0"/>
                <a:ea typeface="Calibri" pitchFamily="34" charset="-122"/>
                <a:cs typeface="Calibri" pitchFamily="34" charset="-120"/>
              </a:rPr>
              <a:t>3</a:t>
            </a:r>
            <a:endParaRPr lang="en-US" sz="1872" dirty="0"/>
          </a:p>
        </p:txBody>
      </p:sp>
      <p:sp>
        <p:nvSpPr>
          <p:cNvPr id="28" name="Text 26"/>
          <p:cNvSpPr txBox="1"/>
          <p:nvPr/>
        </p:nvSpPr>
        <p:spPr>
          <a:xfrm>
            <a:off x="1234440" y="3566160"/>
            <a:ext cx="7406640" cy="914400"/>
          </a:xfrm>
          <a:prstGeom prst="rect">
            <a:avLst/>
          </a:prstGeom>
          <a:noFill/>
          <a:ln/>
        </p:spPr>
        <p:txBody>
          <a:bodyPr wrap="square" lIns="0" tIns="0" rIns="0" bIns="0" rtlCol="0" anchor="ctr"/>
          <a:lstStyle/>
          <a:p>
            <a:pPr indent="0" marL="0">
              <a:buNone/>
            </a:pPr>
            <a:r>
              <a:rPr lang="en-US" sz="2400" dirty="0">
                <a:solidFill>
                  <a:srgbClr val="1F2933"/>
                </a:solidFill>
                <a:latin typeface="Calibri" pitchFamily="34" charset="0"/>
                <a:ea typeface="Calibri" pitchFamily="34" charset="-122"/>
                <a:cs typeface="Calibri" pitchFamily="34" charset="-120"/>
              </a:rPr>
              <a:t>Name the reading strategies you already use.</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YOUR WORKSHEET</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Hand out the worksheet now</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Worksheet page 1</a:t>
            </a:r>
            <a:endParaRPr lang="en-US" sz="950" dirty="0"/>
          </a:p>
        </p:txBody>
      </p:sp>
      <p:sp>
        <p:nvSpPr>
          <p:cNvPr id="17" name="Text 15"/>
          <p:cNvSpPr txBox="1"/>
          <p:nvPr/>
        </p:nvSpPr>
        <p:spPr>
          <a:xfrm>
            <a:off x="365760" y="1325880"/>
            <a:ext cx="8412480" cy="320040"/>
          </a:xfrm>
          <a:prstGeom prst="rect">
            <a:avLst/>
          </a:prstGeom>
          <a:noFill/>
          <a:ln/>
        </p:spPr>
        <p:txBody>
          <a:bodyPr wrap="square" lIns="0" tIns="0" rIns="0" bIns="0" rtlCol="0" anchor="t"/>
          <a:lstStyle/>
          <a:p>
            <a:pPr indent="0" marL="0">
              <a:buNone/>
            </a:pPr>
            <a:r>
              <a:rPr lang="en-US" sz="1700" i="1" dirty="0">
                <a:solidFill>
                  <a:srgbClr val="5F6B7A"/>
                </a:solidFill>
                <a:latin typeface="Calibri" pitchFamily="34" charset="0"/>
                <a:ea typeface="Calibri" pitchFamily="34" charset="-122"/>
                <a:cs typeface="Calibri" pitchFamily="34" charset="-120"/>
              </a:rPr>
              <a:t>Name and date at the top first. We fill in each Part as we go.</a:t>
            </a:r>
            <a:endParaRPr lang="en-US" sz="1700" dirty="0"/>
          </a:p>
        </p:txBody>
      </p:sp>
      <p:sp>
        <p:nvSpPr>
          <p:cNvPr id="18" name="Shape 16"/>
          <p:cNvSpPr/>
          <p:nvPr/>
        </p:nvSpPr>
        <p:spPr>
          <a:xfrm>
            <a:off x="365760" y="1783080"/>
            <a:ext cx="4114800" cy="621792"/>
          </a:xfrm>
          <a:prstGeom prst="roundRect">
            <a:avLst>
              <a:gd name="adj" fmla="val 11765"/>
            </a:avLst>
          </a:prstGeom>
          <a:solidFill>
            <a:srgbClr val="E3F0FB"/>
          </a:solidFill>
          <a:ln w="15875">
            <a:solidFill>
              <a:srgbClr val="90B4D8"/>
            </a:solidFill>
            <a:prstDash val="solid"/>
          </a:ln>
        </p:spPr>
      </p:sp>
      <p:sp>
        <p:nvSpPr>
          <p:cNvPr id="19" name="Text 17"/>
          <p:cNvSpPr txBox="1"/>
          <p:nvPr/>
        </p:nvSpPr>
        <p:spPr>
          <a:xfrm>
            <a:off x="548640" y="1783080"/>
            <a:ext cx="3840480" cy="621792"/>
          </a:xfrm>
          <a:prstGeom prst="rect">
            <a:avLst/>
          </a:prstGeom>
          <a:noFill/>
          <a:ln/>
        </p:spPr>
        <p:txBody>
          <a:bodyPr wrap="square" lIns="0" tIns="0" rIns="0" bIns="0" rtlCol="0" anchor="ctr"/>
          <a:lstStyle/>
          <a:p>
            <a:pPr indent="0" marL="0">
              <a:buNone/>
            </a:pPr>
            <a:r>
              <a:rPr lang="en-US" sz="1800" b="1" dirty="0">
                <a:solidFill>
                  <a:srgbClr val="00897B"/>
                </a:solidFill>
                <a:latin typeface="Calibri" pitchFamily="34" charset="0"/>
                <a:ea typeface="Calibri" pitchFamily="34" charset="-122"/>
                <a:cs typeface="Calibri" pitchFamily="34" charset="-120"/>
              </a:rPr>
              <a:t>Part A  </a:t>
            </a:r>
            <a:pPr indent="0" marL="0">
              <a:buNone/>
            </a:pPr>
            <a:r>
              <a:rPr lang="en-US" sz="1800" b="1" dirty="0">
                <a:solidFill>
                  <a:srgbClr val="0B2C4D"/>
                </a:solidFill>
                <a:latin typeface="Calibri" pitchFamily="34" charset="0"/>
                <a:ea typeface="Calibri" pitchFamily="34" charset="-122"/>
                <a:cs typeface="Calibri" pitchFamily="34" charset="-120"/>
              </a:rPr>
              <a:t>Vocabulary</a:t>
            </a:r>
            <a:endParaRPr lang="en-US" sz="1800" dirty="0"/>
          </a:p>
        </p:txBody>
      </p:sp>
      <p:sp>
        <p:nvSpPr>
          <p:cNvPr id="20" name="Shape 18"/>
          <p:cNvSpPr/>
          <p:nvPr/>
        </p:nvSpPr>
        <p:spPr>
          <a:xfrm>
            <a:off x="365760" y="2514600"/>
            <a:ext cx="4114800" cy="621792"/>
          </a:xfrm>
          <a:prstGeom prst="roundRect">
            <a:avLst>
              <a:gd name="adj" fmla="val 11765"/>
            </a:avLst>
          </a:prstGeom>
          <a:solidFill>
            <a:srgbClr val="E3F0FB"/>
          </a:solidFill>
          <a:ln w="15875">
            <a:solidFill>
              <a:srgbClr val="90B4D8"/>
            </a:solidFill>
            <a:prstDash val="solid"/>
          </a:ln>
        </p:spPr>
      </p:sp>
      <p:sp>
        <p:nvSpPr>
          <p:cNvPr id="21" name="Text 19"/>
          <p:cNvSpPr txBox="1"/>
          <p:nvPr/>
        </p:nvSpPr>
        <p:spPr>
          <a:xfrm>
            <a:off x="548640" y="2514600"/>
            <a:ext cx="3840480" cy="621792"/>
          </a:xfrm>
          <a:prstGeom prst="rect">
            <a:avLst/>
          </a:prstGeom>
          <a:noFill/>
          <a:ln/>
        </p:spPr>
        <p:txBody>
          <a:bodyPr wrap="square" lIns="0" tIns="0" rIns="0" bIns="0" rtlCol="0" anchor="ctr"/>
          <a:lstStyle/>
          <a:p>
            <a:pPr indent="0" marL="0">
              <a:buNone/>
            </a:pPr>
            <a:r>
              <a:rPr lang="en-US" sz="1800" b="1" dirty="0">
                <a:solidFill>
                  <a:srgbClr val="00897B"/>
                </a:solidFill>
                <a:latin typeface="Calibri" pitchFamily="34" charset="0"/>
                <a:ea typeface="Calibri" pitchFamily="34" charset="-122"/>
                <a:cs typeface="Calibri" pitchFamily="34" charset="-120"/>
              </a:rPr>
              <a:t>Part B  </a:t>
            </a:r>
            <a:pPr indent="0" marL="0">
              <a:buNone/>
            </a:pPr>
            <a:r>
              <a:rPr lang="en-US" sz="1800" b="1" dirty="0">
                <a:solidFill>
                  <a:srgbClr val="0B2C4D"/>
                </a:solidFill>
                <a:latin typeface="Calibri" pitchFamily="34" charset="0"/>
                <a:ea typeface="Calibri" pitchFamily="34" charset="-122"/>
                <a:cs typeface="Calibri" pitchFamily="34" charset="-120"/>
              </a:rPr>
              <a:t>Which kind of question?</a:t>
            </a:r>
            <a:endParaRPr lang="en-US" sz="1800" dirty="0"/>
          </a:p>
        </p:txBody>
      </p:sp>
      <p:sp>
        <p:nvSpPr>
          <p:cNvPr id="22" name="Shape 20"/>
          <p:cNvSpPr/>
          <p:nvPr/>
        </p:nvSpPr>
        <p:spPr>
          <a:xfrm>
            <a:off x="365760" y="3246120"/>
            <a:ext cx="4114800" cy="621792"/>
          </a:xfrm>
          <a:prstGeom prst="roundRect">
            <a:avLst>
              <a:gd name="adj" fmla="val 11765"/>
            </a:avLst>
          </a:prstGeom>
          <a:solidFill>
            <a:srgbClr val="E3F0FB"/>
          </a:solidFill>
          <a:ln w="15875">
            <a:solidFill>
              <a:srgbClr val="90B4D8"/>
            </a:solidFill>
            <a:prstDash val="solid"/>
          </a:ln>
        </p:spPr>
      </p:sp>
      <p:sp>
        <p:nvSpPr>
          <p:cNvPr id="23" name="Text 21"/>
          <p:cNvSpPr txBox="1"/>
          <p:nvPr/>
        </p:nvSpPr>
        <p:spPr>
          <a:xfrm>
            <a:off x="548640" y="3246120"/>
            <a:ext cx="3840480" cy="621792"/>
          </a:xfrm>
          <a:prstGeom prst="rect">
            <a:avLst/>
          </a:prstGeom>
          <a:noFill/>
          <a:ln/>
        </p:spPr>
        <p:txBody>
          <a:bodyPr wrap="square" lIns="0" tIns="0" rIns="0" bIns="0" rtlCol="0" anchor="ctr"/>
          <a:lstStyle/>
          <a:p>
            <a:pPr indent="0" marL="0">
              <a:buNone/>
            </a:pPr>
            <a:r>
              <a:rPr lang="en-US" sz="1800" b="1" dirty="0">
                <a:solidFill>
                  <a:srgbClr val="00897B"/>
                </a:solidFill>
                <a:latin typeface="Calibri" pitchFamily="34" charset="0"/>
                <a:ea typeface="Calibri" pitchFamily="34" charset="-122"/>
                <a:cs typeface="Calibri" pitchFamily="34" charset="-120"/>
              </a:rPr>
              <a:t>Part C  </a:t>
            </a:r>
            <a:pPr indent="0" marL="0">
              <a:buNone/>
            </a:pPr>
            <a:r>
              <a:rPr lang="en-US" sz="1800" b="1" dirty="0">
                <a:solidFill>
                  <a:srgbClr val="0B2C4D"/>
                </a:solidFill>
                <a:latin typeface="Calibri" pitchFamily="34" charset="0"/>
                <a:ea typeface="Calibri" pitchFamily="34" charset="-122"/>
                <a:cs typeface="Calibri" pitchFamily="34" charset="-120"/>
              </a:rPr>
              <a:t>On the page</a:t>
            </a:r>
            <a:endParaRPr lang="en-US" sz="1800" dirty="0"/>
          </a:p>
        </p:txBody>
      </p:sp>
      <p:sp>
        <p:nvSpPr>
          <p:cNvPr id="24" name="Shape 22"/>
          <p:cNvSpPr/>
          <p:nvPr/>
        </p:nvSpPr>
        <p:spPr>
          <a:xfrm>
            <a:off x="365760" y="3977640"/>
            <a:ext cx="4114800" cy="621792"/>
          </a:xfrm>
          <a:prstGeom prst="roundRect">
            <a:avLst>
              <a:gd name="adj" fmla="val 11765"/>
            </a:avLst>
          </a:prstGeom>
          <a:solidFill>
            <a:srgbClr val="E3F0FB"/>
          </a:solidFill>
          <a:ln w="15875">
            <a:solidFill>
              <a:srgbClr val="90B4D8"/>
            </a:solidFill>
            <a:prstDash val="solid"/>
          </a:ln>
        </p:spPr>
      </p:sp>
      <p:sp>
        <p:nvSpPr>
          <p:cNvPr id="25" name="Text 23"/>
          <p:cNvSpPr txBox="1"/>
          <p:nvPr/>
        </p:nvSpPr>
        <p:spPr>
          <a:xfrm>
            <a:off x="548640" y="3977640"/>
            <a:ext cx="3840480" cy="621792"/>
          </a:xfrm>
          <a:prstGeom prst="rect">
            <a:avLst/>
          </a:prstGeom>
          <a:noFill/>
          <a:ln/>
        </p:spPr>
        <p:txBody>
          <a:bodyPr wrap="square" lIns="0" tIns="0" rIns="0" bIns="0" rtlCol="0" anchor="ctr"/>
          <a:lstStyle/>
          <a:p>
            <a:pPr indent="0" marL="0">
              <a:buNone/>
            </a:pPr>
            <a:r>
              <a:rPr lang="en-US" sz="1800" b="1" dirty="0">
                <a:solidFill>
                  <a:srgbClr val="00897B"/>
                </a:solidFill>
                <a:latin typeface="Calibri" pitchFamily="34" charset="0"/>
                <a:ea typeface="Calibri" pitchFamily="34" charset="-122"/>
                <a:cs typeface="Calibri" pitchFamily="34" charset="-120"/>
              </a:rPr>
              <a:t>Part D  </a:t>
            </a:r>
            <a:pPr indent="0" marL="0">
              <a:buNone/>
            </a:pPr>
            <a:r>
              <a:rPr lang="en-US" sz="1800" b="1" dirty="0">
                <a:solidFill>
                  <a:srgbClr val="0B2C4D"/>
                </a:solidFill>
                <a:latin typeface="Calibri" pitchFamily="34" charset="0"/>
                <a:ea typeface="Calibri" pitchFamily="34" charset="-122"/>
                <a:cs typeface="Calibri" pitchFamily="34" charset="-120"/>
              </a:rPr>
              <a:t>Underneath the page</a:t>
            </a:r>
            <a:endParaRPr lang="en-US" sz="1800" dirty="0"/>
          </a:p>
        </p:txBody>
      </p:sp>
      <p:sp>
        <p:nvSpPr>
          <p:cNvPr id="26" name="Shape 24"/>
          <p:cNvSpPr/>
          <p:nvPr/>
        </p:nvSpPr>
        <p:spPr>
          <a:xfrm>
            <a:off x="4663440" y="1783080"/>
            <a:ext cx="4114800" cy="621792"/>
          </a:xfrm>
          <a:prstGeom prst="roundRect">
            <a:avLst>
              <a:gd name="adj" fmla="val 11765"/>
            </a:avLst>
          </a:prstGeom>
          <a:solidFill>
            <a:srgbClr val="E3F0FB"/>
          </a:solidFill>
          <a:ln w="15875">
            <a:solidFill>
              <a:srgbClr val="90B4D8"/>
            </a:solidFill>
            <a:prstDash val="solid"/>
          </a:ln>
        </p:spPr>
      </p:sp>
      <p:sp>
        <p:nvSpPr>
          <p:cNvPr id="27" name="Text 25"/>
          <p:cNvSpPr txBox="1"/>
          <p:nvPr/>
        </p:nvSpPr>
        <p:spPr>
          <a:xfrm>
            <a:off x="4846320" y="1783080"/>
            <a:ext cx="3840480" cy="621792"/>
          </a:xfrm>
          <a:prstGeom prst="rect">
            <a:avLst/>
          </a:prstGeom>
          <a:noFill/>
          <a:ln/>
        </p:spPr>
        <p:txBody>
          <a:bodyPr wrap="square" lIns="0" tIns="0" rIns="0" bIns="0" rtlCol="0" anchor="ctr"/>
          <a:lstStyle/>
          <a:p>
            <a:pPr indent="0" marL="0">
              <a:buNone/>
            </a:pPr>
            <a:r>
              <a:rPr lang="en-US" sz="1800" b="1" dirty="0">
                <a:solidFill>
                  <a:srgbClr val="00897B"/>
                </a:solidFill>
                <a:latin typeface="Calibri" pitchFamily="34" charset="0"/>
                <a:ea typeface="Calibri" pitchFamily="34" charset="-122"/>
                <a:cs typeface="Calibri" pitchFamily="34" charset="-120"/>
              </a:rPr>
              <a:t>Part E  </a:t>
            </a:r>
            <a:pPr indent="0" marL="0">
              <a:buNone/>
            </a:pPr>
            <a:r>
              <a:rPr lang="en-US" sz="1800" b="1" dirty="0">
                <a:solidFill>
                  <a:srgbClr val="0B2C4D"/>
                </a:solidFill>
                <a:latin typeface="Calibri" pitchFamily="34" charset="0"/>
                <a:ea typeface="Calibri" pitchFamily="34" charset="-122"/>
                <a:cs typeface="Calibri" pitchFamily="34" charset="-120"/>
              </a:rPr>
              <a:t>Your reading strategies</a:t>
            </a:r>
            <a:endParaRPr lang="en-US" sz="1800" dirty="0"/>
          </a:p>
        </p:txBody>
      </p:sp>
      <p:sp>
        <p:nvSpPr>
          <p:cNvPr id="28" name="Shape 26"/>
          <p:cNvSpPr/>
          <p:nvPr/>
        </p:nvSpPr>
        <p:spPr>
          <a:xfrm>
            <a:off x="4663440" y="2514600"/>
            <a:ext cx="4114800" cy="621792"/>
          </a:xfrm>
          <a:prstGeom prst="roundRect">
            <a:avLst>
              <a:gd name="adj" fmla="val 11765"/>
            </a:avLst>
          </a:prstGeom>
          <a:solidFill>
            <a:srgbClr val="E3F0FB"/>
          </a:solidFill>
          <a:ln w="15875">
            <a:solidFill>
              <a:srgbClr val="90B4D8"/>
            </a:solidFill>
            <a:prstDash val="solid"/>
          </a:ln>
        </p:spPr>
      </p:sp>
      <p:sp>
        <p:nvSpPr>
          <p:cNvPr id="29" name="Text 27"/>
          <p:cNvSpPr txBox="1"/>
          <p:nvPr/>
        </p:nvSpPr>
        <p:spPr>
          <a:xfrm>
            <a:off x="4846320" y="2514600"/>
            <a:ext cx="3840480" cy="621792"/>
          </a:xfrm>
          <a:prstGeom prst="rect">
            <a:avLst/>
          </a:prstGeom>
          <a:noFill/>
          <a:ln/>
        </p:spPr>
        <p:txBody>
          <a:bodyPr wrap="square" lIns="0" tIns="0" rIns="0" bIns="0" rtlCol="0" anchor="ctr"/>
          <a:lstStyle/>
          <a:p>
            <a:pPr indent="0" marL="0">
              <a:buNone/>
            </a:pPr>
            <a:r>
              <a:rPr lang="en-US" sz="1800" b="1" dirty="0">
                <a:solidFill>
                  <a:srgbClr val="00897B"/>
                </a:solidFill>
                <a:latin typeface="Calibri" pitchFamily="34" charset="0"/>
                <a:ea typeface="Calibri" pitchFamily="34" charset="-122"/>
                <a:cs typeface="Calibri" pitchFamily="34" charset="-120"/>
              </a:rPr>
              <a:t>Part F  </a:t>
            </a:r>
            <a:pPr indent="0" marL="0">
              <a:buNone/>
            </a:pPr>
            <a:r>
              <a:rPr lang="en-US" sz="1800" b="1" dirty="0">
                <a:solidFill>
                  <a:srgbClr val="0B2C4D"/>
                </a:solidFill>
                <a:latin typeface="Calibri" pitchFamily="34" charset="0"/>
                <a:ea typeface="Calibri" pitchFamily="34" charset="-122"/>
                <a:cs typeface="Calibri" pitchFamily="34" charset="-120"/>
              </a:rPr>
              <a:t>Check your understanding</a:t>
            </a:r>
            <a:endParaRPr lang="en-US" sz="1800" dirty="0"/>
          </a:p>
        </p:txBody>
      </p:sp>
      <p:sp>
        <p:nvSpPr>
          <p:cNvPr id="30" name="Shape 28"/>
          <p:cNvSpPr/>
          <p:nvPr/>
        </p:nvSpPr>
        <p:spPr>
          <a:xfrm>
            <a:off x="4663440" y="3246120"/>
            <a:ext cx="4114800" cy="621792"/>
          </a:xfrm>
          <a:prstGeom prst="roundRect">
            <a:avLst>
              <a:gd name="adj" fmla="val 11765"/>
            </a:avLst>
          </a:prstGeom>
          <a:solidFill>
            <a:srgbClr val="E3F0FB"/>
          </a:solidFill>
          <a:ln w="15875">
            <a:solidFill>
              <a:srgbClr val="90B4D8"/>
            </a:solidFill>
            <a:prstDash val="solid"/>
          </a:ln>
        </p:spPr>
      </p:sp>
      <p:sp>
        <p:nvSpPr>
          <p:cNvPr id="31" name="Text 29"/>
          <p:cNvSpPr txBox="1"/>
          <p:nvPr/>
        </p:nvSpPr>
        <p:spPr>
          <a:xfrm>
            <a:off x="4846320" y="3246120"/>
            <a:ext cx="3840480" cy="621792"/>
          </a:xfrm>
          <a:prstGeom prst="rect">
            <a:avLst/>
          </a:prstGeom>
          <a:noFill/>
          <a:ln/>
        </p:spPr>
        <p:txBody>
          <a:bodyPr wrap="square" lIns="0" tIns="0" rIns="0" bIns="0" rtlCol="0" anchor="ctr"/>
          <a:lstStyle/>
          <a:p>
            <a:pPr indent="0" marL="0">
              <a:buNone/>
            </a:pPr>
            <a:r>
              <a:rPr lang="en-US" sz="1800" b="1" dirty="0">
                <a:solidFill>
                  <a:srgbClr val="00897B"/>
                </a:solidFill>
                <a:latin typeface="Calibri" pitchFamily="34" charset="0"/>
                <a:ea typeface="Calibri" pitchFamily="34" charset="-122"/>
                <a:cs typeface="Calibri" pitchFamily="34" charset="-120"/>
              </a:rPr>
              <a:t>Part G  </a:t>
            </a:r>
            <a:pPr indent="0" marL="0">
              <a:buNone/>
            </a:pPr>
            <a:r>
              <a:rPr lang="en-US" sz="1800" b="1" dirty="0">
                <a:solidFill>
                  <a:srgbClr val="0B2C4D"/>
                </a:solidFill>
                <a:latin typeface="Calibri" pitchFamily="34" charset="0"/>
                <a:ea typeface="Calibri" pitchFamily="34" charset="-122"/>
                <a:cs typeface="Calibri" pitchFamily="34" charset="-120"/>
              </a:rPr>
              <a:t>Check your work</a:t>
            </a:r>
            <a:endParaRPr lang="en-US" sz="1800" dirty="0"/>
          </a:p>
        </p:txBody>
      </p:sp>
      <p:sp>
        <p:nvSpPr>
          <p:cNvPr id="32" name="Shape 30"/>
          <p:cNvSpPr/>
          <p:nvPr/>
        </p:nvSpPr>
        <p:spPr>
          <a:xfrm>
            <a:off x="4663440" y="3977640"/>
            <a:ext cx="4114800" cy="621792"/>
          </a:xfrm>
          <a:prstGeom prst="roundRect">
            <a:avLst>
              <a:gd name="adj" fmla="val 11765"/>
            </a:avLst>
          </a:prstGeom>
          <a:solidFill>
            <a:srgbClr val="FFF3D6"/>
          </a:solidFill>
          <a:ln w="15875">
            <a:solidFill>
              <a:srgbClr val="E0B252"/>
            </a:solidFill>
            <a:prstDash val="solid"/>
          </a:ln>
        </p:spPr>
      </p:sp>
      <p:sp>
        <p:nvSpPr>
          <p:cNvPr id="33" name="Text 31"/>
          <p:cNvSpPr txBox="1"/>
          <p:nvPr/>
        </p:nvSpPr>
        <p:spPr>
          <a:xfrm>
            <a:off x="4846320" y="3977640"/>
            <a:ext cx="3840480" cy="621792"/>
          </a:xfrm>
          <a:prstGeom prst="rect">
            <a:avLst/>
          </a:prstGeom>
          <a:noFill/>
          <a:ln/>
        </p:spPr>
        <p:txBody>
          <a:bodyPr wrap="square" lIns="0" tIns="0" rIns="0" bIns="0" rtlCol="0" anchor="ctr"/>
          <a:lstStyle/>
          <a:p>
            <a:pPr indent="0" marL="0">
              <a:buNone/>
            </a:pPr>
            <a:r>
              <a:rPr lang="en-US" sz="1800" b="1" dirty="0">
                <a:solidFill>
                  <a:srgbClr val="00897B"/>
                </a:solidFill>
                <a:latin typeface="Calibri" pitchFamily="34" charset="0"/>
                <a:ea typeface="Calibri" pitchFamily="34" charset="-122"/>
                <a:cs typeface="Calibri" pitchFamily="34" charset="-120"/>
              </a:rPr>
              <a:t>Part H  </a:t>
            </a:r>
            <a:pPr indent="0" marL="0">
              <a:buNone/>
            </a:pPr>
            <a:r>
              <a:rPr lang="en-US" sz="1800" b="1" dirty="0">
                <a:solidFill>
                  <a:srgbClr val="0B2C4D"/>
                </a:solidFill>
                <a:latin typeface="Calibri" pitchFamily="34" charset="0"/>
                <a:ea typeface="Calibri" pitchFamily="34" charset="-122"/>
                <a:cs typeface="Calibri" pitchFamily="34" charset="-120"/>
              </a:rPr>
              <a:t>Exit ticket</a:t>
            </a:r>
            <a:endParaRPr lang="en-US" sz="1800" dirty="0"/>
          </a:p>
        </p:txBody>
      </p:sp>
      <p:sp>
        <p:nvSpPr>
          <p:cNvPr id="34" name="Text 32"/>
          <p:cNvSpPr txBox="1"/>
          <p:nvPr/>
        </p:nvSpPr>
        <p:spPr>
          <a:xfrm>
            <a:off x="365760" y="4754880"/>
            <a:ext cx="6400800" cy="22860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The exit ticket is the last Part. The whole sheet goes in your duotang at the end.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YOUR WORKSHEET</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Worksheet page 2</a:t>
            </a:r>
            <a:endParaRPr lang="en-US" sz="950" dirty="0"/>
          </a:p>
        </p:txBody>
      </p:sp>
      <p:sp>
        <p:nvSpPr>
          <p:cNvPr id="16" name="Text 14"/>
          <p:cNvSpPr txBox="1"/>
          <p:nvPr/>
        </p:nvSpPr>
        <p:spPr>
          <a:xfrm>
            <a:off x="365760" y="1188720"/>
            <a:ext cx="2377440" cy="274320"/>
          </a:xfrm>
          <a:prstGeom prst="rect">
            <a:avLst/>
          </a:prstGeom>
          <a:noFill/>
          <a:ln/>
        </p:spPr>
        <p:txBody>
          <a:bodyPr wrap="square" lIns="0" tIns="0" rIns="0" bIns="0" rtlCol="0" anchor="t"/>
          <a:lstStyle/>
          <a:p>
            <a:pPr indent="0" marL="0">
              <a:buNone/>
            </a:pPr>
            <a:r>
              <a:rPr lang="en-US" sz="1300" b="1" spc="200" kern="0" dirty="0">
                <a:solidFill>
                  <a:srgbClr val="00897B"/>
                </a:solidFill>
                <a:latin typeface="Calibri" pitchFamily="34" charset="0"/>
                <a:ea typeface="Calibri" pitchFamily="34" charset="-122"/>
                <a:cs typeface="Calibri" pitchFamily="34" charset="-120"/>
              </a:rPr>
              <a:t>WORKSHEET</a:t>
            </a:r>
            <a:endParaRPr lang="en-US" sz="1300" dirty="0"/>
          </a:p>
        </p:txBody>
      </p:sp>
      <p:sp>
        <p:nvSpPr>
          <p:cNvPr id="17" name="Text 15"/>
          <p:cNvSpPr txBox="1"/>
          <p:nvPr/>
        </p:nvSpPr>
        <p:spPr>
          <a:xfrm>
            <a:off x="365760" y="1463040"/>
            <a:ext cx="237744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Page 1 of 7</a:t>
            </a:r>
            <a:endParaRPr lang="en-US" sz="2600" dirty="0"/>
          </a:p>
        </p:txBody>
      </p:sp>
      <p:sp>
        <p:nvSpPr>
          <p:cNvPr id="18" name="Shape 16"/>
          <p:cNvSpPr/>
          <p:nvPr/>
        </p:nvSpPr>
        <p:spPr>
          <a:xfrm>
            <a:off x="3033938" y="832104"/>
            <a:ext cx="3076125" cy="395935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9" name="Image 0" descr="out/ws/page-1.png">    </p:cNvPr>
          <p:cNvPicPr>
            <a:picLocks noChangeAspect="1"/>
          </p:cNvPicPr>
          <p:nvPr/>
        </p:nvPicPr>
        <p:blipFill>
          <a:blip r:embed="rId1"/>
          <a:stretch>
            <a:fillRect/>
          </a:stretch>
        </p:blipFill>
        <p:spPr>
          <a:xfrm>
            <a:off x="3070514" y="868680"/>
            <a:ext cx="3002973" cy="3886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YOUR WORKSHEET</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Worksheet page 3</a:t>
            </a:r>
            <a:endParaRPr lang="en-US" sz="950" dirty="0"/>
          </a:p>
        </p:txBody>
      </p:sp>
      <p:sp>
        <p:nvSpPr>
          <p:cNvPr id="16" name="Text 14"/>
          <p:cNvSpPr txBox="1"/>
          <p:nvPr/>
        </p:nvSpPr>
        <p:spPr>
          <a:xfrm>
            <a:off x="365760" y="1188720"/>
            <a:ext cx="2377440" cy="274320"/>
          </a:xfrm>
          <a:prstGeom prst="rect">
            <a:avLst/>
          </a:prstGeom>
          <a:noFill/>
          <a:ln/>
        </p:spPr>
        <p:txBody>
          <a:bodyPr wrap="square" lIns="0" tIns="0" rIns="0" bIns="0" rtlCol="0" anchor="t"/>
          <a:lstStyle/>
          <a:p>
            <a:pPr indent="0" marL="0">
              <a:buNone/>
            </a:pPr>
            <a:r>
              <a:rPr lang="en-US" sz="1300" b="1" spc="200" kern="0" dirty="0">
                <a:solidFill>
                  <a:srgbClr val="00897B"/>
                </a:solidFill>
                <a:latin typeface="Calibri" pitchFamily="34" charset="0"/>
                <a:ea typeface="Calibri" pitchFamily="34" charset="-122"/>
                <a:cs typeface="Calibri" pitchFamily="34" charset="-120"/>
              </a:rPr>
              <a:t>WORKSHEET</a:t>
            </a:r>
            <a:endParaRPr lang="en-US" sz="1300" dirty="0"/>
          </a:p>
        </p:txBody>
      </p:sp>
      <p:sp>
        <p:nvSpPr>
          <p:cNvPr id="17" name="Text 15"/>
          <p:cNvSpPr txBox="1"/>
          <p:nvPr/>
        </p:nvSpPr>
        <p:spPr>
          <a:xfrm>
            <a:off x="365760" y="1463040"/>
            <a:ext cx="237744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Page 2 of 7</a:t>
            </a:r>
            <a:endParaRPr lang="en-US" sz="2600" dirty="0"/>
          </a:p>
        </p:txBody>
      </p:sp>
      <p:sp>
        <p:nvSpPr>
          <p:cNvPr id="18" name="Shape 16"/>
          <p:cNvSpPr/>
          <p:nvPr/>
        </p:nvSpPr>
        <p:spPr>
          <a:xfrm>
            <a:off x="3033938" y="832104"/>
            <a:ext cx="3076125" cy="395935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9" name="Image 0" descr="out/ws/page-2.png">    </p:cNvPr>
          <p:cNvPicPr>
            <a:picLocks noChangeAspect="1"/>
          </p:cNvPicPr>
          <p:nvPr/>
        </p:nvPicPr>
        <p:blipFill>
          <a:blip r:embed="rId1"/>
          <a:stretch>
            <a:fillRect/>
          </a:stretch>
        </p:blipFill>
        <p:spPr>
          <a:xfrm>
            <a:off x="3070514" y="868680"/>
            <a:ext cx="3002973" cy="3886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YOUR WORKSHEET</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Worksheet page 4</a:t>
            </a:r>
            <a:endParaRPr lang="en-US" sz="950" dirty="0"/>
          </a:p>
        </p:txBody>
      </p:sp>
      <p:sp>
        <p:nvSpPr>
          <p:cNvPr id="16" name="Text 14"/>
          <p:cNvSpPr txBox="1"/>
          <p:nvPr/>
        </p:nvSpPr>
        <p:spPr>
          <a:xfrm>
            <a:off x="365760" y="1188720"/>
            <a:ext cx="2377440" cy="274320"/>
          </a:xfrm>
          <a:prstGeom prst="rect">
            <a:avLst/>
          </a:prstGeom>
          <a:noFill/>
          <a:ln/>
        </p:spPr>
        <p:txBody>
          <a:bodyPr wrap="square" lIns="0" tIns="0" rIns="0" bIns="0" rtlCol="0" anchor="t"/>
          <a:lstStyle/>
          <a:p>
            <a:pPr indent="0" marL="0">
              <a:buNone/>
            </a:pPr>
            <a:r>
              <a:rPr lang="en-US" sz="1300" b="1" spc="200" kern="0" dirty="0">
                <a:solidFill>
                  <a:srgbClr val="00897B"/>
                </a:solidFill>
                <a:latin typeface="Calibri" pitchFamily="34" charset="0"/>
                <a:ea typeface="Calibri" pitchFamily="34" charset="-122"/>
                <a:cs typeface="Calibri" pitchFamily="34" charset="-120"/>
              </a:rPr>
              <a:t>WORKSHEET</a:t>
            </a:r>
            <a:endParaRPr lang="en-US" sz="1300" dirty="0"/>
          </a:p>
        </p:txBody>
      </p:sp>
      <p:sp>
        <p:nvSpPr>
          <p:cNvPr id="17" name="Text 15"/>
          <p:cNvSpPr txBox="1"/>
          <p:nvPr/>
        </p:nvSpPr>
        <p:spPr>
          <a:xfrm>
            <a:off x="365760" y="1463040"/>
            <a:ext cx="237744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Page 3 of 7</a:t>
            </a:r>
            <a:endParaRPr lang="en-US" sz="2600" dirty="0"/>
          </a:p>
        </p:txBody>
      </p:sp>
      <p:sp>
        <p:nvSpPr>
          <p:cNvPr id="18" name="Shape 16"/>
          <p:cNvSpPr/>
          <p:nvPr/>
        </p:nvSpPr>
        <p:spPr>
          <a:xfrm>
            <a:off x="3033938" y="832104"/>
            <a:ext cx="3076125" cy="395935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9" name="Image 0" descr="out/ws/page-3.png">    </p:cNvPr>
          <p:cNvPicPr>
            <a:picLocks noChangeAspect="1"/>
          </p:cNvPicPr>
          <p:nvPr/>
        </p:nvPicPr>
        <p:blipFill>
          <a:blip r:embed="rId1"/>
          <a:stretch>
            <a:fillRect/>
          </a:stretch>
        </p:blipFill>
        <p:spPr>
          <a:xfrm>
            <a:off x="3070514" y="868680"/>
            <a:ext cx="3002973" cy="3886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YOUR WORKSHEET</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Worksheet page 5</a:t>
            </a:r>
            <a:endParaRPr lang="en-US" sz="950" dirty="0"/>
          </a:p>
        </p:txBody>
      </p:sp>
      <p:sp>
        <p:nvSpPr>
          <p:cNvPr id="16" name="Text 14"/>
          <p:cNvSpPr txBox="1"/>
          <p:nvPr/>
        </p:nvSpPr>
        <p:spPr>
          <a:xfrm>
            <a:off x="365760" y="1188720"/>
            <a:ext cx="2377440" cy="274320"/>
          </a:xfrm>
          <a:prstGeom prst="rect">
            <a:avLst/>
          </a:prstGeom>
          <a:noFill/>
          <a:ln/>
        </p:spPr>
        <p:txBody>
          <a:bodyPr wrap="square" lIns="0" tIns="0" rIns="0" bIns="0" rtlCol="0" anchor="t"/>
          <a:lstStyle/>
          <a:p>
            <a:pPr indent="0" marL="0">
              <a:buNone/>
            </a:pPr>
            <a:r>
              <a:rPr lang="en-US" sz="1300" b="1" spc="200" kern="0" dirty="0">
                <a:solidFill>
                  <a:srgbClr val="00897B"/>
                </a:solidFill>
                <a:latin typeface="Calibri" pitchFamily="34" charset="0"/>
                <a:ea typeface="Calibri" pitchFamily="34" charset="-122"/>
                <a:cs typeface="Calibri" pitchFamily="34" charset="-120"/>
              </a:rPr>
              <a:t>WORKSHEET</a:t>
            </a:r>
            <a:endParaRPr lang="en-US" sz="1300" dirty="0"/>
          </a:p>
        </p:txBody>
      </p:sp>
      <p:sp>
        <p:nvSpPr>
          <p:cNvPr id="17" name="Text 15"/>
          <p:cNvSpPr txBox="1"/>
          <p:nvPr/>
        </p:nvSpPr>
        <p:spPr>
          <a:xfrm>
            <a:off x="365760" y="1463040"/>
            <a:ext cx="237744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Page 4 of 7</a:t>
            </a:r>
            <a:endParaRPr lang="en-US" sz="2600" dirty="0"/>
          </a:p>
        </p:txBody>
      </p:sp>
      <p:sp>
        <p:nvSpPr>
          <p:cNvPr id="18" name="Shape 16"/>
          <p:cNvSpPr/>
          <p:nvPr/>
        </p:nvSpPr>
        <p:spPr>
          <a:xfrm>
            <a:off x="3033938" y="832104"/>
            <a:ext cx="3076125" cy="395935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9" name="Image 0" descr="out/ws/page-4.png">    </p:cNvPr>
          <p:cNvPicPr>
            <a:picLocks noChangeAspect="1"/>
          </p:cNvPicPr>
          <p:nvPr/>
        </p:nvPicPr>
        <p:blipFill>
          <a:blip r:embed="rId1"/>
          <a:stretch>
            <a:fillRect/>
          </a:stretch>
        </p:blipFill>
        <p:spPr>
          <a:xfrm>
            <a:off x="3070514" y="868680"/>
            <a:ext cx="3002973" cy="3886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YOUR WORKSHEET</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Worksheet page 6</a:t>
            </a:r>
            <a:endParaRPr lang="en-US" sz="950" dirty="0"/>
          </a:p>
        </p:txBody>
      </p:sp>
      <p:sp>
        <p:nvSpPr>
          <p:cNvPr id="16" name="Text 14"/>
          <p:cNvSpPr txBox="1"/>
          <p:nvPr/>
        </p:nvSpPr>
        <p:spPr>
          <a:xfrm>
            <a:off x="365760" y="1188720"/>
            <a:ext cx="2377440" cy="274320"/>
          </a:xfrm>
          <a:prstGeom prst="rect">
            <a:avLst/>
          </a:prstGeom>
          <a:noFill/>
          <a:ln/>
        </p:spPr>
        <p:txBody>
          <a:bodyPr wrap="square" lIns="0" tIns="0" rIns="0" bIns="0" rtlCol="0" anchor="t"/>
          <a:lstStyle/>
          <a:p>
            <a:pPr indent="0" marL="0">
              <a:buNone/>
            </a:pPr>
            <a:r>
              <a:rPr lang="en-US" sz="1300" b="1" spc="200" kern="0" dirty="0">
                <a:solidFill>
                  <a:srgbClr val="00897B"/>
                </a:solidFill>
                <a:latin typeface="Calibri" pitchFamily="34" charset="0"/>
                <a:ea typeface="Calibri" pitchFamily="34" charset="-122"/>
                <a:cs typeface="Calibri" pitchFamily="34" charset="-120"/>
              </a:rPr>
              <a:t>WORKSHEET</a:t>
            </a:r>
            <a:endParaRPr lang="en-US" sz="1300" dirty="0"/>
          </a:p>
        </p:txBody>
      </p:sp>
      <p:sp>
        <p:nvSpPr>
          <p:cNvPr id="17" name="Text 15"/>
          <p:cNvSpPr txBox="1"/>
          <p:nvPr/>
        </p:nvSpPr>
        <p:spPr>
          <a:xfrm>
            <a:off x="365760" y="1463040"/>
            <a:ext cx="237744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Page 5 of 7</a:t>
            </a:r>
            <a:endParaRPr lang="en-US" sz="2600" dirty="0"/>
          </a:p>
        </p:txBody>
      </p:sp>
      <p:sp>
        <p:nvSpPr>
          <p:cNvPr id="18" name="Shape 16"/>
          <p:cNvSpPr/>
          <p:nvPr/>
        </p:nvSpPr>
        <p:spPr>
          <a:xfrm>
            <a:off x="3033938" y="832104"/>
            <a:ext cx="3076125" cy="395935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9" name="Image 0" descr="out/ws/page-5.png">    </p:cNvPr>
          <p:cNvPicPr>
            <a:picLocks noChangeAspect="1"/>
          </p:cNvPicPr>
          <p:nvPr/>
        </p:nvPicPr>
        <p:blipFill>
          <a:blip r:embed="rId1"/>
          <a:stretch>
            <a:fillRect/>
          </a:stretch>
        </p:blipFill>
        <p:spPr>
          <a:xfrm>
            <a:off x="3070514" y="868680"/>
            <a:ext cx="3002973" cy="3886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YOUR WORKSHEET</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Worksheet page 7</a:t>
            </a:r>
            <a:endParaRPr lang="en-US" sz="950" dirty="0"/>
          </a:p>
        </p:txBody>
      </p:sp>
      <p:sp>
        <p:nvSpPr>
          <p:cNvPr id="16" name="Text 14"/>
          <p:cNvSpPr txBox="1"/>
          <p:nvPr/>
        </p:nvSpPr>
        <p:spPr>
          <a:xfrm>
            <a:off x="365760" y="1188720"/>
            <a:ext cx="2377440" cy="274320"/>
          </a:xfrm>
          <a:prstGeom prst="rect">
            <a:avLst/>
          </a:prstGeom>
          <a:noFill/>
          <a:ln/>
        </p:spPr>
        <p:txBody>
          <a:bodyPr wrap="square" lIns="0" tIns="0" rIns="0" bIns="0" rtlCol="0" anchor="t"/>
          <a:lstStyle/>
          <a:p>
            <a:pPr indent="0" marL="0">
              <a:buNone/>
            </a:pPr>
            <a:r>
              <a:rPr lang="en-US" sz="1300" b="1" spc="200" kern="0" dirty="0">
                <a:solidFill>
                  <a:srgbClr val="00897B"/>
                </a:solidFill>
                <a:latin typeface="Calibri" pitchFamily="34" charset="0"/>
                <a:ea typeface="Calibri" pitchFamily="34" charset="-122"/>
                <a:cs typeface="Calibri" pitchFamily="34" charset="-120"/>
              </a:rPr>
              <a:t>WORKSHEET</a:t>
            </a:r>
            <a:endParaRPr lang="en-US" sz="1300" dirty="0"/>
          </a:p>
        </p:txBody>
      </p:sp>
      <p:sp>
        <p:nvSpPr>
          <p:cNvPr id="17" name="Text 15"/>
          <p:cNvSpPr txBox="1"/>
          <p:nvPr/>
        </p:nvSpPr>
        <p:spPr>
          <a:xfrm>
            <a:off x="365760" y="1463040"/>
            <a:ext cx="237744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Page 6 of 7</a:t>
            </a:r>
            <a:endParaRPr lang="en-US" sz="2600" dirty="0"/>
          </a:p>
        </p:txBody>
      </p:sp>
      <p:sp>
        <p:nvSpPr>
          <p:cNvPr id="18" name="Shape 16"/>
          <p:cNvSpPr/>
          <p:nvPr/>
        </p:nvSpPr>
        <p:spPr>
          <a:xfrm>
            <a:off x="3033938" y="832104"/>
            <a:ext cx="3076125" cy="395935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9" name="Image 0" descr="out/ws/page-6.png">    </p:cNvPr>
          <p:cNvPicPr>
            <a:picLocks noChangeAspect="1"/>
          </p:cNvPicPr>
          <p:nvPr/>
        </p:nvPicPr>
        <p:blipFill>
          <a:blip r:embed="rId1"/>
          <a:stretch>
            <a:fillRect/>
          </a:stretch>
        </p:blipFill>
        <p:spPr>
          <a:xfrm>
            <a:off x="3070514" y="868680"/>
            <a:ext cx="3002973" cy="3886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YOUR WORKSHEET</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Key vocabulary</a:t>
            </a:r>
            <a:endParaRPr lang="en-US" sz="950" dirty="0"/>
          </a:p>
        </p:txBody>
      </p:sp>
      <p:sp>
        <p:nvSpPr>
          <p:cNvPr id="16" name="Text 14"/>
          <p:cNvSpPr txBox="1"/>
          <p:nvPr/>
        </p:nvSpPr>
        <p:spPr>
          <a:xfrm>
            <a:off x="365760" y="1188720"/>
            <a:ext cx="2377440" cy="274320"/>
          </a:xfrm>
          <a:prstGeom prst="rect">
            <a:avLst/>
          </a:prstGeom>
          <a:noFill/>
          <a:ln/>
        </p:spPr>
        <p:txBody>
          <a:bodyPr wrap="square" lIns="0" tIns="0" rIns="0" bIns="0" rtlCol="0" anchor="t"/>
          <a:lstStyle/>
          <a:p>
            <a:pPr indent="0" marL="0">
              <a:buNone/>
            </a:pPr>
            <a:r>
              <a:rPr lang="en-US" sz="1300" b="1" spc="200" kern="0" dirty="0">
                <a:solidFill>
                  <a:srgbClr val="00897B"/>
                </a:solidFill>
                <a:latin typeface="Calibri" pitchFamily="34" charset="0"/>
                <a:ea typeface="Calibri" pitchFamily="34" charset="-122"/>
                <a:cs typeface="Calibri" pitchFamily="34" charset="-120"/>
              </a:rPr>
              <a:t>WORKSHEET</a:t>
            </a:r>
            <a:endParaRPr lang="en-US" sz="1300" dirty="0"/>
          </a:p>
        </p:txBody>
      </p:sp>
      <p:sp>
        <p:nvSpPr>
          <p:cNvPr id="17" name="Text 15"/>
          <p:cNvSpPr txBox="1"/>
          <p:nvPr/>
        </p:nvSpPr>
        <p:spPr>
          <a:xfrm>
            <a:off x="365760" y="1463040"/>
            <a:ext cx="237744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Page 7 of 7</a:t>
            </a:r>
            <a:endParaRPr lang="en-US" sz="2600" dirty="0"/>
          </a:p>
        </p:txBody>
      </p:sp>
      <p:sp>
        <p:nvSpPr>
          <p:cNvPr id="18" name="Shape 16"/>
          <p:cNvSpPr/>
          <p:nvPr/>
        </p:nvSpPr>
        <p:spPr>
          <a:xfrm>
            <a:off x="3033938" y="832104"/>
            <a:ext cx="3076125" cy="395935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9" name="Image 0" descr="out/ws/page-7.png">    </p:cNvPr>
          <p:cNvPicPr>
            <a:picLocks noChangeAspect="1"/>
          </p:cNvPicPr>
          <p:nvPr/>
        </p:nvPicPr>
        <p:blipFill>
          <a:blip r:embed="rId1"/>
          <a:stretch>
            <a:fillRect/>
          </a:stretch>
        </p:blipFill>
        <p:spPr>
          <a:xfrm>
            <a:off x="3070514" y="868680"/>
            <a:ext cx="3002973" cy="3886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VOCABULARY</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Key vocabulary</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A — Vocabulary</a:t>
            </a:r>
            <a:endParaRPr lang="en-US" sz="950" dirty="0"/>
          </a:p>
        </p:txBody>
      </p:sp>
      <p:sp>
        <p:nvSpPr>
          <p:cNvPr id="17" name="Shape 15"/>
          <p:cNvSpPr/>
          <p:nvPr/>
        </p:nvSpPr>
        <p:spPr>
          <a:xfrm>
            <a:off x="365760" y="1371600"/>
            <a:ext cx="1609344" cy="1627632"/>
          </a:xfrm>
          <a:prstGeom prst="roundRect">
            <a:avLst>
              <a:gd name="adj" fmla="val 4545"/>
            </a:avLst>
          </a:prstGeom>
          <a:solidFill>
            <a:srgbClr val="E3F0FB"/>
          </a:solidFill>
          <a:ln w="15875">
            <a:solidFill>
              <a:srgbClr val="90B4D8"/>
            </a:solidFill>
            <a:prstDash val="solid"/>
          </a:ln>
        </p:spPr>
      </p:sp>
      <p:sp>
        <p:nvSpPr>
          <p:cNvPr id="18" name="Text 16"/>
          <p:cNvSpPr txBox="1"/>
          <p:nvPr/>
        </p:nvSpPr>
        <p:spPr>
          <a:xfrm>
            <a:off x="457200" y="1463040"/>
            <a:ext cx="1426464" cy="365760"/>
          </a:xfrm>
          <a:prstGeom prst="rect">
            <a:avLst/>
          </a:prstGeom>
          <a:noFill/>
          <a:ln/>
        </p:spPr>
        <p:txBody>
          <a:bodyPr wrap="square" lIns="0" tIns="0" rIns="0" bIns="0" rtlCol="0" anchor="t"/>
          <a:lstStyle/>
          <a:p>
            <a:pPr indent="0" marL="0">
              <a:buNone/>
            </a:pPr>
            <a:r>
              <a:rPr lang="en-US" sz="1800" b="1" dirty="0">
                <a:solidFill>
                  <a:srgbClr val="1565C0"/>
                </a:solidFill>
                <a:latin typeface="Calibri" pitchFamily="34" charset="0"/>
                <a:ea typeface="Calibri" pitchFamily="34" charset="-122"/>
                <a:cs typeface="Calibri" pitchFamily="34" charset="-120"/>
              </a:rPr>
              <a:t>fiction</a:t>
            </a:r>
            <a:endParaRPr lang="en-US" sz="1800" dirty="0"/>
          </a:p>
        </p:txBody>
      </p:sp>
      <p:sp>
        <p:nvSpPr>
          <p:cNvPr id="19" name="Text 17"/>
          <p:cNvSpPr txBox="1"/>
          <p:nvPr/>
        </p:nvSpPr>
        <p:spPr>
          <a:xfrm>
            <a:off x="457200" y="1874520"/>
            <a:ext cx="1426464"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writing about invented people and events</a:t>
            </a:r>
            <a:endParaRPr lang="en-US" sz="1400" dirty="0"/>
          </a:p>
        </p:txBody>
      </p:sp>
      <p:sp>
        <p:nvSpPr>
          <p:cNvPr id="20" name="Shape 18"/>
          <p:cNvSpPr/>
          <p:nvPr/>
        </p:nvSpPr>
        <p:spPr>
          <a:xfrm>
            <a:off x="2066544" y="1371600"/>
            <a:ext cx="1609344" cy="1627632"/>
          </a:xfrm>
          <a:prstGeom prst="roundRect">
            <a:avLst>
              <a:gd name="adj" fmla="val 4545"/>
            </a:avLst>
          </a:prstGeom>
          <a:solidFill>
            <a:srgbClr val="E3F0FB"/>
          </a:solidFill>
          <a:ln w="15875">
            <a:solidFill>
              <a:srgbClr val="90B4D8"/>
            </a:solidFill>
            <a:prstDash val="solid"/>
          </a:ln>
        </p:spPr>
      </p:sp>
      <p:sp>
        <p:nvSpPr>
          <p:cNvPr id="21" name="Text 19"/>
          <p:cNvSpPr txBox="1"/>
          <p:nvPr/>
        </p:nvSpPr>
        <p:spPr>
          <a:xfrm>
            <a:off x="2157984" y="1463040"/>
            <a:ext cx="1426464" cy="365760"/>
          </a:xfrm>
          <a:prstGeom prst="rect">
            <a:avLst/>
          </a:prstGeom>
          <a:noFill/>
          <a:ln/>
        </p:spPr>
        <p:txBody>
          <a:bodyPr wrap="square" lIns="0" tIns="0" rIns="0" bIns="0" rtlCol="0" anchor="t"/>
          <a:lstStyle/>
          <a:p>
            <a:pPr indent="0" marL="0">
              <a:buNone/>
            </a:pPr>
            <a:r>
              <a:rPr lang="en-US" sz="1800" b="1" dirty="0">
                <a:solidFill>
                  <a:srgbClr val="1565C0"/>
                </a:solidFill>
                <a:latin typeface="Calibri" pitchFamily="34" charset="0"/>
                <a:ea typeface="Calibri" pitchFamily="34" charset="-122"/>
                <a:cs typeface="Calibri" pitchFamily="34" charset="-120"/>
              </a:rPr>
              <a:t>character</a:t>
            </a:r>
            <a:endParaRPr lang="en-US" sz="1800" dirty="0"/>
          </a:p>
        </p:txBody>
      </p:sp>
      <p:sp>
        <p:nvSpPr>
          <p:cNvPr id="22" name="Text 20"/>
          <p:cNvSpPr txBox="1"/>
          <p:nvPr/>
        </p:nvSpPr>
        <p:spPr>
          <a:xfrm>
            <a:off x="2157984" y="1874520"/>
            <a:ext cx="1426464"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person in a story</a:t>
            </a:r>
            <a:endParaRPr lang="en-US" sz="1400" dirty="0"/>
          </a:p>
        </p:txBody>
      </p:sp>
      <p:sp>
        <p:nvSpPr>
          <p:cNvPr id="23" name="Shape 21"/>
          <p:cNvSpPr/>
          <p:nvPr/>
        </p:nvSpPr>
        <p:spPr>
          <a:xfrm>
            <a:off x="3767328" y="1371600"/>
            <a:ext cx="1609344" cy="1627632"/>
          </a:xfrm>
          <a:prstGeom prst="roundRect">
            <a:avLst>
              <a:gd name="adj" fmla="val 4545"/>
            </a:avLst>
          </a:prstGeom>
          <a:solidFill>
            <a:srgbClr val="E3F0FB"/>
          </a:solidFill>
          <a:ln w="15875">
            <a:solidFill>
              <a:srgbClr val="90B4D8"/>
            </a:solidFill>
            <a:prstDash val="solid"/>
          </a:ln>
        </p:spPr>
      </p:sp>
      <p:sp>
        <p:nvSpPr>
          <p:cNvPr id="24" name="Text 22"/>
          <p:cNvSpPr txBox="1"/>
          <p:nvPr/>
        </p:nvSpPr>
        <p:spPr>
          <a:xfrm>
            <a:off x="3858768" y="1463040"/>
            <a:ext cx="1426464" cy="365760"/>
          </a:xfrm>
          <a:prstGeom prst="rect">
            <a:avLst/>
          </a:prstGeom>
          <a:noFill/>
          <a:ln/>
        </p:spPr>
        <p:txBody>
          <a:bodyPr wrap="square" lIns="0" tIns="0" rIns="0" bIns="0" rtlCol="0" anchor="t"/>
          <a:lstStyle/>
          <a:p>
            <a:pPr indent="0" marL="0">
              <a:buNone/>
            </a:pPr>
            <a:r>
              <a:rPr lang="en-US" sz="1800" b="1" dirty="0">
                <a:solidFill>
                  <a:srgbClr val="1565C0"/>
                </a:solidFill>
                <a:latin typeface="Calibri" pitchFamily="34" charset="0"/>
                <a:ea typeface="Calibri" pitchFamily="34" charset="-122"/>
                <a:cs typeface="Calibri" pitchFamily="34" charset="-120"/>
              </a:rPr>
              <a:t>setting</a:t>
            </a:r>
            <a:endParaRPr lang="en-US" sz="1800" dirty="0"/>
          </a:p>
        </p:txBody>
      </p:sp>
      <p:sp>
        <p:nvSpPr>
          <p:cNvPr id="25" name="Text 23"/>
          <p:cNvSpPr txBox="1"/>
          <p:nvPr/>
        </p:nvSpPr>
        <p:spPr>
          <a:xfrm>
            <a:off x="3858768" y="1874520"/>
            <a:ext cx="1426464"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where and when a story happens</a:t>
            </a:r>
            <a:endParaRPr lang="en-US" sz="1400" dirty="0"/>
          </a:p>
        </p:txBody>
      </p:sp>
      <p:sp>
        <p:nvSpPr>
          <p:cNvPr id="26" name="Shape 24"/>
          <p:cNvSpPr/>
          <p:nvPr/>
        </p:nvSpPr>
        <p:spPr>
          <a:xfrm>
            <a:off x="5468112" y="1371600"/>
            <a:ext cx="1609344" cy="1627632"/>
          </a:xfrm>
          <a:prstGeom prst="roundRect">
            <a:avLst>
              <a:gd name="adj" fmla="val 4545"/>
            </a:avLst>
          </a:prstGeom>
          <a:solidFill>
            <a:srgbClr val="E3F0FB"/>
          </a:solidFill>
          <a:ln w="15875">
            <a:solidFill>
              <a:srgbClr val="90B4D8"/>
            </a:solidFill>
            <a:prstDash val="solid"/>
          </a:ln>
        </p:spPr>
      </p:sp>
      <p:sp>
        <p:nvSpPr>
          <p:cNvPr id="27" name="Text 25"/>
          <p:cNvSpPr txBox="1"/>
          <p:nvPr/>
        </p:nvSpPr>
        <p:spPr>
          <a:xfrm>
            <a:off x="5559552" y="1463040"/>
            <a:ext cx="1426464" cy="365760"/>
          </a:xfrm>
          <a:prstGeom prst="rect">
            <a:avLst/>
          </a:prstGeom>
          <a:noFill/>
          <a:ln/>
        </p:spPr>
        <p:txBody>
          <a:bodyPr wrap="square" lIns="0" tIns="0" rIns="0" bIns="0" rtlCol="0" anchor="t"/>
          <a:lstStyle/>
          <a:p>
            <a:pPr indent="0" marL="0">
              <a:buNone/>
            </a:pPr>
            <a:r>
              <a:rPr lang="en-US" sz="1800" b="1" dirty="0">
                <a:solidFill>
                  <a:srgbClr val="1565C0"/>
                </a:solidFill>
                <a:latin typeface="Calibri" pitchFamily="34" charset="0"/>
                <a:ea typeface="Calibri" pitchFamily="34" charset="-122"/>
                <a:cs typeface="Calibri" pitchFamily="34" charset="-120"/>
              </a:rPr>
              <a:t>plot</a:t>
            </a:r>
            <a:endParaRPr lang="en-US" sz="1800" dirty="0"/>
          </a:p>
        </p:txBody>
      </p:sp>
      <p:sp>
        <p:nvSpPr>
          <p:cNvPr id="28" name="Text 26"/>
          <p:cNvSpPr txBox="1"/>
          <p:nvPr/>
        </p:nvSpPr>
        <p:spPr>
          <a:xfrm>
            <a:off x="5559552" y="1874520"/>
            <a:ext cx="1426464"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events of a story, in order</a:t>
            </a:r>
            <a:endParaRPr lang="en-US" sz="1400" dirty="0"/>
          </a:p>
        </p:txBody>
      </p:sp>
      <p:sp>
        <p:nvSpPr>
          <p:cNvPr id="29" name="Shape 27"/>
          <p:cNvSpPr/>
          <p:nvPr/>
        </p:nvSpPr>
        <p:spPr>
          <a:xfrm>
            <a:off x="7168896" y="1371600"/>
            <a:ext cx="1609344" cy="1627632"/>
          </a:xfrm>
          <a:prstGeom prst="roundRect">
            <a:avLst>
              <a:gd name="adj" fmla="val 4545"/>
            </a:avLst>
          </a:prstGeom>
          <a:solidFill>
            <a:srgbClr val="E3F0FB"/>
          </a:solidFill>
          <a:ln w="15875">
            <a:solidFill>
              <a:srgbClr val="90B4D8"/>
            </a:solidFill>
            <a:prstDash val="solid"/>
          </a:ln>
        </p:spPr>
      </p:sp>
      <p:sp>
        <p:nvSpPr>
          <p:cNvPr id="30" name="Text 28"/>
          <p:cNvSpPr txBox="1"/>
          <p:nvPr/>
        </p:nvSpPr>
        <p:spPr>
          <a:xfrm>
            <a:off x="7260336" y="1463040"/>
            <a:ext cx="1426464" cy="365760"/>
          </a:xfrm>
          <a:prstGeom prst="rect">
            <a:avLst/>
          </a:prstGeom>
          <a:noFill/>
          <a:ln/>
        </p:spPr>
        <p:txBody>
          <a:bodyPr wrap="square" lIns="0" tIns="0" rIns="0" bIns="0" rtlCol="0" anchor="t"/>
          <a:lstStyle/>
          <a:p>
            <a:pPr indent="0" marL="0">
              <a:buNone/>
            </a:pPr>
            <a:r>
              <a:rPr lang="en-US" sz="1800" b="1" dirty="0">
                <a:solidFill>
                  <a:srgbClr val="1565C0"/>
                </a:solidFill>
                <a:latin typeface="Calibri" pitchFamily="34" charset="0"/>
                <a:ea typeface="Calibri" pitchFamily="34" charset="-122"/>
                <a:cs typeface="Calibri" pitchFamily="34" charset="-120"/>
              </a:rPr>
              <a:t>literal</a:t>
            </a:r>
            <a:endParaRPr lang="en-US" sz="1800" dirty="0"/>
          </a:p>
        </p:txBody>
      </p:sp>
      <p:sp>
        <p:nvSpPr>
          <p:cNvPr id="31" name="Text 29"/>
          <p:cNvSpPr txBox="1"/>
          <p:nvPr/>
        </p:nvSpPr>
        <p:spPr>
          <a:xfrm>
            <a:off x="7260336" y="1874520"/>
            <a:ext cx="1426464"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direct meaning; what the words actually say</a:t>
            </a:r>
            <a:endParaRPr lang="en-US" sz="1400" dirty="0"/>
          </a:p>
        </p:txBody>
      </p:sp>
      <p:sp>
        <p:nvSpPr>
          <p:cNvPr id="32" name="Shape 30"/>
          <p:cNvSpPr/>
          <p:nvPr/>
        </p:nvSpPr>
        <p:spPr>
          <a:xfrm>
            <a:off x="365760" y="3108960"/>
            <a:ext cx="1609344" cy="1627632"/>
          </a:xfrm>
          <a:prstGeom prst="roundRect">
            <a:avLst>
              <a:gd name="adj" fmla="val 4545"/>
            </a:avLst>
          </a:prstGeom>
          <a:solidFill>
            <a:srgbClr val="D7ECEA"/>
          </a:solidFill>
          <a:ln w="15875">
            <a:solidFill>
              <a:srgbClr val="7FC4BB"/>
            </a:solidFill>
            <a:prstDash val="solid"/>
          </a:ln>
        </p:spPr>
      </p:sp>
      <p:sp>
        <p:nvSpPr>
          <p:cNvPr id="33" name="Text 31"/>
          <p:cNvSpPr txBox="1"/>
          <p:nvPr/>
        </p:nvSpPr>
        <p:spPr>
          <a:xfrm>
            <a:off x="457200" y="3200400"/>
            <a:ext cx="1426464" cy="365760"/>
          </a:xfrm>
          <a:prstGeom prst="rect">
            <a:avLst/>
          </a:prstGeom>
          <a:noFill/>
          <a:ln/>
        </p:spPr>
        <p:txBody>
          <a:bodyPr wrap="square" lIns="0" tIns="0" rIns="0" bIns="0" rtlCol="0" anchor="t"/>
          <a:lstStyle/>
          <a:p>
            <a:pPr indent="0" marL="0">
              <a:buNone/>
            </a:pPr>
            <a:r>
              <a:rPr lang="en-US" sz="1800" b="1" dirty="0">
                <a:solidFill>
                  <a:srgbClr val="00897B"/>
                </a:solidFill>
                <a:latin typeface="Calibri" pitchFamily="34" charset="0"/>
                <a:ea typeface="Calibri" pitchFamily="34" charset="-122"/>
                <a:cs typeface="Calibri" pitchFamily="34" charset="-120"/>
              </a:rPr>
              <a:t>inference</a:t>
            </a:r>
            <a:endParaRPr lang="en-US" sz="1800" dirty="0"/>
          </a:p>
        </p:txBody>
      </p:sp>
      <p:sp>
        <p:nvSpPr>
          <p:cNvPr id="34" name="Text 32"/>
          <p:cNvSpPr txBox="1"/>
          <p:nvPr/>
        </p:nvSpPr>
        <p:spPr>
          <a:xfrm>
            <a:off x="457200" y="3611880"/>
            <a:ext cx="1426464"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something the text suggests but does not say directly</a:t>
            </a:r>
            <a:endParaRPr lang="en-US" sz="1400" dirty="0"/>
          </a:p>
        </p:txBody>
      </p:sp>
      <p:sp>
        <p:nvSpPr>
          <p:cNvPr id="35" name="Shape 33"/>
          <p:cNvSpPr/>
          <p:nvPr/>
        </p:nvSpPr>
        <p:spPr>
          <a:xfrm>
            <a:off x="2066544" y="3108960"/>
            <a:ext cx="1609344" cy="1627632"/>
          </a:xfrm>
          <a:prstGeom prst="roundRect">
            <a:avLst>
              <a:gd name="adj" fmla="val 4545"/>
            </a:avLst>
          </a:prstGeom>
          <a:solidFill>
            <a:srgbClr val="D7ECEA"/>
          </a:solidFill>
          <a:ln w="15875">
            <a:solidFill>
              <a:srgbClr val="7FC4BB"/>
            </a:solidFill>
            <a:prstDash val="solid"/>
          </a:ln>
        </p:spPr>
      </p:sp>
      <p:sp>
        <p:nvSpPr>
          <p:cNvPr id="36" name="Text 34"/>
          <p:cNvSpPr txBox="1"/>
          <p:nvPr/>
        </p:nvSpPr>
        <p:spPr>
          <a:xfrm>
            <a:off x="2157984" y="3200400"/>
            <a:ext cx="1426464" cy="365760"/>
          </a:xfrm>
          <a:prstGeom prst="rect">
            <a:avLst/>
          </a:prstGeom>
          <a:noFill/>
          <a:ln/>
        </p:spPr>
        <p:txBody>
          <a:bodyPr wrap="square" lIns="0" tIns="0" rIns="0" bIns="0" rtlCol="0" anchor="t"/>
          <a:lstStyle/>
          <a:p>
            <a:pPr indent="0" marL="0">
              <a:buNone/>
            </a:pPr>
            <a:r>
              <a:rPr lang="en-US" sz="1800" b="1" dirty="0">
                <a:solidFill>
                  <a:srgbClr val="00897B"/>
                </a:solidFill>
                <a:latin typeface="Calibri" pitchFamily="34" charset="0"/>
                <a:ea typeface="Calibri" pitchFamily="34" charset="-122"/>
                <a:cs typeface="Calibri" pitchFamily="34" charset="-120"/>
              </a:rPr>
              <a:t>evidence</a:t>
            </a:r>
            <a:endParaRPr lang="en-US" sz="1800" dirty="0"/>
          </a:p>
        </p:txBody>
      </p:sp>
      <p:sp>
        <p:nvSpPr>
          <p:cNvPr id="37" name="Text 35"/>
          <p:cNvSpPr txBox="1"/>
          <p:nvPr/>
        </p:nvSpPr>
        <p:spPr>
          <a:xfrm>
            <a:off x="2157984" y="3611880"/>
            <a:ext cx="1426464"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words in the text that support your answer</a:t>
            </a:r>
            <a:endParaRPr lang="en-US" sz="1400" dirty="0"/>
          </a:p>
        </p:txBody>
      </p:sp>
      <p:sp>
        <p:nvSpPr>
          <p:cNvPr id="38" name="Shape 36"/>
          <p:cNvSpPr/>
          <p:nvPr/>
        </p:nvSpPr>
        <p:spPr>
          <a:xfrm>
            <a:off x="3767328" y="3108960"/>
            <a:ext cx="1609344" cy="1627632"/>
          </a:xfrm>
          <a:prstGeom prst="roundRect">
            <a:avLst>
              <a:gd name="adj" fmla="val 4545"/>
            </a:avLst>
          </a:prstGeom>
          <a:solidFill>
            <a:srgbClr val="D7ECEA"/>
          </a:solidFill>
          <a:ln w="15875">
            <a:solidFill>
              <a:srgbClr val="7FC4BB"/>
            </a:solidFill>
            <a:prstDash val="solid"/>
          </a:ln>
        </p:spPr>
      </p:sp>
      <p:sp>
        <p:nvSpPr>
          <p:cNvPr id="39" name="Text 37"/>
          <p:cNvSpPr txBox="1"/>
          <p:nvPr/>
        </p:nvSpPr>
        <p:spPr>
          <a:xfrm>
            <a:off x="3858768" y="3200400"/>
            <a:ext cx="1426464" cy="365760"/>
          </a:xfrm>
          <a:prstGeom prst="rect">
            <a:avLst/>
          </a:prstGeom>
          <a:noFill/>
          <a:ln/>
        </p:spPr>
        <p:txBody>
          <a:bodyPr wrap="square" lIns="0" tIns="0" rIns="0" bIns="0" rtlCol="0" anchor="t"/>
          <a:lstStyle/>
          <a:p>
            <a:pPr indent="0" marL="0">
              <a:buNone/>
            </a:pPr>
            <a:r>
              <a:rPr lang="en-US" sz="1800" b="1" dirty="0">
                <a:solidFill>
                  <a:srgbClr val="00897B"/>
                </a:solidFill>
                <a:latin typeface="Calibri" pitchFamily="34" charset="0"/>
                <a:ea typeface="Calibri" pitchFamily="34" charset="-122"/>
                <a:cs typeface="Calibri" pitchFamily="34" charset="-120"/>
              </a:rPr>
              <a:t>strategy</a:t>
            </a:r>
            <a:endParaRPr lang="en-US" sz="1800" dirty="0"/>
          </a:p>
        </p:txBody>
      </p:sp>
      <p:sp>
        <p:nvSpPr>
          <p:cNvPr id="40" name="Text 38"/>
          <p:cNvSpPr txBox="1"/>
          <p:nvPr/>
        </p:nvSpPr>
        <p:spPr>
          <a:xfrm>
            <a:off x="3858768" y="3611880"/>
            <a:ext cx="1426464"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method you use on purpose to understand something</a:t>
            </a:r>
            <a:endParaRPr lang="en-US" sz="1400" dirty="0"/>
          </a:p>
        </p:txBody>
      </p:sp>
      <p:sp>
        <p:nvSpPr>
          <p:cNvPr id="41" name="Shape 39"/>
          <p:cNvSpPr/>
          <p:nvPr/>
        </p:nvSpPr>
        <p:spPr>
          <a:xfrm>
            <a:off x="5468112" y="3108960"/>
            <a:ext cx="1609344" cy="1627632"/>
          </a:xfrm>
          <a:prstGeom prst="roundRect">
            <a:avLst>
              <a:gd name="adj" fmla="val 4545"/>
            </a:avLst>
          </a:prstGeom>
          <a:solidFill>
            <a:srgbClr val="D7ECEA"/>
          </a:solidFill>
          <a:ln w="15875">
            <a:solidFill>
              <a:srgbClr val="7FC4BB"/>
            </a:solidFill>
            <a:prstDash val="solid"/>
          </a:ln>
        </p:spPr>
      </p:sp>
      <p:sp>
        <p:nvSpPr>
          <p:cNvPr id="42" name="Text 40"/>
          <p:cNvSpPr txBox="1"/>
          <p:nvPr/>
        </p:nvSpPr>
        <p:spPr>
          <a:xfrm>
            <a:off x="5559552" y="3200400"/>
            <a:ext cx="1426464" cy="365760"/>
          </a:xfrm>
          <a:prstGeom prst="rect">
            <a:avLst/>
          </a:prstGeom>
          <a:noFill/>
          <a:ln/>
        </p:spPr>
        <p:txBody>
          <a:bodyPr wrap="square" lIns="0" tIns="0" rIns="0" bIns="0" rtlCol="0" anchor="t"/>
          <a:lstStyle/>
          <a:p>
            <a:pPr indent="0" marL="0">
              <a:buNone/>
            </a:pPr>
            <a:r>
              <a:rPr lang="en-US" sz="1800" b="1" dirty="0">
                <a:solidFill>
                  <a:srgbClr val="00897B"/>
                </a:solidFill>
                <a:latin typeface="Calibri" pitchFamily="34" charset="0"/>
                <a:ea typeface="Calibri" pitchFamily="34" charset="-122"/>
                <a:cs typeface="Calibri" pitchFamily="34" charset="-120"/>
              </a:rPr>
              <a:t>context</a:t>
            </a:r>
            <a:endParaRPr lang="en-US" sz="1800" dirty="0"/>
          </a:p>
        </p:txBody>
      </p:sp>
      <p:sp>
        <p:nvSpPr>
          <p:cNvPr id="43" name="Text 41"/>
          <p:cNvSpPr txBox="1"/>
          <p:nvPr/>
        </p:nvSpPr>
        <p:spPr>
          <a:xfrm>
            <a:off x="5559552" y="3611880"/>
            <a:ext cx="1426464"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words around a word, which help you guess it</a:t>
            </a:r>
            <a:endParaRPr lang="en-US" sz="1400" dirty="0"/>
          </a:p>
        </p:txBody>
      </p:sp>
      <p:sp>
        <p:nvSpPr>
          <p:cNvPr id="44" name="Shape 42"/>
          <p:cNvSpPr/>
          <p:nvPr/>
        </p:nvSpPr>
        <p:spPr>
          <a:xfrm>
            <a:off x="7168896" y="3108960"/>
            <a:ext cx="1609344" cy="1627632"/>
          </a:xfrm>
          <a:prstGeom prst="roundRect">
            <a:avLst>
              <a:gd name="adj" fmla="val 4545"/>
            </a:avLst>
          </a:prstGeom>
          <a:solidFill>
            <a:srgbClr val="D7ECEA"/>
          </a:solidFill>
          <a:ln w="15875">
            <a:solidFill>
              <a:srgbClr val="7FC4BB"/>
            </a:solidFill>
            <a:prstDash val="solid"/>
          </a:ln>
        </p:spPr>
      </p:sp>
      <p:sp>
        <p:nvSpPr>
          <p:cNvPr id="45" name="Text 43"/>
          <p:cNvSpPr txBox="1"/>
          <p:nvPr/>
        </p:nvSpPr>
        <p:spPr>
          <a:xfrm>
            <a:off x="7260336" y="3200400"/>
            <a:ext cx="1426464" cy="365760"/>
          </a:xfrm>
          <a:prstGeom prst="rect">
            <a:avLst/>
          </a:prstGeom>
          <a:noFill/>
          <a:ln/>
        </p:spPr>
        <p:txBody>
          <a:bodyPr wrap="square" lIns="0" tIns="0" rIns="0" bIns="0" rtlCol="0" anchor="t"/>
          <a:lstStyle/>
          <a:p>
            <a:pPr indent="0" marL="0">
              <a:buNone/>
            </a:pPr>
            <a:r>
              <a:rPr lang="en-US" sz="1800" b="1" dirty="0">
                <a:solidFill>
                  <a:srgbClr val="00897B"/>
                </a:solidFill>
                <a:latin typeface="Calibri" pitchFamily="34" charset="0"/>
                <a:ea typeface="Calibri" pitchFamily="34" charset="-122"/>
                <a:cs typeface="Calibri" pitchFamily="34" charset="-120"/>
              </a:rPr>
              <a:t>passage</a:t>
            </a:r>
            <a:endParaRPr lang="en-US" sz="1800" dirty="0"/>
          </a:p>
        </p:txBody>
      </p:sp>
      <p:sp>
        <p:nvSpPr>
          <p:cNvPr id="46" name="Text 44"/>
          <p:cNvSpPr txBox="1"/>
          <p:nvPr/>
        </p:nvSpPr>
        <p:spPr>
          <a:xfrm>
            <a:off x="7260336" y="3611880"/>
            <a:ext cx="1426464" cy="10515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 short section of a longer text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WORKSHEET WALKTHROUGH</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A — Vocabulary</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A answers</a:t>
            </a:r>
            <a:endParaRPr lang="en-US" sz="950" dirty="0"/>
          </a:p>
        </p:txBody>
      </p:sp>
      <p:sp>
        <p:nvSpPr>
          <p:cNvPr id="17" name="Shape 15"/>
          <p:cNvSpPr/>
          <p:nvPr/>
        </p:nvSpPr>
        <p:spPr>
          <a:xfrm>
            <a:off x="786317" y="1380744"/>
            <a:ext cx="4873886" cy="336499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A-c1.png">    </p:cNvPr>
          <p:cNvPicPr>
            <a:picLocks noChangeAspect="1"/>
          </p:cNvPicPr>
          <p:nvPr/>
        </p:nvPicPr>
        <p:blipFill>
          <a:blip r:embed="rId1"/>
          <a:stretch>
            <a:fillRect/>
          </a:stretch>
        </p:blipFill>
        <p:spPr>
          <a:xfrm>
            <a:off x="822893" y="1417320"/>
            <a:ext cx="4800734" cy="3291840"/>
          </a:xfrm>
          <a:prstGeom prst="rect">
            <a:avLst/>
          </a:prstGeom>
        </p:spPr>
      </p:pic>
      <p:sp>
        <p:nvSpPr>
          <p:cNvPr id="19" name="Shape 16"/>
          <p:cNvSpPr/>
          <p:nvPr/>
        </p:nvSpPr>
        <p:spPr>
          <a:xfrm>
            <a:off x="6263640" y="1417320"/>
            <a:ext cx="2514600" cy="3291840"/>
          </a:xfrm>
          <a:prstGeom prst="roundRect">
            <a:avLst>
              <a:gd name="adj" fmla="val 2909"/>
            </a:avLst>
          </a:prstGeom>
          <a:solidFill>
            <a:srgbClr val="D7ECEA"/>
          </a:solidFill>
          <a:ln w="15875">
            <a:solidFill>
              <a:srgbClr val="7FC4BB"/>
            </a:solidFill>
            <a:prstDash val="solid"/>
          </a:ln>
        </p:spPr>
      </p:sp>
      <p:sp>
        <p:nvSpPr>
          <p:cNvPr id="20" name="Text 17"/>
          <p:cNvSpPr txBox="1"/>
          <p:nvPr/>
        </p:nvSpPr>
        <p:spPr>
          <a:xfrm>
            <a:off x="6400800" y="1554480"/>
            <a:ext cx="2286000" cy="274320"/>
          </a:xfrm>
          <a:prstGeom prst="rect">
            <a:avLst/>
          </a:prstGeom>
          <a:noFill/>
          <a:ln/>
        </p:spPr>
        <p:txBody>
          <a:bodyPr wrap="square" lIns="0" tIns="0" rIns="0" bIns="0" rtlCol="0" anchor="t"/>
          <a:lstStyle/>
          <a:p>
            <a:pPr indent="0" marL="0">
              <a:buNone/>
            </a:pPr>
            <a:r>
              <a:rPr lang="en-US" sz="1100" b="1" spc="200" kern="0" dirty="0">
                <a:solidFill>
                  <a:srgbClr val="00897B"/>
                </a:solidFill>
                <a:latin typeface="Calibri" pitchFamily="34" charset="0"/>
                <a:ea typeface="Calibri" pitchFamily="34" charset="-122"/>
                <a:cs typeface="Calibri" pitchFamily="34" charset="-120"/>
              </a:rPr>
              <a:t>HOW TO COMPLETE IT</a:t>
            </a:r>
            <a:endParaRPr lang="en-US" sz="1100" dirty="0"/>
          </a:p>
        </p:txBody>
      </p:sp>
      <p:sp>
        <p:nvSpPr>
          <p:cNvPr id="21" name="Text 18"/>
          <p:cNvSpPr txBox="1"/>
          <p:nvPr/>
        </p:nvSpPr>
        <p:spPr>
          <a:xfrm>
            <a:off x="6400800" y="1874520"/>
            <a:ext cx="2286000" cy="27432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Read each sentence. Choose the word from the bank that completes it. Cross the word out when you use it. Two words are extra — you will not use them.</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1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A answers — Vocabulary</a:t>
            </a:r>
            <a:endParaRPr lang="en-US" sz="2600" dirty="0"/>
          </a:p>
        </p:txBody>
      </p:sp>
      <p:sp>
        <p:nvSpPr>
          <p:cNvPr id="16" name="Shape 14"/>
          <p:cNvSpPr/>
          <p:nvPr/>
        </p:nvSpPr>
        <p:spPr>
          <a:xfrm>
            <a:off x="2055045" y="1335024"/>
            <a:ext cx="5033911"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A-r1.png">    </p:cNvPr>
          <p:cNvPicPr>
            <a:picLocks noChangeAspect="1"/>
          </p:cNvPicPr>
          <p:nvPr/>
        </p:nvPicPr>
        <p:blipFill>
          <a:blip r:embed="rId1"/>
          <a:stretch>
            <a:fillRect/>
          </a:stretch>
        </p:blipFill>
        <p:spPr>
          <a:xfrm>
            <a:off x="2091621" y="1371600"/>
            <a:ext cx="4960759" cy="340156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2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A answers — Vocabulary</a:t>
            </a:r>
            <a:endParaRPr lang="en-US" sz="2600" dirty="0"/>
          </a:p>
        </p:txBody>
      </p:sp>
      <p:sp>
        <p:nvSpPr>
          <p:cNvPr id="16" name="Shape 14"/>
          <p:cNvSpPr/>
          <p:nvPr/>
        </p:nvSpPr>
        <p:spPr>
          <a:xfrm>
            <a:off x="2055045" y="1335024"/>
            <a:ext cx="5033911"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A-r2.png">    </p:cNvPr>
          <p:cNvPicPr>
            <a:picLocks noChangeAspect="1"/>
          </p:cNvPicPr>
          <p:nvPr/>
        </p:nvPicPr>
        <p:blipFill>
          <a:blip r:embed="rId1"/>
          <a:stretch>
            <a:fillRect/>
          </a:stretch>
        </p:blipFill>
        <p:spPr>
          <a:xfrm>
            <a:off x="2091621" y="1371600"/>
            <a:ext cx="4960759" cy="340156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3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A answers — Vocabulary</a:t>
            </a:r>
            <a:endParaRPr lang="en-US" sz="2600" dirty="0"/>
          </a:p>
        </p:txBody>
      </p:sp>
      <p:sp>
        <p:nvSpPr>
          <p:cNvPr id="16" name="Shape 14"/>
          <p:cNvSpPr/>
          <p:nvPr/>
        </p:nvSpPr>
        <p:spPr>
          <a:xfrm>
            <a:off x="2055045" y="1335024"/>
            <a:ext cx="5033911"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A-r3.png">    </p:cNvPr>
          <p:cNvPicPr>
            <a:picLocks noChangeAspect="1"/>
          </p:cNvPicPr>
          <p:nvPr/>
        </p:nvPicPr>
        <p:blipFill>
          <a:blip r:embed="rId1"/>
          <a:stretch>
            <a:fillRect/>
          </a:stretch>
        </p:blipFill>
        <p:spPr>
          <a:xfrm>
            <a:off x="2091621" y="1371600"/>
            <a:ext cx="4960759" cy="340156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4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A answers — Vocabulary</a:t>
            </a:r>
            <a:endParaRPr lang="en-US" sz="2600" dirty="0"/>
          </a:p>
        </p:txBody>
      </p:sp>
      <p:sp>
        <p:nvSpPr>
          <p:cNvPr id="16" name="Shape 14"/>
          <p:cNvSpPr/>
          <p:nvPr/>
        </p:nvSpPr>
        <p:spPr>
          <a:xfrm>
            <a:off x="2055045" y="1335024"/>
            <a:ext cx="5033911"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A-r4.png">    </p:cNvPr>
          <p:cNvPicPr>
            <a:picLocks noChangeAspect="1"/>
          </p:cNvPicPr>
          <p:nvPr/>
        </p:nvPicPr>
        <p:blipFill>
          <a:blip r:embed="rId1"/>
          <a:stretch>
            <a:fillRect/>
          </a:stretch>
        </p:blipFill>
        <p:spPr>
          <a:xfrm>
            <a:off x="2091621" y="1371600"/>
            <a:ext cx="4960759" cy="340156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5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A answers — Vocabulary</a:t>
            </a:r>
            <a:endParaRPr lang="en-US" sz="2600" dirty="0"/>
          </a:p>
        </p:txBody>
      </p:sp>
      <p:sp>
        <p:nvSpPr>
          <p:cNvPr id="16" name="Shape 14"/>
          <p:cNvSpPr/>
          <p:nvPr/>
        </p:nvSpPr>
        <p:spPr>
          <a:xfrm>
            <a:off x="2055045" y="1335024"/>
            <a:ext cx="5033911"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A-r5.png">    </p:cNvPr>
          <p:cNvPicPr>
            <a:picLocks noChangeAspect="1"/>
          </p:cNvPicPr>
          <p:nvPr/>
        </p:nvPicPr>
        <p:blipFill>
          <a:blip r:embed="rId1"/>
          <a:stretch>
            <a:fillRect/>
          </a:stretch>
        </p:blipFill>
        <p:spPr>
          <a:xfrm>
            <a:off x="2091621" y="1371600"/>
            <a:ext cx="4960759" cy="340156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6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A answers — Vocabulary</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Two kinds of question</a:t>
            </a:r>
            <a:endParaRPr lang="en-US" sz="950" dirty="0"/>
          </a:p>
        </p:txBody>
      </p:sp>
      <p:sp>
        <p:nvSpPr>
          <p:cNvPr id="17" name="Shape 15"/>
          <p:cNvSpPr/>
          <p:nvPr/>
        </p:nvSpPr>
        <p:spPr>
          <a:xfrm>
            <a:off x="2055045" y="1335024"/>
            <a:ext cx="5033911"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A-r6.png">    </p:cNvPr>
          <p:cNvPicPr>
            <a:picLocks noChangeAspect="1"/>
          </p:cNvPicPr>
          <p:nvPr/>
        </p:nvPicPr>
        <p:blipFill>
          <a:blip r:embed="rId1"/>
          <a:stretch>
            <a:fillRect/>
          </a:stretch>
        </p:blipFill>
        <p:spPr>
          <a:xfrm>
            <a:off x="2091621" y="1371600"/>
            <a:ext cx="4960759" cy="340156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TEACHING 1 OF 2</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Two kinds of question</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B — Which kind of question?</a:t>
            </a:r>
            <a:endParaRPr lang="en-US" sz="950" dirty="0"/>
          </a:p>
        </p:txBody>
      </p:sp>
      <p:sp>
        <p:nvSpPr>
          <p:cNvPr id="17" name="Shape 15"/>
          <p:cNvSpPr/>
          <p:nvPr/>
        </p:nvSpPr>
        <p:spPr>
          <a:xfrm>
            <a:off x="365760" y="1371600"/>
            <a:ext cx="8412480" cy="758952"/>
          </a:xfrm>
          <a:prstGeom prst="roundRect">
            <a:avLst>
              <a:gd name="adj" fmla="val 9639"/>
            </a:avLst>
          </a:prstGeom>
          <a:solidFill>
            <a:srgbClr val="E3F0FB"/>
          </a:solidFill>
          <a:ln w="15875">
            <a:solidFill>
              <a:srgbClr val="90B4D8"/>
            </a:solidFill>
            <a:prstDash val="solid"/>
          </a:ln>
        </p:spPr>
      </p:sp>
      <p:sp>
        <p:nvSpPr>
          <p:cNvPr id="18" name="Text 16"/>
          <p:cNvSpPr txBox="1"/>
          <p:nvPr/>
        </p:nvSpPr>
        <p:spPr>
          <a:xfrm>
            <a:off x="548640" y="1371600"/>
            <a:ext cx="2651760" cy="758952"/>
          </a:xfrm>
          <a:prstGeom prst="rect">
            <a:avLst/>
          </a:prstGeom>
          <a:noFill/>
          <a:ln/>
        </p:spPr>
        <p:txBody>
          <a:bodyPr wrap="square" lIns="0" tIns="0" rIns="0" bIns="0" rtlCol="0" anchor="ctr"/>
          <a:lstStyle/>
          <a:p>
            <a:pPr indent="0" marL="0">
              <a:buNone/>
            </a:pPr>
            <a:r>
              <a:rPr lang="en-US" sz="1900" b="1" dirty="0">
                <a:solidFill>
                  <a:srgbClr val="1565C0"/>
                </a:solidFill>
                <a:latin typeface="Calibri" pitchFamily="34" charset="0"/>
                <a:ea typeface="Calibri" pitchFamily="34" charset="-122"/>
                <a:cs typeface="Calibri" pitchFamily="34" charset="-120"/>
              </a:rPr>
              <a:t>LITERAL</a:t>
            </a:r>
            <a:endParaRPr lang="en-US" sz="1900" dirty="0"/>
          </a:p>
        </p:txBody>
      </p:sp>
      <p:sp>
        <p:nvSpPr>
          <p:cNvPr id="19" name="Text 17"/>
          <p:cNvSpPr txBox="1"/>
          <p:nvPr/>
        </p:nvSpPr>
        <p:spPr>
          <a:xfrm>
            <a:off x="3246120" y="1371600"/>
            <a:ext cx="5394960" cy="758952"/>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You can answer it by pointing at a line. The answer is on the page.</a:t>
            </a:r>
            <a:endParaRPr lang="en-US" sz="1900" dirty="0"/>
          </a:p>
        </p:txBody>
      </p:sp>
      <p:sp>
        <p:nvSpPr>
          <p:cNvPr id="20" name="Shape 18"/>
          <p:cNvSpPr/>
          <p:nvPr/>
        </p:nvSpPr>
        <p:spPr>
          <a:xfrm>
            <a:off x="365760" y="2221992"/>
            <a:ext cx="8412480" cy="758952"/>
          </a:xfrm>
          <a:prstGeom prst="roundRect">
            <a:avLst>
              <a:gd name="adj" fmla="val 9639"/>
            </a:avLst>
          </a:prstGeom>
          <a:solidFill>
            <a:srgbClr val="D7ECEA"/>
          </a:solidFill>
          <a:ln w="15875">
            <a:solidFill>
              <a:srgbClr val="7FC4BB"/>
            </a:solidFill>
            <a:prstDash val="solid"/>
          </a:ln>
        </p:spPr>
      </p:sp>
      <p:sp>
        <p:nvSpPr>
          <p:cNvPr id="21" name="Text 19"/>
          <p:cNvSpPr txBox="1"/>
          <p:nvPr/>
        </p:nvSpPr>
        <p:spPr>
          <a:xfrm>
            <a:off x="548640" y="2221992"/>
            <a:ext cx="2651760" cy="758952"/>
          </a:xfrm>
          <a:prstGeom prst="rect">
            <a:avLst/>
          </a:prstGeom>
          <a:noFill/>
          <a:ln/>
        </p:spPr>
        <p:txBody>
          <a:bodyPr wrap="square" lIns="0" tIns="0" rIns="0" bIns="0" rtlCol="0" anchor="ctr"/>
          <a:lstStyle/>
          <a:p>
            <a:pPr indent="0" marL="0">
              <a:buNone/>
            </a:pPr>
            <a:r>
              <a:rPr lang="en-US" sz="1900" b="1" dirty="0">
                <a:solidFill>
                  <a:srgbClr val="00897B"/>
                </a:solidFill>
                <a:latin typeface="Calibri" pitchFamily="34" charset="0"/>
                <a:ea typeface="Calibri" pitchFamily="34" charset="-122"/>
                <a:cs typeface="Calibri" pitchFamily="34" charset="-120"/>
              </a:rPr>
              <a:t>INFERENCE</a:t>
            </a:r>
            <a:endParaRPr lang="en-US" sz="1900" dirty="0"/>
          </a:p>
        </p:txBody>
      </p:sp>
      <p:sp>
        <p:nvSpPr>
          <p:cNvPr id="22" name="Text 20"/>
          <p:cNvSpPr txBox="1"/>
          <p:nvPr/>
        </p:nvSpPr>
        <p:spPr>
          <a:xfrm>
            <a:off x="3246120" y="2221992"/>
            <a:ext cx="5394960" cy="758952"/>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You cannot point at it. The text suggests it, and you work it out.</a:t>
            </a:r>
            <a:endParaRPr lang="en-US" sz="1900" dirty="0"/>
          </a:p>
        </p:txBody>
      </p:sp>
      <p:sp>
        <p:nvSpPr>
          <p:cNvPr id="23" name="Shape 21"/>
          <p:cNvSpPr/>
          <p:nvPr/>
        </p:nvSpPr>
        <p:spPr>
          <a:xfrm>
            <a:off x="365760" y="3072384"/>
            <a:ext cx="8412480" cy="758952"/>
          </a:xfrm>
          <a:prstGeom prst="roundRect">
            <a:avLst>
              <a:gd name="adj" fmla="val 9639"/>
            </a:avLst>
          </a:prstGeom>
          <a:solidFill>
            <a:srgbClr val="E3F0FB"/>
          </a:solidFill>
          <a:ln w="15875">
            <a:solidFill>
              <a:srgbClr val="90B4D8"/>
            </a:solidFill>
            <a:prstDash val="solid"/>
          </a:ln>
        </p:spPr>
      </p:sp>
      <p:sp>
        <p:nvSpPr>
          <p:cNvPr id="24" name="Text 22"/>
          <p:cNvSpPr txBox="1"/>
          <p:nvPr/>
        </p:nvSpPr>
        <p:spPr>
          <a:xfrm>
            <a:off x="548640" y="3072384"/>
            <a:ext cx="2651760" cy="758952"/>
          </a:xfrm>
          <a:prstGeom prst="rect">
            <a:avLst/>
          </a:prstGeom>
          <a:noFill/>
          <a:ln/>
        </p:spPr>
        <p:txBody>
          <a:bodyPr wrap="square" lIns="0" tIns="0" rIns="0" bIns="0" rtlCol="0" anchor="ctr"/>
          <a:lstStyle/>
          <a:p>
            <a:pPr indent="0" marL="0">
              <a:buNone/>
            </a:pPr>
            <a:r>
              <a:rPr lang="en-US" sz="1900" b="1" dirty="0">
                <a:solidFill>
                  <a:srgbClr val="1565C0"/>
                </a:solidFill>
                <a:latin typeface="Calibri" pitchFamily="34" charset="0"/>
                <a:ea typeface="Calibri" pitchFamily="34" charset="-122"/>
                <a:cs typeface="Calibri" pitchFamily="34" charset="-120"/>
              </a:rPr>
              <a:t>The text says:</a:t>
            </a:r>
            <a:endParaRPr lang="en-US" sz="1900" dirty="0"/>
          </a:p>
        </p:txBody>
      </p:sp>
      <p:sp>
        <p:nvSpPr>
          <p:cNvPr id="25" name="Text 23"/>
          <p:cNvSpPr txBox="1"/>
          <p:nvPr/>
        </p:nvSpPr>
        <p:spPr>
          <a:xfrm>
            <a:off x="3246120" y="3072384"/>
            <a:ext cx="5394960" cy="758952"/>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“The boy pulls his hood up.”</a:t>
            </a:r>
            <a:endParaRPr lang="en-US" sz="1900" dirty="0"/>
          </a:p>
        </p:txBody>
      </p:sp>
      <p:sp>
        <p:nvSpPr>
          <p:cNvPr id="26" name="Shape 24"/>
          <p:cNvSpPr/>
          <p:nvPr/>
        </p:nvSpPr>
        <p:spPr>
          <a:xfrm>
            <a:off x="365760" y="3922776"/>
            <a:ext cx="8412480" cy="758952"/>
          </a:xfrm>
          <a:prstGeom prst="roundRect">
            <a:avLst>
              <a:gd name="adj" fmla="val 9639"/>
            </a:avLst>
          </a:prstGeom>
          <a:solidFill>
            <a:srgbClr val="D7ECEA"/>
          </a:solidFill>
          <a:ln w="15875">
            <a:solidFill>
              <a:srgbClr val="7FC4BB"/>
            </a:solidFill>
            <a:prstDash val="solid"/>
          </a:ln>
        </p:spPr>
      </p:sp>
      <p:sp>
        <p:nvSpPr>
          <p:cNvPr id="27" name="Text 25"/>
          <p:cNvSpPr txBox="1"/>
          <p:nvPr/>
        </p:nvSpPr>
        <p:spPr>
          <a:xfrm>
            <a:off x="548640" y="3922776"/>
            <a:ext cx="2651760" cy="758952"/>
          </a:xfrm>
          <a:prstGeom prst="rect">
            <a:avLst/>
          </a:prstGeom>
          <a:noFill/>
          <a:ln/>
        </p:spPr>
        <p:txBody>
          <a:bodyPr wrap="square" lIns="0" tIns="0" rIns="0" bIns="0" rtlCol="0" anchor="ctr"/>
          <a:lstStyle/>
          <a:p>
            <a:pPr indent="0" marL="0">
              <a:buNone/>
            </a:pPr>
            <a:r>
              <a:rPr lang="en-US" sz="1900" b="1" dirty="0">
                <a:solidFill>
                  <a:srgbClr val="00897B"/>
                </a:solidFill>
                <a:latin typeface="Calibri" pitchFamily="34" charset="0"/>
                <a:ea typeface="Calibri" pitchFamily="34" charset="-122"/>
                <a:cs typeface="Calibri" pitchFamily="34" charset="-120"/>
              </a:rPr>
              <a:t>Literal: What does he do?</a:t>
            </a:r>
            <a:endParaRPr lang="en-US" sz="1900" dirty="0"/>
          </a:p>
        </p:txBody>
      </p:sp>
      <p:sp>
        <p:nvSpPr>
          <p:cNvPr id="28" name="Text 26"/>
          <p:cNvSpPr txBox="1"/>
          <p:nvPr/>
        </p:nvSpPr>
        <p:spPr>
          <a:xfrm>
            <a:off x="3246120" y="3922776"/>
            <a:ext cx="5394960" cy="758952"/>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Inference: What is the weather like? The text never says — but you know.</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WORKSHEET WALKTHROUGH</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B — Which kind of question?</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B answers</a:t>
            </a:r>
            <a:endParaRPr lang="en-US" sz="950" dirty="0"/>
          </a:p>
        </p:txBody>
      </p:sp>
      <p:sp>
        <p:nvSpPr>
          <p:cNvPr id="17" name="Shape 15"/>
          <p:cNvSpPr/>
          <p:nvPr/>
        </p:nvSpPr>
        <p:spPr>
          <a:xfrm>
            <a:off x="374904" y="1753904"/>
            <a:ext cx="5696712" cy="261867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B-c1.png">    </p:cNvPr>
          <p:cNvPicPr>
            <a:picLocks noChangeAspect="1"/>
          </p:cNvPicPr>
          <p:nvPr/>
        </p:nvPicPr>
        <p:blipFill>
          <a:blip r:embed="rId1"/>
          <a:stretch>
            <a:fillRect/>
          </a:stretch>
        </p:blipFill>
        <p:spPr>
          <a:xfrm>
            <a:off x="411480" y="1790480"/>
            <a:ext cx="5623560" cy="2545520"/>
          </a:xfrm>
          <a:prstGeom prst="rect">
            <a:avLst/>
          </a:prstGeom>
        </p:spPr>
      </p:pic>
      <p:sp>
        <p:nvSpPr>
          <p:cNvPr id="19" name="Shape 16"/>
          <p:cNvSpPr/>
          <p:nvPr/>
        </p:nvSpPr>
        <p:spPr>
          <a:xfrm>
            <a:off x="6263640" y="1417320"/>
            <a:ext cx="2514600" cy="3291840"/>
          </a:xfrm>
          <a:prstGeom prst="roundRect">
            <a:avLst>
              <a:gd name="adj" fmla="val 2909"/>
            </a:avLst>
          </a:prstGeom>
          <a:solidFill>
            <a:srgbClr val="D7ECEA"/>
          </a:solidFill>
          <a:ln w="15875">
            <a:solidFill>
              <a:srgbClr val="7FC4BB"/>
            </a:solidFill>
            <a:prstDash val="solid"/>
          </a:ln>
        </p:spPr>
      </p:sp>
      <p:sp>
        <p:nvSpPr>
          <p:cNvPr id="20" name="Text 17"/>
          <p:cNvSpPr txBox="1"/>
          <p:nvPr/>
        </p:nvSpPr>
        <p:spPr>
          <a:xfrm>
            <a:off x="6400800" y="1554480"/>
            <a:ext cx="2286000" cy="274320"/>
          </a:xfrm>
          <a:prstGeom prst="rect">
            <a:avLst/>
          </a:prstGeom>
          <a:noFill/>
          <a:ln/>
        </p:spPr>
        <p:txBody>
          <a:bodyPr wrap="square" lIns="0" tIns="0" rIns="0" bIns="0" rtlCol="0" anchor="t"/>
          <a:lstStyle/>
          <a:p>
            <a:pPr indent="0" marL="0">
              <a:buNone/>
            </a:pPr>
            <a:r>
              <a:rPr lang="en-US" sz="1100" b="1" spc="200" kern="0" dirty="0">
                <a:solidFill>
                  <a:srgbClr val="00897B"/>
                </a:solidFill>
                <a:latin typeface="Calibri" pitchFamily="34" charset="0"/>
                <a:ea typeface="Calibri" pitchFamily="34" charset="-122"/>
                <a:cs typeface="Calibri" pitchFamily="34" charset="-120"/>
              </a:rPr>
              <a:t>HOW TO COMPLETE IT</a:t>
            </a:r>
            <a:endParaRPr lang="en-US" sz="1100" dirty="0"/>
          </a:p>
        </p:txBody>
      </p:sp>
      <p:sp>
        <p:nvSpPr>
          <p:cNvPr id="21" name="Text 18"/>
          <p:cNvSpPr txBox="1"/>
          <p:nvPr/>
        </p:nvSpPr>
        <p:spPr>
          <a:xfrm>
            <a:off x="6400800" y="1874520"/>
            <a:ext cx="2286000" cy="27432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Ask yourself: can I point at the answer in the text? Yes → LITERAL. No, I have to work it out from clues → INFERENCE.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1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B answers — Which kind of question?</a:t>
            </a:r>
            <a:endParaRPr lang="en-US" sz="2600" dirty="0"/>
          </a:p>
        </p:txBody>
      </p:sp>
      <p:sp>
        <p:nvSpPr>
          <p:cNvPr id="16" name="Shape 14"/>
          <p:cNvSpPr/>
          <p:nvPr/>
        </p:nvSpPr>
        <p:spPr>
          <a:xfrm>
            <a:off x="778054" y="1335024"/>
            <a:ext cx="7587892"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B-r1.png">    </p:cNvPr>
          <p:cNvPicPr>
            <a:picLocks noChangeAspect="1"/>
          </p:cNvPicPr>
          <p:nvPr/>
        </p:nvPicPr>
        <p:blipFill>
          <a:blip r:embed="rId1"/>
          <a:stretch>
            <a:fillRect/>
          </a:stretch>
        </p:blipFill>
        <p:spPr>
          <a:xfrm>
            <a:off x="814630" y="1371600"/>
            <a:ext cx="7514740" cy="340156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2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B answers — Which kind of question?</a:t>
            </a:r>
            <a:endParaRPr lang="en-US" sz="2600" dirty="0"/>
          </a:p>
        </p:txBody>
      </p:sp>
      <p:sp>
        <p:nvSpPr>
          <p:cNvPr id="16" name="Shape 14"/>
          <p:cNvSpPr/>
          <p:nvPr/>
        </p:nvSpPr>
        <p:spPr>
          <a:xfrm>
            <a:off x="778054" y="1335024"/>
            <a:ext cx="7587892"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B-r2.png">    </p:cNvPr>
          <p:cNvPicPr>
            <a:picLocks noChangeAspect="1"/>
          </p:cNvPicPr>
          <p:nvPr/>
        </p:nvPicPr>
        <p:blipFill>
          <a:blip r:embed="rId1"/>
          <a:stretch>
            <a:fillRect/>
          </a:stretch>
        </p:blipFill>
        <p:spPr>
          <a:xfrm>
            <a:off x="814630" y="1371600"/>
            <a:ext cx="7514740" cy="340156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3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B answers — Which kind of question?</a:t>
            </a:r>
            <a:endParaRPr lang="en-US" sz="2600" dirty="0"/>
          </a:p>
        </p:txBody>
      </p:sp>
      <p:sp>
        <p:nvSpPr>
          <p:cNvPr id="16" name="Shape 14"/>
          <p:cNvSpPr/>
          <p:nvPr/>
        </p:nvSpPr>
        <p:spPr>
          <a:xfrm>
            <a:off x="778054" y="1335024"/>
            <a:ext cx="7587892"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B-r3.png">    </p:cNvPr>
          <p:cNvPicPr>
            <a:picLocks noChangeAspect="1"/>
          </p:cNvPicPr>
          <p:nvPr/>
        </p:nvPicPr>
        <p:blipFill>
          <a:blip r:embed="rId1"/>
          <a:stretch>
            <a:fillRect/>
          </a:stretch>
        </p:blipFill>
        <p:spPr>
          <a:xfrm>
            <a:off x="814630" y="1371600"/>
            <a:ext cx="7514740" cy="340156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4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B answers — Which kind of question?</a:t>
            </a:r>
            <a:endParaRPr lang="en-US" sz="2600" dirty="0"/>
          </a:p>
        </p:txBody>
      </p:sp>
      <p:sp>
        <p:nvSpPr>
          <p:cNvPr id="16" name="Shape 14"/>
          <p:cNvSpPr/>
          <p:nvPr/>
        </p:nvSpPr>
        <p:spPr>
          <a:xfrm>
            <a:off x="778054" y="1335024"/>
            <a:ext cx="7587892"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B-r4.png">    </p:cNvPr>
          <p:cNvPicPr>
            <a:picLocks noChangeAspect="1"/>
          </p:cNvPicPr>
          <p:nvPr/>
        </p:nvPicPr>
        <p:blipFill>
          <a:blip r:embed="rId1"/>
          <a:stretch>
            <a:fillRect/>
          </a:stretch>
        </p:blipFill>
        <p:spPr>
          <a:xfrm>
            <a:off x="814630" y="1371600"/>
            <a:ext cx="7514740" cy="340156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5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B answers — Which kind of question?</a:t>
            </a:r>
            <a:endParaRPr lang="en-US" sz="2600" dirty="0"/>
          </a:p>
        </p:txBody>
      </p:sp>
      <p:sp>
        <p:nvSpPr>
          <p:cNvPr id="16" name="Shape 14"/>
          <p:cNvSpPr/>
          <p:nvPr/>
        </p:nvSpPr>
        <p:spPr>
          <a:xfrm>
            <a:off x="778054" y="1335024"/>
            <a:ext cx="7587892"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B-r5.png">    </p:cNvPr>
          <p:cNvPicPr>
            <a:picLocks noChangeAspect="1"/>
          </p:cNvPicPr>
          <p:nvPr/>
        </p:nvPicPr>
        <p:blipFill>
          <a:blip r:embed="rId1"/>
          <a:stretch>
            <a:fillRect/>
          </a:stretch>
        </p:blipFill>
        <p:spPr>
          <a:xfrm>
            <a:off x="814630" y="1371600"/>
            <a:ext cx="7514740" cy="340156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6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B answers — Which kind of question?</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Guessing is allowed</a:t>
            </a:r>
            <a:endParaRPr lang="en-US" sz="950" dirty="0"/>
          </a:p>
        </p:txBody>
      </p:sp>
      <p:sp>
        <p:nvSpPr>
          <p:cNvPr id="17" name="Shape 15"/>
          <p:cNvSpPr/>
          <p:nvPr/>
        </p:nvSpPr>
        <p:spPr>
          <a:xfrm>
            <a:off x="778054" y="1335024"/>
            <a:ext cx="7587892"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B-r6.png">    </p:cNvPr>
          <p:cNvPicPr>
            <a:picLocks noChangeAspect="1"/>
          </p:cNvPicPr>
          <p:nvPr/>
        </p:nvPicPr>
        <p:blipFill>
          <a:blip r:embed="rId1"/>
          <a:stretch>
            <a:fillRect/>
          </a:stretch>
        </p:blipFill>
        <p:spPr>
          <a:xfrm>
            <a:off x="814630" y="1371600"/>
            <a:ext cx="7514740" cy="340156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TEACHING 2 OF 2</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Guessing is allowed</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Read the story</a:t>
            </a:r>
            <a:endParaRPr lang="en-US" sz="950" dirty="0"/>
          </a:p>
        </p:txBody>
      </p:sp>
      <p:sp>
        <p:nvSpPr>
          <p:cNvPr id="17" name="Shape 15"/>
          <p:cNvSpPr/>
          <p:nvPr/>
        </p:nvSpPr>
        <p:spPr>
          <a:xfrm>
            <a:off x="365760" y="1371600"/>
            <a:ext cx="8412480" cy="758952"/>
          </a:xfrm>
          <a:prstGeom prst="roundRect">
            <a:avLst>
              <a:gd name="adj" fmla="val 9639"/>
            </a:avLst>
          </a:prstGeom>
          <a:solidFill>
            <a:srgbClr val="E3F0FB"/>
          </a:solidFill>
          <a:ln w="15875">
            <a:solidFill>
              <a:srgbClr val="90B4D8"/>
            </a:solidFill>
            <a:prstDash val="solid"/>
          </a:ln>
        </p:spPr>
      </p:sp>
      <p:sp>
        <p:nvSpPr>
          <p:cNvPr id="18" name="Text 16"/>
          <p:cNvSpPr txBox="1"/>
          <p:nvPr/>
        </p:nvSpPr>
        <p:spPr>
          <a:xfrm>
            <a:off x="548640" y="1371600"/>
            <a:ext cx="2651760" cy="758952"/>
          </a:xfrm>
          <a:prstGeom prst="rect">
            <a:avLst/>
          </a:prstGeom>
          <a:noFill/>
          <a:ln/>
        </p:spPr>
        <p:txBody>
          <a:bodyPr wrap="square" lIns="0" tIns="0" rIns="0" bIns="0" rtlCol="0" anchor="ctr"/>
          <a:lstStyle/>
          <a:p>
            <a:pPr indent="0" marL="0">
              <a:buNone/>
            </a:pPr>
            <a:r>
              <a:rPr lang="en-US" sz="1900" b="1" dirty="0">
                <a:solidFill>
                  <a:srgbClr val="1565C0"/>
                </a:solidFill>
                <a:latin typeface="Calibri" pitchFamily="34" charset="0"/>
                <a:ea typeface="Calibri" pitchFamily="34" charset="-122"/>
                <a:cs typeface="Calibri" pitchFamily="34" charset="-120"/>
              </a:rPr>
              <a:t>Planned</a:t>
            </a:r>
            <a:endParaRPr lang="en-US" sz="1900" dirty="0"/>
          </a:p>
        </p:txBody>
      </p:sp>
      <p:sp>
        <p:nvSpPr>
          <p:cNvPr id="19" name="Text 17"/>
          <p:cNvSpPr txBox="1"/>
          <p:nvPr/>
        </p:nvSpPr>
        <p:spPr>
          <a:xfrm>
            <a:off x="3246120" y="1371600"/>
            <a:ext cx="5394960" cy="758952"/>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You will meet words you do not know today. That is planned, not a mistake.</a:t>
            </a:r>
            <a:endParaRPr lang="en-US" sz="1900" dirty="0"/>
          </a:p>
        </p:txBody>
      </p:sp>
      <p:sp>
        <p:nvSpPr>
          <p:cNvPr id="20" name="Shape 18"/>
          <p:cNvSpPr/>
          <p:nvPr/>
        </p:nvSpPr>
        <p:spPr>
          <a:xfrm>
            <a:off x="365760" y="2221992"/>
            <a:ext cx="8412480" cy="758952"/>
          </a:xfrm>
          <a:prstGeom prst="roundRect">
            <a:avLst>
              <a:gd name="adj" fmla="val 9639"/>
            </a:avLst>
          </a:prstGeom>
          <a:solidFill>
            <a:srgbClr val="D7ECEA"/>
          </a:solidFill>
          <a:ln w="15875">
            <a:solidFill>
              <a:srgbClr val="7FC4BB"/>
            </a:solidFill>
            <a:prstDash val="solid"/>
          </a:ln>
        </p:spPr>
      </p:sp>
      <p:sp>
        <p:nvSpPr>
          <p:cNvPr id="21" name="Text 19"/>
          <p:cNvSpPr txBox="1"/>
          <p:nvPr/>
        </p:nvSpPr>
        <p:spPr>
          <a:xfrm>
            <a:off x="548640" y="2221992"/>
            <a:ext cx="2651760" cy="758952"/>
          </a:xfrm>
          <a:prstGeom prst="rect">
            <a:avLst/>
          </a:prstGeom>
          <a:noFill/>
          <a:ln/>
        </p:spPr>
        <p:txBody>
          <a:bodyPr wrap="square" lIns="0" tIns="0" rIns="0" bIns="0" rtlCol="0" anchor="ctr"/>
          <a:lstStyle/>
          <a:p>
            <a:pPr indent="0" marL="0">
              <a:buNone/>
            </a:pPr>
            <a:r>
              <a:rPr lang="en-US" sz="1900" b="1" dirty="0">
                <a:solidFill>
                  <a:srgbClr val="00897B"/>
                </a:solidFill>
                <a:latin typeface="Calibri" pitchFamily="34" charset="0"/>
                <a:ea typeface="Calibri" pitchFamily="34" charset="-122"/>
                <a:cs typeface="Calibri" pitchFamily="34" charset="-120"/>
              </a:rPr>
              <a:t>Keep going</a:t>
            </a:r>
            <a:endParaRPr lang="en-US" sz="1900" dirty="0"/>
          </a:p>
        </p:txBody>
      </p:sp>
      <p:sp>
        <p:nvSpPr>
          <p:cNvPr id="22" name="Text 20"/>
          <p:cNvSpPr txBox="1"/>
          <p:nvPr/>
        </p:nvSpPr>
        <p:spPr>
          <a:xfrm>
            <a:off x="3246120" y="2221992"/>
            <a:ext cx="5394960" cy="758952"/>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Read to the end of the sentence before you decide you are stuck.</a:t>
            </a:r>
            <a:endParaRPr lang="en-US" sz="1900" dirty="0"/>
          </a:p>
        </p:txBody>
      </p:sp>
      <p:sp>
        <p:nvSpPr>
          <p:cNvPr id="23" name="Shape 21"/>
          <p:cNvSpPr/>
          <p:nvPr/>
        </p:nvSpPr>
        <p:spPr>
          <a:xfrm>
            <a:off x="365760" y="3072384"/>
            <a:ext cx="8412480" cy="758952"/>
          </a:xfrm>
          <a:prstGeom prst="roundRect">
            <a:avLst>
              <a:gd name="adj" fmla="val 9639"/>
            </a:avLst>
          </a:prstGeom>
          <a:solidFill>
            <a:srgbClr val="E3F0FB"/>
          </a:solidFill>
          <a:ln w="15875">
            <a:solidFill>
              <a:srgbClr val="90B4D8"/>
            </a:solidFill>
            <a:prstDash val="solid"/>
          </a:ln>
        </p:spPr>
      </p:sp>
      <p:sp>
        <p:nvSpPr>
          <p:cNvPr id="24" name="Text 22"/>
          <p:cNvSpPr txBox="1"/>
          <p:nvPr/>
        </p:nvSpPr>
        <p:spPr>
          <a:xfrm>
            <a:off x="548640" y="3072384"/>
            <a:ext cx="2651760" cy="758952"/>
          </a:xfrm>
          <a:prstGeom prst="rect">
            <a:avLst/>
          </a:prstGeom>
          <a:noFill/>
          <a:ln/>
        </p:spPr>
        <p:txBody>
          <a:bodyPr wrap="square" lIns="0" tIns="0" rIns="0" bIns="0" rtlCol="0" anchor="ctr"/>
          <a:lstStyle/>
          <a:p>
            <a:pPr indent="0" marL="0">
              <a:buNone/>
            </a:pPr>
            <a:r>
              <a:rPr lang="en-US" sz="1900" b="1" dirty="0">
                <a:solidFill>
                  <a:srgbClr val="1565C0"/>
                </a:solidFill>
                <a:latin typeface="Calibri" pitchFamily="34" charset="0"/>
                <a:ea typeface="Calibri" pitchFamily="34" charset="-122"/>
                <a:cs typeface="Calibri" pitchFamily="34" charset="-120"/>
              </a:rPr>
              <a:t>Mark it</a:t>
            </a:r>
            <a:endParaRPr lang="en-US" sz="1900" dirty="0"/>
          </a:p>
        </p:txBody>
      </p:sp>
      <p:sp>
        <p:nvSpPr>
          <p:cNvPr id="25" name="Text 23"/>
          <p:cNvSpPr txBox="1"/>
          <p:nvPr/>
        </p:nvSpPr>
        <p:spPr>
          <a:xfrm>
            <a:off x="3246120" y="3072384"/>
            <a:ext cx="5394960" cy="758952"/>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Underline the word and keep reading. Come back to it at the end.</a:t>
            </a:r>
            <a:endParaRPr lang="en-US" sz="1900" dirty="0"/>
          </a:p>
        </p:txBody>
      </p:sp>
      <p:sp>
        <p:nvSpPr>
          <p:cNvPr id="26" name="Shape 24"/>
          <p:cNvSpPr/>
          <p:nvPr/>
        </p:nvSpPr>
        <p:spPr>
          <a:xfrm>
            <a:off x="365760" y="3922776"/>
            <a:ext cx="8412480" cy="758952"/>
          </a:xfrm>
          <a:prstGeom prst="roundRect">
            <a:avLst>
              <a:gd name="adj" fmla="val 9639"/>
            </a:avLst>
          </a:prstGeom>
          <a:solidFill>
            <a:srgbClr val="D7ECEA"/>
          </a:solidFill>
          <a:ln w="15875">
            <a:solidFill>
              <a:srgbClr val="7FC4BB"/>
            </a:solidFill>
            <a:prstDash val="solid"/>
          </a:ln>
        </p:spPr>
      </p:sp>
      <p:sp>
        <p:nvSpPr>
          <p:cNvPr id="27" name="Text 25"/>
          <p:cNvSpPr txBox="1"/>
          <p:nvPr/>
        </p:nvSpPr>
        <p:spPr>
          <a:xfrm>
            <a:off x="548640" y="3922776"/>
            <a:ext cx="2651760" cy="758952"/>
          </a:xfrm>
          <a:prstGeom prst="rect">
            <a:avLst/>
          </a:prstGeom>
          <a:noFill/>
          <a:ln/>
        </p:spPr>
        <p:txBody>
          <a:bodyPr wrap="square" lIns="0" tIns="0" rIns="0" bIns="0" rtlCol="0" anchor="ctr"/>
          <a:lstStyle/>
          <a:p>
            <a:pPr indent="0" marL="0">
              <a:buNone/>
            </a:pPr>
            <a:r>
              <a:rPr lang="en-US" sz="1900" b="1" dirty="0">
                <a:solidFill>
                  <a:srgbClr val="00897B"/>
                </a:solidFill>
                <a:latin typeface="Calibri" pitchFamily="34" charset="0"/>
                <a:ea typeface="Calibri" pitchFamily="34" charset="-122"/>
                <a:cs typeface="Calibri" pitchFamily="34" charset="-120"/>
              </a:rPr>
              <a:t>It still counts</a:t>
            </a:r>
            <a:endParaRPr lang="en-US" sz="1900" dirty="0"/>
          </a:p>
        </p:txBody>
      </p:sp>
      <p:sp>
        <p:nvSpPr>
          <p:cNvPr id="28" name="Text 26"/>
          <p:cNvSpPr txBox="1"/>
          <p:nvPr/>
        </p:nvSpPr>
        <p:spPr>
          <a:xfrm>
            <a:off x="3246120" y="3922776"/>
            <a:ext cx="5394960" cy="758952"/>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The right idea with the wrong word still shows me what I need to see.</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READING</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Read ‘The Long Way Home’</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The story</a:t>
            </a:r>
            <a:endParaRPr lang="en-US" sz="950" dirty="0"/>
          </a:p>
        </p:txBody>
      </p:sp>
      <p:pic>
        <p:nvPicPr>
          <p:cNvPr id="17" name="Image 0" descr="out/ws/icon-read.png">    </p:cNvPr>
          <p:cNvPicPr>
            <a:picLocks noChangeAspect="1"/>
          </p:cNvPicPr>
          <p:nvPr/>
        </p:nvPicPr>
        <p:blipFill>
          <a:blip r:embed="rId1"/>
          <a:stretch>
            <a:fillRect/>
          </a:stretch>
        </p:blipFill>
        <p:spPr>
          <a:xfrm>
            <a:off x="548640" y="1554480"/>
            <a:ext cx="1371600" cy="1371600"/>
          </a:xfrm>
          <a:prstGeom prst="rect">
            <a:avLst/>
          </a:prstGeom>
        </p:spPr>
      </p:pic>
      <p:sp>
        <p:nvSpPr>
          <p:cNvPr id="18" name="Text 15"/>
          <p:cNvSpPr txBox="1"/>
          <p:nvPr/>
        </p:nvSpPr>
        <p:spPr>
          <a:xfrm>
            <a:off x="365760" y="3063240"/>
            <a:ext cx="1737360" cy="457200"/>
          </a:xfrm>
          <a:prstGeom prst="rect">
            <a:avLst/>
          </a:prstGeom>
          <a:noFill/>
          <a:ln/>
        </p:spPr>
        <p:txBody>
          <a:bodyPr wrap="square" lIns="0" tIns="0" rIns="0" bIns="0" rtlCol="0" anchor="t"/>
          <a:lstStyle/>
          <a:p>
            <a:pPr algn="ctr" indent="0" marL="0">
              <a:buNone/>
            </a:pPr>
            <a:r>
              <a:rPr lang="en-US" sz="2000" b="1" dirty="0">
                <a:solidFill>
                  <a:srgbClr val="1565C0"/>
                </a:solidFill>
                <a:latin typeface="Calibri" pitchFamily="34" charset="0"/>
                <a:ea typeface="Calibri" pitchFamily="34" charset="-122"/>
                <a:cs typeface="Calibri" pitchFamily="34" charset="-120"/>
              </a:rPr>
              <a:t>Read twice.</a:t>
            </a:r>
            <a:endParaRPr lang="en-US" sz="2000" dirty="0"/>
          </a:p>
        </p:txBody>
      </p:sp>
      <p:sp>
        <p:nvSpPr>
          <p:cNvPr id="19" name="Shape 16"/>
          <p:cNvSpPr/>
          <p:nvPr/>
        </p:nvSpPr>
        <p:spPr>
          <a:xfrm>
            <a:off x="2377440" y="1371600"/>
            <a:ext cx="6400800" cy="731520"/>
          </a:xfrm>
          <a:prstGeom prst="roundRect">
            <a:avLst>
              <a:gd name="adj" fmla="val 10000"/>
            </a:avLst>
          </a:prstGeom>
          <a:solidFill>
            <a:srgbClr val="E3F0FB"/>
          </a:solidFill>
          <a:ln w="15875">
            <a:solidFill>
              <a:srgbClr val="90B4D8"/>
            </a:solidFill>
            <a:prstDash val="solid"/>
          </a:ln>
        </p:spPr>
      </p:sp>
      <p:sp>
        <p:nvSpPr>
          <p:cNvPr id="20" name="Text 17"/>
          <p:cNvSpPr txBox="1"/>
          <p:nvPr/>
        </p:nvSpPr>
        <p:spPr>
          <a:xfrm>
            <a:off x="2514600" y="1371600"/>
            <a:ext cx="1645920" cy="731520"/>
          </a:xfrm>
          <a:prstGeom prst="rect">
            <a:avLst/>
          </a:prstGeom>
          <a:noFill/>
          <a:ln/>
        </p:spPr>
        <p:txBody>
          <a:bodyPr wrap="square" lIns="0" tIns="0" rIns="0" bIns="0" rtlCol="0" anchor="ctr"/>
          <a:lstStyle/>
          <a:p>
            <a:pPr algn="l" indent="0" marL="0">
              <a:buNone/>
            </a:pPr>
            <a:r>
              <a:rPr lang="en-US" sz="1800" b="1" dirty="0">
                <a:solidFill>
                  <a:srgbClr val="1565C0"/>
                </a:solidFill>
                <a:latin typeface="Calibri" pitchFamily="34" charset="0"/>
                <a:ea typeface="Calibri" pitchFamily="34" charset="-122"/>
                <a:cs typeface="Calibri" pitchFamily="34" charset="-120"/>
              </a:rPr>
              <a:t>First read</a:t>
            </a:r>
            <a:endParaRPr lang="en-US" sz="1800" dirty="0"/>
          </a:p>
        </p:txBody>
      </p:sp>
      <p:sp>
        <p:nvSpPr>
          <p:cNvPr id="21" name="Text 18"/>
          <p:cNvSpPr txBox="1"/>
          <p:nvPr/>
        </p:nvSpPr>
        <p:spPr>
          <a:xfrm>
            <a:off x="4160520" y="1371600"/>
            <a:ext cx="4480560" cy="73152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Straight through. Do not stop. Do not look anything up.</a:t>
            </a:r>
            <a:endParaRPr lang="en-US" sz="1700" dirty="0"/>
          </a:p>
        </p:txBody>
      </p:sp>
      <p:sp>
        <p:nvSpPr>
          <p:cNvPr id="22" name="Shape 19"/>
          <p:cNvSpPr/>
          <p:nvPr/>
        </p:nvSpPr>
        <p:spPr>
          <a:xfrm>
            <a:off x="2377440" y="2194560"/>
            <a:ext cx="6400800" cy="731520"/>
          </a:xfrm>
          <a:prstGeom prst="roundRect">
            <a:avLst>
              <a:gd name="adj" fmla="val 10000"/>
            </a:avLst>
          </a:prstGeom>
          <a:solidFill>
            <a:srgbClr val="E3F0FB"/>
          </a:solidFill>
          <a:ln w="15875">
            <a:solidFill>
              <a:srgbClr val="90B4D8"/>
            </a:solidFill>
            <a:prstDash val="solid"/>
          </a:ln>
        </p:spPr>
      </p:sp>
      <p:sp>
        <p:nvSpPr>
          <p:cNvPr id="23" name="Text 20"/>
          <p:cNvSpPr txBox="1"/>
          <p:nvPr/>
        </p:nvSpPr>
        <p:spPr>
          <a:xfrm>
            <a:off x="2514600" y="2194560"/>
            <a:ext cx="1645920" cy="731520"/>
          </a:xfrm>
          <a:prstGeom prst="rect">
            <a:avLst/>
          </a:prstGeom>
          <a:noFill/>
          <a:ln/>
        </p:spPr>
        <p:txBody>
          <a:bodyPr wrap="square" lIns="0" tIns="0" rIns="0" bIns="0" rtlCol="0" anchor="ctr"/>
          <a:lstStyle/>
          <a:p>
            <a:pPr algn="l" indent="0" marL="0">
              <a:buNone/>
            </a:pPr>
            <a:r>
              <a:rPr lang="en-US" sz="1800" b="1" dirty="0">
                <a:solidFill>
                  <a:srgbClr val="1565C0"/>
                </a:solidFill>
                <a:latin typeface="Calibri" pitchFamily="34" charset="0"/>
                <a:ea typeface="Calibri" pitchFamily="34" charset="-122"/>
                <a:cs typeface="Calibri" pitchFamily="34" charset="-120"/>
              </a:rPr>
              <a:t>Second read</a:t>
            </a:r>
            <a:endParaRPr lang="en-US" sz="1800" dirty="0"/>
          </a:p>
        </p:txBody>
      </p:sp>
      <p:sp>
        <p:nvSpPr>
          <p:cNvPr id="24" name="Text 21"/>
          <p:cNvSpPr txBox="1"/>
          <p:nvPr/>
        </p:nvSpPr>
        <p:spPr>
          <a:xfrm>
            <a:off x="4160520" y="2194560"/>
            <a:ext cx="4480560" cy="73152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With a pencil. Underline every word you are unsure of.</a:t>
            </a:r>
            <a:endParaRPr lang="en-US" sz="1700" dirty="0"/>
          </a:p>
        </p:txBody>
      </p:sp>
      <p:sp>
        <p:nvSpPr>
          <p:cNvPr id="25" name="Shape 22"/>
          <p:cNvSpPr/>
          <p:nvPr/>
        </p:nvSpPr>
        <p:spPr>
          <a:xfrm>
            <a:off x="2377440" y="3017520"/>
            <a:ext cx="6400800" cy="731520"/>
          </a:xfrm>
          <a:prstGeom prst="roundRect">
            <a:avLst>
              <a:gd name="adj" fmla="val 10000"/>
            </a:avLst>
          </a:prstGeom>
          <a:solidFill>
            <a:srgbClr val="D7ECEA"/>
          </a:solidFill>
          <a:ln w="15875">
            <a:solidFill>
              <a:srgbClr val="7FC4BB"/>
            </a:solidFill>
            <a:prstDash val="solid"/>
          </a:ln>
        </p:spPr>
      </p:sp>
      <p:sp>
        <p:nvSpPr>
          <p:cNvPr id="26" name="Text 23"/>
          <p:cNvSpPr txBox="1"/>
          <p:nvPr/>
        </p:nvSpPr>
        <p:spPr>
          <a:xfrm>
            <a:off x="2514600" y="3017520"/>
            <a:ext cx="1645920" cy="731520"/>
          </a:xfrm>
          <a:prstGeom prst="rect">
            <a:avLst/>
          </a:prstGeom>
          <a:noFill/>
          <a:ln/>
        </p:spPr>
        <p:txBody>
          <a:bodyPr wrap="square" lIns="0" tIns="0" rIns="0" bIns="0" rtlCol="0" anchor="ctr"/>
          <a:lstStyle/>
          <a:p>
            <a:pPr algn="ctr" indent="0" marL="0">
              <a:buNone/>
            </a:pPr>
            <a:r>
              <a:rPr lang="en-US" sz="1800" b="1" dirty="0">
                <a:solidFill>
                  <a:srgbClr val="00897B"/>
                </a:solidFill>
                <a:latin typeface="Calibri" pitchFamily="34" charset="0"/>
                <a:ea typeface="Calibri" pitchFamily="34" charset="-122"/>
                <a:cs typeface="Calibri" pitchFamily="34" charset="-120"/>
              </a:rPr>
              <a:t>★</a:t>
            </a:r>
            <a:endParaRPr lang="en-US" sz="1800" dirty="0"/>
          </a:p>
        </p:txBody>
      </p:sp>
      <p:sp>
        <p:nvSpPr>
          <p:cNvPr id="27" name="Text 24"/>
          <p:cNvSpPr txBox="1"/>
          <p:nvPr/>
        </p:nvSpPr>
        <p:spPr>
          <a:xfrm>
            <a:off x="4160520" y="3017520"/>
            <a:ext cx="4480560" cy="73152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Put a star beside any sentence that made you picture something.</a:t>
            </a:r>
            <a:endParaRPr lang="en-US" sz="1700" dirty="0"/>
          </a:p>
        </p:txBody>
      </p:sp>
      <p:sp>
        <p:nvSpPr>
          <p:cNvPr id="28" name="Shape 25"/>
          <p:cNvSpPr/>
          <p:nvPr/>
        </p:nvSpPr>
        <p:spPr>
          <a:xfrm>
            <a:off x="2377440" y="3840480"/>
            <a:ext cx="6400800" cy="731520"/>
          </a:xfrm>
          <a:prstGeom prst="roundRect">
            <a:avLst>
              <a:gd name="adj" fmla="val 10000"/>
            </a:avLst>
          </a:prstGeom>
          <a:solidFill>
            <a:srgbClr val="D7ECEA"/>
          </a:solidFill>
          <a:ln w="15875">
            <a:solidFill>
              <a:srgbClr val="7FC4BB"/>
            </a:solidFill>
            <a:prstDash val="solid"/>
          </a:ln>
        </p:spPr>
      </p:sp>
      <p:sp>
        <p:nvSpPr>
          <p:cNvPr id="29" name="Text 26"/>
          <p:cNvSpPr txBox="1"/>
          <p:nvPr/>
        </p:nvSpPr>
        <p:spPr>
          <a:xfrm>
            <a:off x="2514600" y="3840480"/>
            <a:ext cx="1645920" cy="731520"/>
          </a:xfrm>
          <a:prstGeom prst="rect">
            <a:avLst/>
          </a:prstGeom>
          <a:noFill/>
          <a:ln/>
        </p:spPr>
        <p:txBody>
          <a:bodyPr wrap="square" lIns="0" tIns="0" rIns="0" bIns="0" rtlCol="0" anchor="ctr"/>
          <a:lstStyle/>
          <a:p>
            <a:pPr algn="ctr" indent="0" marL="0">
              <a:buNone/>
            </a:pPr>
            <a:r>
              <a:rPr lang="en-US" sz="1800" b="1" dirty="0">
                <a:solidFill>
                  <a:srgbClr val="00897B"/>
                </a:solidFill>
                <a:latin typeface="Calibri" pitchFamily="34" charset="0"/>
                <a:ea typeface="Calibri" pitchFamily="34" charset="-122"/>
                <a:cs typeface="Calibri" pitchFamily="34" charset="-120"/>
              </a:rPr>
              <a:t>?</a:t>
            </a:r>
            <a:endParaRPr lang="en-US" sz="1800" dirty="0"/>
          </a:p>
        </p:txBody>
      </p:sp>
      <p:sp>
        <p:nvSpPr>
          <p:cNvPr id="30" name="Text 27"/>
          <p:cNvSpPr txBox="1"/>
          <p:nvPr/>
        </p:nvSpPr>
        <p:spPr>
          <a:xfrm>
            <a:off x="4160520" y="3840480"/>
            <a:ext cx="4480560" cy="73152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Put a question mark beside anything that confused you.</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THE LONG WAY HOME · 1 OF 10</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The story continues</a:t>
            </a:r>
            <a:endParaRPr lang="en-US" sz="950" dirty="0"/>
          </a:p>
        </p:txBody>
      </p:sp>
      <p:sp>
        <p:nvSpPr>
          <p:cNvPr id="16" name="Text 14"/>
          <p:cNvSpPr txBox="1"/>
          <p:nvPr/>
        </p:nvSpPr>
        <p:spPr>
          <a:xfrm>
            <a:off x="365760" y="850392"/>
            <a:ext cx="841248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The Long Way Home  ·  lines 1–3</a:t>
            </a:r>
            <a:endParaRPr lang="en-US" sz="1800" dirty="0"/>
          </a:p>
        </p:txBody>
      </p:sp>
      <p:sp>
        <p:nvSpPr>
          <p:cNvPr id="17" name="Shape 15"/>
          <p:cNvSpPr/>
          <p:nvPr/>
        </p:nvSpPr>
        <p:spPr>
          <a:xfrm>
            <a:off x="365760" y="1280160"/>
            <a:ext cx="8412480" cy="3474720"/>
          </a:xfrm>
          <a:prstGeom prst="roundRect">
            <a:avLst>
              <a:gd name="adj" fmla="val 2105"/>
            </a:avLst>
          </a:prstGeom>
          <a:solidFill>
            <a:srgbClr val="FAFCFE"/>
          </a:solidFill>
          <a:ln w="15875">
            <a:solidFill>
              <a:srgbClr val="C9DCEE"/>
            </a:solidFill>
            <a:prstDash val="solid"/>
          </a:ln>
        </p:spPr>
      </p:sp>
      <p:sp>
        <p:nvSpPr>
          <p:cNvPr id="18" name="Text 16"/>
          <p:cNvSpPr txBox="1"/>
          <p:nvPr/>
        </p:nvSpPr>
        <p:spPr>
          <a:xfrm>
            <a:off x="548640" y="1371600"/>
            <a:ext cx="8092440" cy="3291840"/>
          </a:xfrm>
          <a:prstGeom prst="rect">
            <a:avLst/>
          </a:prstGeom>
          <a:noFill/>
          <a:ln/>
        </p:spPr>
        <p:txBody>
          <a:bodyPr wrap="square" lIns="0" tIns="0" rIns="0" bIns="0" rtlCol="0" anchor="t"/>
          <a:lstStyle/>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 1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The 407 bus takes forty minutes to go all the way around and come back to the same stop. Arman worked this out in his second week here, and he has not told anybody.</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 2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His stop is the one by the pharmacy with the green cross. He knows it is his stop. He can see the corner of his building from the window, the balcony where his mother hangs the washing even in October, when nothing dries.</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 3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He stays in his seat.</a:t>
            </a:r>
            <a:endParaRPr lang="en-US" sz="2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THE LONG WAY HOME · 2 OF 10</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The story continues</a:t>
            </a:r>
            <a:endParaRPr lang="en-US" sz="950" dirty="0"/>
          </a:p>
        </p:txBody>
      </p:sp>
      <p:sp>
        <p:nvSpPr>
          <p:cNvPr id="16" name="Text 14"/>
          <p:cNvSpPr txBox="1"/>
          <p:nvPr/>
        </p:nvSpPr>
        <p:spPr>
          <a:xfrm>
            <a:off x="365760" y="850392"/>
            <a:ext cx="841248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The Long Way Home  ·  lines 4–4</a:t>
            </a:r>
            <a:endParaRPr lang="en-US" sz="1800" dirty="0"/>
          </a:p>
        </p:txBody>
      </p:sp>
      <p:sp>
        <p:nvSpPr>
          <p:cNvPr id="17" name="Shape 15"/>
          <p:cNvSpPr/>
          <p:nvPr/>
        </p:nvSpPr>
        <p:spPr>
          <a:xfrm>
            <a:off x="365760" y="1280160"/>
            <a:ext cx="8412480" cy="3474720"/>
          </a:xfrm>
          <a:prstGeom prst="roundRect">
            <a:avLst>
              <a:gd name="adj" fmla="val 2105"/>
            </a:avLst>
          </a:prstGeom>
          <a:solidFill>
            <a:srgbClr val="FAFCFE"/>
          </a:solidFill>
          <a:ln w="15875">
            <a:solidFill>
              <a:srgbClr val="C9DCEE"/>
            </a:solidFill>
            <a:prstDash val="solid"/>
          </a:ln>
        </p:spPr>
      </p:sp>
      <p:sp>
        <p:nvSpPr>
          <p:cNvPr id="18" name="Text 16"/>
          <p:cNvSpPr txBox="1"/>
          <p:nvPr/>
        </p:nvSpPr>
        <p:spPr>
          <a:xfrm>
            <a:off x="548640" y="1371600"/>
            <a:ext cx="8092440" cy="3291840"/>
          </a:xfrm>
          <a:prstGeom prst="rect">
            <a:avLst/>
          </a:prstGeom>
          <a:noFill/>
          <a:ln/>
        </p:spPr>
        <p:txBody>
          <a:bodyPr wrap="square" lIns="0" tIns="0" rIns="0" bIns="0" rtlCol="0" anchor="t"/>
          <a:lstStyle/>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 4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The bus goes on past the pharmacy, past the school, past the place where they are building something that has been a hole in the ground since he arrived. Arman counts the stops under his breath. Yek. Do. Se. Nobody hears him. The woman across from him has headphones in and her eyes shut, and the driver is watching the road.</a:t>
            </a:r>
            <a:endParaRPr lang="en-US" sz="2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THE LONG WAY HOME · 3 OF 10</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The story continues</a:t>
            </a:r>
            <a:endParaRPr lang="en-US" sz="950" dirty="0"/>
          </a:p>
        </p:txBody>
      </p:sp>
      <p:sp>
        <p:nvSpPr>
          <p:cNvPr id="16" name="Text 14"/>
          <p:cNvSpPr txBox="1"/>
          <p:nvPr/>
        </p:nvSpPr>
        <p:spPr>
          <a:xfrm>
            <a:off x="365760" y="850392"/>
            <a:ext cx="841248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The Long Way Home  ·  lines 5–6</a:t>
            </a:r>
            <a:endParaRPr lang="en-US" sz="1800" dirty="0"/>
          </a:p>
        </p:txBody>
      </p:sp>
      <p:sp>
        <p:nvSpPr>
          <p:cNvPr id="17" name="Shape 15"/>
          <p:cNvSpPr/>
          <p:nvPr/>
        </p:nvSpPr>
        <p:spPr>
          <a:xfrm>
            <a:off x="365760" y="1280160"/>
            <a:ext cx="8412480" cy="3474720"/>
          </a:xfrm>
          <a:prstGeom prst="roundRect">
            <a:avLst>
              <a:gd name="adj" fmla="val 2105"/>
            </a:avLst>
          </a:prstGeom>
          <a:solidFill>
            <a:srgbClr val="FAFCFE"/>
          </a:solidFill>
          <a:ln w="15875">
            <a:solidFill>
              <a:srgbClr val="C9DCEE"/>
            </a:solidFill>
            <a:prstDash val="solid"/>
          </a:ln>
        </p:spPr>
      </p:sp>
      <p:sp>
        <p:nvSpPr>
          <p:cNvPr id="18" name="Text 16"/>
          <p:cNvSpPr txBox="1"/>
          <p:nvPr/>
        </p:nvSpPr>
        <p:spPr>
          <a:xfrm>
            <a:off x="548640" y="1371600"/>
            <a:ext cx="8092440" cy="3291840"/>
          </a:xfrm>
          <a:prstGeom prst="rect">
            <a:avLst/>
          </a:prstGeom>
          <a:noFill/>
          <a:ln/>
        </p:spPr>
        <p:txBody>
          <a:bodyPr wrap="square" lIns="0" tIns="0" rIns="0" bIns="0" rtlCol="0" anchor="t"/>
          <a:lstStyle/>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 5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He counts in Farsi because that is how numbers arrive. In class he has to push them into English one at a time, and by the time he has the right word the question has moved on. On the bus there is no question. There is only the counting, and the window, and the same shops going by in the same order.</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 6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At the eleventh stop the bus reaches the bakery on Ackroyd, and this is where Arman gets off.</a:t>
            </a:r>
            <a:endParaRPr lang="en-US" sz="2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THE LONG WAY HOME · 4 OF 10</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The story continues</a:t>
            </a:r>
            <a:endParaRPr lang="en-US" sz="950" dirty="0"/>
          </a:p>
        </p:txBody>
      </p:sp>
      <p:sp>
        <p:nvSpPr>
          <p:cNvPr id="16" name="Text 14"/>
          <p:cNvSpPr txBox="1"/>
          <p:nvPr/>
        </p:nvSpPr>
        <p:spPr>
          <a:xfrm>
            <a:off x="365760" y="850392"/>
            <a:ext cx="841248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The Long Way Home  ·  lines 7–7</a:t>
            </a:r>
            <a:endParaRPr lang="en-US" sz="1800" dirty="0"/>
          </a:p>
        </p:txBody>
      </p:sp>
      <p:sp>
        <p:nvSpPr>
          <p:cNvPr id="17" name="Shape 15"/>
          <p:cNvSpPr/>
          <p:nvPr/>
        </p:nvSpPr>
        <p:spPr>
          <a:xfrm>
            <a:off x="365760" y="1280160"/>
            <a:ext cx="8412480" cy="3474720"/>
          </a:xfrm>
          <a:prstGeom prst="roundRect">
            <a:avLst>
              <a:gd name="adj" fmla="val 2105"/>
            </a:avLst>
          </a:prstGeom>
          <a:solidFill>
            <a:srgbClr val="FAFCFE"/>
          </a:solidFill>
          <a:ln w="15875">
            <a:solidFill>
              <a:srgbClr val="C9DCEE"/>
            </a:solidFill>
            <a:prstDash val="solid"/>
          </a:ln>
        </p:spPr>
      </p:sp>
      <p:sp>
        <p:nvSpPr>
          <p:cNvPr id="18" name="Text 16"/>
          <p:cNvSpPr txBox="1"/>
          <p:nvPr/>
        </p:nvSpPr>
        <p:spPr>
          <a:xfrm>
            <a:off x="548640" y="1371600"/>
            <a:ext cx="8092440" cy="3291840"/>
          </a:xfrm>
          <a:prstGeom prst="rect">
            <a:avLst/>
          </a:prstGeom>
          <a:noFill/>
          <a:ln/>
        </p:spPr>
        <p:txBody>
          <a:bodyPr wrap="square" lIns="0" tIns="0" rIns="0" bIns="0" rtlCol="0" anchor="t"/>
          <a:lstStyle/>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 7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The bakery is run by a man called Faraj who is not from Arman's country and does not speak his language. They speak English to each other, badly, and it does not matter. Faraj sells bread and small cakes with pistachio in them and he has one table by the window with two chairs.</a:t>
            </a:r>
            <a:endParaRPr lang="en-US" sz="2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THE LONG WAY HOME · 5 OF 10</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The story continues</a:t>
            </a:r>
            <a:endParaRPr lang="en-US" sz="950" dirty="0"/>
          </a:p>
        </p:txBody>
      </p:sp>
      <p:sp>
        <p:nvSpPr>
          <p:cNvPr id="16" name="Text 14"/>
          <p:cNvSpPr txBox="1"/>
          <p:nvPr/>
        </p:nvSpPr>
        <p:spPr>
          <a:xfrm>
            <a:off x="365760" y="850392"/>
            <a:ext cx="841248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The Long Way Home  ·  lines 8–9</a:t>
            </a:r>
            <a:endParaRPr lang="en-US" sz="1800" dirty="0"/>
          </a:p>
        </p:txBody>
      </p:sp>
      <p:sp>
        <p:nvSpPr>
          <p:cNvPr id="17" name="Shape 15"/>
          <p:cNvSpPr/>
          <p:nvPr/>
        </p:nvSpPr>
        <p:spPr>
          <a:xfrm>
            <a:off x="365760" y="1280160"/>
            <a:ext cx="8412480" cy="3474720"/>
          </a:xfrm>
          <a:prstGeom prst="roundRect">
            <a:avLst>
              <a:gd name="adj" fmla="val 2105"/>
            </a:avLst>
          </a:prstGeom>
          <a:solidFill>
            <a:srgbClr val="FAFCFE"/>
          </a:solidFill>
          <a:ln w="15875">
            <a:solidFill>
              <a:srgbClr val="C9DCEE"/>
            </a:solidFill>
            <a:prstDash val="solid"/>
          </a:ln>
        </p:spPr>
      </p:sp>
      <p:sp>
        <p:nvSpPr>
          <p:cNvPr id="18" name="Text 16"/>
          <p:cNvSpPr txBox="1"/>
          <p:nvPr/>
        </p:nvSpPr>
        <p:spPr>
          <a:xfrm>
            <a:off x="548640" y="1371600"/>
            <a:ext cx="8092440" cy="3291840"/>
          </a:xfrm>
          <a:prstGeom prst="rect">
            <a:avLst/>
          </a:prstGeom>
          <a:noFill/>
          <a:ln/>
        </p:spPr>
        <p:txBody>
          <a:bodyPr wrap="square" lIns="0" tIns="0" rIns="0" bIns="0" rtlCol="0" anchor="t"/>
          <a:lstStyle/>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 8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Arman sits at the table. He buys nothing. In the first week he bought a cake, and Faraj took his money, and then on the second day Faraj put a cake down in front of him and waved his hand at the coins, and after that Arman stopped bringing any.</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 9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He does his homework there. It takes about an hour. Sometimes Faraj turns the radio up when a song comes on that he likes, and sings a line, and stops.</a:t>
            </a:r>
            <a:endParaRPr lang="en-US" sz="2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THE LONG WAY HOME · 6 OF 10</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The story continues</a:t>
            </a:r>
            <a:endParaRPr lang="en-US" sz="950" dirty="0"/>
          </a:p>
        </p:txBody>
      </p:sp>
      <p:sp>
        <p:nvSpPr>
          <p:cNvPr id="16" name="Text 14"/>
          <p:cNvSpPr txBox="1"/>
          <p:nvPr/>
        </p:nvSpPr>
        <p:spPr>
          <a:xfrm>
            <a:off x="365760" y="850392"/>
            <a:ext cx="841248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The Long Way Home  ·  lines 10–13</a:t>
            </a:r>
            <a:endParaRPr lang="en-US" sz="1800" dirty="0"/>
          </a:p>
        </p:txBody>
      </p:sp>
      <p:sp>
        <p:nvSpPr>
          <p:cNvPr id="17" name="Shape 15"/>
          <p:cNvSpPr/>
          <p:nvPr/>
        </p:nvSpPr>
        <p:spPr>
          <a:xfrm>
            <a:off x="365760" y="1280160"/>
            <a:ext cx="8412480" cy="3474720"/>
          </a:xfrm>
          <a:prstGeom prst="roundRect">
            <a:avLst>
              <a:gd name="adj" fmla="val 2105"/>
            </a:avLst>
          </a:prstGeom>
          <a:solidFill>
            <a:srgbClr val="FAFCFE"/>
          </a:solidFill>
          <a:ln w="15875">
            <a:solidFill>
              <a:srgbClr val="C9DCEE"/>
            </a:solidFill>
            <a:prstDash val="solid"/>
          </a:ln>
        </p:spPr>
      </p:sp>
      <p:sp>
        <p:nvSpPr>
          <p:cNvPr id="18" name="Text 16"/>
          <p:cNvSpPr txBox="1"/>
          <p:nvPr/>
        </p:nvSpPr>
        <p:spPr>
          <a:xfrm>
            <a:off x="548640" y="1371600"/>
            <a:ext cx="8092440" cy="3291840"/>
          </a:xfrm>
          <a:prstGeom prst="rect">
            <a:avLst/>
          </a:prstGeom>
          <a:noFill/>
          <a:ln/>
        </p:spPr>
        <p:txBody>
          <a:bodyPr wrap="square" lIns="0" tIns="0" rIns="0" bIns="0" rtlCol="0" anchor="t"/>
          <a:lstStyle/>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10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At half past five Arman packs his bag and walks the twenty minutes home, and by then the light has gone and his mother is in the kitchen and the washing is still on the balcony, still wet.</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11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“Where were you?” she asks.</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12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“School,” he says.</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13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She nods. She does not ask again, and he thinks about this sometimes, on the bus, going past the pharmacy with the green cross.</a:t>
            </a:r>
            <a:endParaRPr lang="en-US" sz="2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THE LONG WAY HOME · 7 OF 10</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The story continues</a:t>
            </a:r>
            <a:endParaRPr lang="en-US" sz="950" dirty="0"/>
          </a:p>
        </p:txBody>
      </p:sp>
      <p:sp>
        <p:nvSpPr>
          <p:cNvPr id="16" name="Text 14"/>
          <p:cNvSpPr txBox="1"/>
          <p:nvPr/>
        </p:nvSpPr>
        <p:spPr>
          <a:xfrm>
            <a:off x="365760" y="850392"/>
            <a:ext cx="841248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The Long Way Home  ·  lines 14–15</a:t>
            </a:r>
            <a:endParaRPr lang="en-US" sz="1800" dirty="0"/>
          </a:p>
        </p:txBody>
      </p:sp>
      <p:sp>
        <p:nvSpPr>
          <p:cNvPr id="17" name="Shape 15"/>
          <p:cNvSpPr/>
          <p:nvPr/>
        </p:nvSpPr>
        <p:spPr>
          <a:xfrm>
            <a:off x="365760" y="1280160"/>
            <a:ext cx="8412480" cy="3474720"/>
          </a:xfrm>
          <a:prstGeom prst="roundRect">
            <a:avLst>
              <a:gd name="adj" fmla="val 2105"/>
            </a:avLst>
          </a:prstGeom>
          <a:solidFill>
            <a:srgbClr val="FAFCFE"/>
          </a:solidFill>
          <a:ln w="15875">
            <a:solidFill>
              <a:srgbClr val="C9DCEE"/>
            </a:solidFill>
            <a:prstDash val="solid"/>
          </a:ln>
        </p:spPr>
      </p:sp>
      <p:sp>
        <p:nvSpPr>
          <p:cNvPr id="18" name="Text 16"/>
          <p:cNvSpPr txBox="1"/>
          <p:nvPr/>
        </p:nvSpPr>
        <p:spPr>
          <a:xfrm>
            <a:off x="548640" y="1371600"/>
            <a:ext cx="8092440" cy="3291840"/>
          </a:xfrm>
          <a:prstGeom prst="rect">
            <a:avLst/>
          </a:prstGeom>
          <a:noFill/>
          <a:ln/>
        </p:spPr>
        <p:txBody>
          <a:bodyPr wrap="square" lIns="0" tIns="0" rIns="0" bIns="0" rtlCol="0" anchor="t"/>
          <a:lstStyle/>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14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In the house there is his mother, and there is his father who is asleep at four in the afternoon because he works nights at the airport now, and there is the second bedroom where his sister does her university applications with the door shut. In the house everybody is doing something difficult and quiet.</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15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Arman is eleven stops away, in a warm room that smells of pistachio, counting in the only language where the numbers come first.</a:t>
            </a:r>
            <a:endParaRPr lang="en-US" sz="2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THE LONG WAY HOME · 8 OF 10</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The story continues</a:t>
            </a:r>
            <a:endParaRPr lang="en-US" sz="950" dirty="0"/>
          </a:p>
        </p:txBody>
      </p:sp>
      <p:sp>
        <p:nvSpPr>
          <p:cNvPr id="16" name="Text 14"/>
          <p:cNvSpPr txBox="1"/>
          <p:nvPr/>
        </p:nvSpPr>
        <p:spPr>
          <a:xfrm>
            <a:off x="365760" y="850392"/>
            <a:ext cx="841248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The Long Way Home  ·  lines 16–18</a:t>
            </a:r>
            <a:endParaRPr lang="en-US" sz="1800" dirty="0"/>
          </a:p>
        </p:txBody>
      </p:sp>
      <p:sp>
        <p:nvSpPr>
          <p:cNvPr id="17" name="Shape 15"/>
          <p:cNvSpPr/>
          <p:nvPr/>
        </p:nvSpPr>
        <p:spPr>
          <a:xfrm>
            <a:off x="365760" y="1280160"/>
            <a:ext cx="8412480" cy="3474720"/>
          </a:xfrm>
          <a:prstGeom prst="roundRect">
            <a:avLst>
              <a:gd name="adj" fmla="val 2105"/>
            </a:avLst>
          </a:prstGeom>
          <a:solidFill>
            <a:srgbClr val="FAFCFE"/>
          </a:solidFill>
          <a:ln w="15875">
            <a:solidFill>
              <a:srgbClr val="C9DCEE"/>
            </a:solidFill>
            <a:prstDash val="solid"/>
          </a:ln>
        </p:spPr>
      </p:sp>
      <p:sp>
        <p:nvSpPr>
          <p:cNvPr id="18" name="Text 16"/>
          <p:cNvSpPr txBox="1"/>
          <p:nvPr/>
        </p:nvSpPr>
        <p:spPr>
          <a:xfrm>
            <a:off x="548640" y="1371600"/>
            <a:ext cx="8092440" cy="3291840"/>
          </a:xfrm>
          <a:prstGeom prst="rect">
            <a:avLst/>
          </a:prstGeom>
          <a:noFill/>
          <a:ln/>
        </p:spPr>
        <p:txBody>
          <a:bodyPr wrap="square" lIns="0" tIns="0" rIns="0" bIns="0" rtlCol="0" anchor="t"/>
          <a:lstStyle/>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16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On the Thursday before the long weekend, the bakery is closed. There is a paper sign in the window in Faraj's handwriting, and Arman stands and reads it three times, although he understood it the first time.</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17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He does not go home early.</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18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He walks the twenty minutes anyway, and then he keeps walking, down to the river where the boats are, and he sits on the wall until his hands are cold. He has nothing to do there. There is no table and no radio and no bread.</a:t>
            </a:r>
            <a:endParaRPr lang="en-US" sz="2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THE LONG WAY HOME · 9 OF 10</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The story continues</a:t>
            </a:r>
            <a:endParaRPr lang="en-US" sz="950" dirty="0"/>
          </a:p>
        </p:txBody>
      </p:sp>
      <p:sp>
        <p:nvSpPr>
          <p:cNvPr id="16" name="Text 14"/>
          <p:cNvSpPr txBox="1"/>
          <p:nvPr/>
        </p:nvSpPr>
        <p:spPr>
          <a:xfrm>
            <a:off x="365760" y="850392"/>
            <a:ext cx="841248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The Long Way Home  ·  lines 19–23</a:t>
            </a:r>
            <a:endParaRPr lang="en-US" sz="1800" dirty="0"/>
          </a:p>
        </p:txBody>
      </p:sp>
      <p:sp>
        <p:nvSpPr>
          <p:cNvPr id="17" name="Shape 15"/>
          <p:cNvSpPr/>
          <p:nvPr/>
        </p:nvSpPr>
        <p:spPr>
          <a:xfrm>
            <a:off x="365760" y="1280160"/>
            <a:ext cx="8412480" cy="3474720"/>
          </a:xfrm>
          <a:prstGeom prst="roundRect">
            <a:avLst>
              <a:gd name="adj" fmla="val 2105"/>
            </a:avLst>
          </a:prstGeom>
          <a:solidFill>
            <a:srgbClr val="FAFCFE"/>
          </a:solidFill>
          <a:ln w="15875">
            <a:solidFill>
              <a:srgbClr val="C9DCEE"/>
            </a:solidFill>
            <a:prstDash val="solid"/>
          </a:ln>
        </p:spPr>
      </p:sp>
      <p:sp>
        <p:nvSpPr>
          <p:cNvPr id="18" name="Text 16"/>
          <p:cNvSpPr txBox="1"/>
          <p:nvPr/>
        </p:nvSpPr>
        <p:spPr>
          <a:xfrm>
            <a:off x="548640" y="1371600"/>
            <a:ext cx="8092440" cy="3291840"/>
          </a:xfrm>
          <a:prstGeom prst="rect">
            <a:avLst/>
          </a:prstGeom>
          <a:noFill/>
          <a:ln/>
        </p:spPr>
        <p:txBody>
          <a:bodyPr wrap="square" lIns="0" tIns="0" rIns="0" bIns="0" rtlCol="0" anchor="t"/>
          <a:lstStyle/>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19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When he finally gets home his mother is standing at the window.</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20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“Where were you?” she says, and this time she is looking at him.</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21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“The bakery,” says Arman. “On Ackroyd. I go there after school.”</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22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His mother is quiet for a moment. Then she says: “Is it warm there?”</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23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“Yes.”</a:t>
            </a:r>
            <a:endParaRPr lang="en-US" sz="2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THE LONG WAY HOME · 10 OF 10</a:t>
            </a:r>
            <a:endParaRPr lang="en-US" sz="950" dirty="0"/>
          </a:p>
        </p:txBody>
      </p:sp>
      <p:sp>
        <p:nvSpPr>
          <p:cNvPr id="15" name="Text 13"/>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Words in this story</a:t>
            </a:r>
            <a:endParaRPr lang="en-US" sz="950" dirty="0"/>
          </a:p>
        </p:txBody>
      </p:sp>
      <p:sp>
        <p:nvSpPr>
          <p:cNvPr id="16" name="Text 14"/>
          <p:cNvSpPr txBox="1"/>
          <p:nvPr/>
        </p:nvSpPr>
        <p:spPr>
          <a:xfrm>
            <a:off x="365760" y="850392"/>
            <a:ext cx="841248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The Long Way Home  ·  lines 24–25</a:t>
            </a:r>
            <a:endParaRPr lang="en-US" sz="1800" dirty="0"/>
          </a:p>
        </p:txBody>
      </p:sp>
      <p:sp>
        <p:nvSpPr>
          <p:cNvPr id="17" name="Shape 15"/>
          <p:cNvSpPr/>
          <p:nvPr/>
        </p:nvSpPr>
        <p:spPr>
          <a:xfrm>
            <a:off x="365760" y="1280160"/>
            <a:ext cx="8412480" cy="3474720"/>
          </a:xfrm>
          <a:prstGeom prst="roundRect">
            <a:avLst>
              <a:gd name="adj" fmla="val 2105"/>
            </a:avLst>
          </a:prstGeom>
          <a:solidFill>
            <a:srgbClr val="FAFCFE"/>
          </a:solidFill>
          <a:ln w="15875">
            <a:solidFill>
              <a:srgbClr val="C9DCEE"/>
            </a:solidFill>
            <a:prstDash val="solid"/>
          </a:ln>
        </p:spPr>
      </p:sp>
      <p:sp>
        <p:nvSpPr>
          <p:cNvPr id="18" name="Text 16"/>
          <p:cNvSpPr txBox="1"/>
          <p:nvPr/>
        </p:nvSpPr>
        <p:spPr>
          <a:xfrm>
            <a:off x="548640" y="1371600"/>
            <a:ext cx="8092440" cy="3291840"/>
          </a:xfrm>
          <a:prstGeom prst="rect">
            <a:avLst/>
          </a:prstGeom>
          <a:noFill/>
          <a:ln/>
        </p:spPr>
        <p:txBody>
          <a:bodyPr wrap="square" lIns="0" tIns="0" rIns="0" bIns="0" rtlCol="0" anchor="t"/>
          <a:lstStyle/>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24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“Good,” she says, and she turns back to the window. “The washing will not dry. I keep putting it out.”</a:t>
            </a:r>
            <a:endParaRPr lang="en-US" sz="2300" dirty="0"/>
          </a:p>
          <a:p>
            <a:pPr indent="0" marL="0">
              <a:lnSpc>
                <a:spcPct val="100000"/>
              </a:lnSpc>
              <a:spcAft>
                <a:spcPts val="900"/>
              </a:spcAft>
              <a:buNone/>
            </a:pPr>
            <a:r>
              <a:rPr lang="en-US" sz="2300" b="1" dirty="0">
                <a:solidFill>
                  <a:srgbClr val="00897B"/>
                </a:solidFill>
                <a:latin typeface="Calibri" pitchFamily="34" charset="0"/>
                <a:ea typeface="Calibri" pitchFamily="34" charset="-122"/>
                <a:cs typeface="Calibri" pitchFamily="34" charset="-120"/>
              </a:rPr>
              <a:t>25   </a:t>
            </a:r>
            <a:pPr indent="0" marL="0">
              <a:lnSpc>
                <a:spcPct val="100000"/>
              </a:lnSpc>
              <a:spcAft>
                <a:spcPts val="900"/>
              </a:spcAft>
              <a:buNone/>
            </a:pPr>
            <a:r>
              <a:rPr lang="en-US" sz="2300" dirty="0">
                <a:solidFill>
                  <a:srgbClr val="1F2933"/>
                </a:solidFill>
                <a:latin typeface="Calibri" pitchFamily="34" charset="0"/>
                <a:ea typeface="Calibri" pitchFamily="34" charset="-122"/>
                <a:cs typeface="Calibri" pitchFamily="34" charset="-120"/>
              </a:rPr>
              <a:t>Arman stands beside her and they look at the balcony together, at the shirts hanging heavy in the dark, and neither of them says anything else about it.</a:t>
            </a:r>
            <a:endParaRPr lang="en-US" sz="2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SUPPORT</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Words in this story</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Parts C and D</a:t>
            </a:r>
            <a:endParaRPr lang="en-US" sz="950" dirty="0"/>
          </a:p>
        </p:txBody>
      </p:sp>
      <p:sp>
        <p:nvSpPr>
          <p:cNvPr id="17" name="Text 15"/>
          <p:cNvSpPr txBox="1"/>
          <p:nvPr/>
        </p:nvSpPr>
        <p:spPr>
          <a:xfrm>
            <a:off x="365760" y="1280160"/>
            <a:ext cx="8412480" cy="274320"/>
          </a:xfrm>
          <a:prstGeom prst="rect">
            <a:avLst/>
          </a:prstGeom>
          <a:noFill/>
          <a:ln/>
        </p:spPr>
        <p:txBody>
          <a:bodyPr wrap="square" lIns="0" tIns="0" rIns="0" bIns="0" rtlCol="0" anchor="t"/>
          <a:lstStyle/>
          <a:p>
            <a:pPr indent="0" marL="0">
              <a:buNone/>
            </a:pPr>
            <a:r>
              <a:rPr lang="en-US" sz="1400" i="1" dirty="0">
                <a:solidFill>
                  <a:srgbClr val="5F6B7A"/>
                </a:solidFill>
                <a:latin typeface="Calibri" pitchFamily="34" charset="0"/>
                <a:ea typeface="Calibri" pitchFamily="34" charset="-122"/>
                <a:cs typeface="Calibri" pitchFamily="34" charset="-120"/>
              </a:rPr>
              <a:t>Use this on your SECOND read, not the first. Everything else you can work out from around it.</a:t>
            </a:r>
            <a:endParaRPr lang="en-US" sz="1400" dirty="0"/>
          </a:p>
        </p:txBody>
      </p:sp>
      <p:sp>
        <p:nvSpPr>
          <p:cNvPr id="18" name="Shape 16"/>
          <p:cNvSpPr/>
          <p:nvPr/>
        </p:nvSpPr>
        <p:spPr>
          <a:xfrm>
            <a:off x="365760" y="1645920"/>
            <a:ext cx="4160520" cy="548640"/>
          </a:xfrm>
          <a:prstGeom prst="roundRect">
            <a:avLst>
              <a:gd name="adj" fmla="val 13333"/>
            </a:avLst>
          </a:prstGeom>
          <a:solidFill>
            <a:srgbClr val="E3F0FB"/>
          </a:solidFill>
          <a:ln w="15875">
            <a:solidFill>
              <a:srgbClr val="90B4D8"/>
            </a:solidFill>
            <a:prstDash val="solid"/>
          </a:ln>
        </p:spPr>
      </p:sp>
      <p:sp>
        <p:nvSpPr>
          <p:cNvPr id="19" name="Text 17"/>
          <p:cNvSpPr txBox="1"/>
          <p:nvPr/>
        </p:nvSpPr>
        <p:spPr>
          <a:xfrm>
            <a:off x="502920" y="1645920"/>
            <a:ext cx="1325880" cy="548640"/>
          </a:xfrm>
          <a:prstGeom prst="rect">
            <a:avLst/>
          </a:prstGeom>
          <a:noFill/>
          <a:ln/>
        </p:spPr>
        <p:txBody>
          <a:bodyPr wrap="square" lIns="0" tIns="0" rIns="0" bIns="0"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pharmacy</a:t>
            </a:r>
            <a:endParaRPr lang="en-US" sz="1600" dirty="0"/>
          </a:p>
        </p:txBody>
      </p:sp>
      <p:sp>
        <p:nvSpPr>
          <p:cNvPr id="20" name="Text 18"/>
          <p:cNvSpPr txBox="1"/>
          <p:nvPr/>
        </p:nvSpPr>
        <p:spPr>
          <a:xfrm>
            <a:off x="1828800" y="1645920"/>
            <a:ext cx="260604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a shop that sells medicine</a:t>
            </a:r>
            <a:endParaRPr lang="en-US" sz="1350" dirty="0"/>
          </a:p>
        </p:txBody>
      </p:sp>
      <p:sp>
        <p:nvSpPr>
          <p:cNvPr id="21" name="Shape 19"/>
          <p:cNvSpPr/>
          <p:nvPr/>
        </p:nvSpPr>
        <p:spPr>
          <a:xfrm>
            <a:off x="4617720" y="1645920"/>
            <a:ext cx="4160520" cy="548640"/>
          </a:xfrm>
          <a:prstGeom prst="roundRect">
            <a:avLst>
              <a:gd name="adj" fmla="val 13333"/>
            </a:avLst>
          </a:prstGeom>
          <a:solidFill>
            <a:srgbClr val="D7ECEA"/>
          </a:solidFill>
          <a:ln w="15875">
            <a:solidFill>
              <a:srgbClr val="7FC4BB"/>
            </a:solidFill>
            <a:prstDash val="solid"/>
          </a:ln>
        </p:spPr>
      </p:sp>
      <p:sp>
        <p:nvSpPr>
          <p:cNvPr id="22" name="Text 20"/>
          <p:cNvSpPr txBox="1"/>
          <p:nvPr/>
        </p:nvSpPr>
        <p:spPr>
          <a:xfrm>
            <a:off x="4754880" y="1645920"/>
            <a:ext cx="1325880" cy="548640"/>
          </a:xfrm>
          <a:prstGeom prst="rect">
            <a:avLst/>
          </a:prstGeom>
          <a:noFill/>
          <a:ln/>
        </p:spPr>
        <p:txBody>
          <a:bodyPr wrap="square" lIns="0" tIns="0" rIns="0" bIns="0" rtlCol="0" anchor="ctr"/>
          <a:lstStyle/>
          <a:p>
            <a:pPr indent="0" marL="0">
              <a:buNone/>
            </a:pPr>
            <a:r>
              <a:rPr lang="en-US" sz="1600" b="1" dirty="0">
                <a:solidFill>
                  <a:srgbClr val="00897B"/>
                </a:solidFill>
                <a:latin typeface="Calibri" pitchFamily="34" charset="0"/>
                <a:ea typeface="Calibri" pitchFamily="34" charset="-122"/>
                <a:cs typeface="Calibri" pitchFamily="34" charset="-120"/>
              </a:rPr>
              <a:t>balcony</a:t>
            </a:r>
            <a:endParaRPr lang="en-US" sz="1600" dirty="0"/>
          </a:p>
        </p:txBody>
      </p:sp>
      <p:sp>
        <p:nvSpPr>
          <p:cNvPr id="23" name="Text 21"/>
          <p:cNvSpPr txBox="1"/>
          <p:nvPr/>
        </p:nvSpPr>
        <p:spPr>
          <a:xfrm>
            <a:off x="6080760" y="1645920"/>
            <a:ext cx="260604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a platform outside an upper window</a:t>
            </a:r>
            <a:endParaRPr lang="en-US" sz="1350" dirty="0"/>
          </a:p>
        </p:txBody>
      </p:sp>
      <p:sp>
        <p:nvSpPr>
          <p:cNvPr id="24" name="Shape 22"/>
          <p:cNvSpPr/>
          <p:nvPr/>
        </p:nvSpPr>
        <p:spPr>
          <a:xfrm>
            <a:off x="365760" y="2267712"/>
            <a:ext cx="4160520" cy="548640"/>
          </a:xfrm>
          <a:prstGeom prst="roundRect">
            <a:avLst>
              <a:gd name="adj" fmla="val 13333"/>
            </a:avLst>
          </a:prstGeom>
          <a:solidFill>
            <a:srgbClr val="E3F0FB"/>
          </a:solidFill>
          <a:ln w="15875">
            <a:solidFill>
              <a:srgbClr val="90B4D8"/>
            </a:solidFill>
            <a:prstDash val="solid"/>
          </a:ln>
        </p:spPr>
      </p:sp>
      <p:sp>
        <p:nvSpPr>
          <p:cNvPr id="25" name="Text 23"/>
          <p:cNvSpPr txBox="1"/>
          <p:nvPr/>
        </p:nvSpPr>
        <p:spPr>
          <a:xfrm>
            <a:off x="502920" y="2267712"/>
            <a:ext cx="1325880" cy="548640"/>
          </a:xfrm>
          <a:prstGeom prst="rect">
            <a:avLst/>
          </a:prstGeom>
          <a:noFill/>
          <a:ln/>
        </p:spPr>
        <p:txBody>
          <a:bodyPr wrap="square" lIns="0" tIns="0" rIns="0" bIns="0"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stop</a:t>
            </a:r>
            <a:endParaRPr lang="en-US" sz="1600" dirty="0"/>
          </a:p>
        </p:txBody>
      </p:sp>
      <p:sp>
        <p:nvSpPr>
          <p:cNvPr id="26" name="Text 24"/>
          <p:cNvSpPr txBox="1"/>
          <p:nvPr/>
        </p:nvSpPr>
        <p:spPr>
          <a:xfrm>
            <a:off x="1828800" y="2267712"/>
            <a:ext cx="260604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a place where a bus picks up passengers</a:t>
            </a:r>
            <a:endParaRPr lang="en-US" sz="1350" dirty="0"/>
          </a:p>
        </p:txBody>
      </p:sp>
      <p:sp>
        <p:nvSpPr>
          <p:cNvPr id="27" name="Shape 25"/>
          <p:cNvSpPr/>
          <p:nvPr/>
        </p:nvSpPr>
        <p:spPr>
          <a:xfrm>
            <a:off x="4617720" y="2267712"/>
            <a:ext cx="4160520" cy="548640"/>
          </a:xfrm>
          <a:prstGeom prst="roundRect">
            <a:avLst>
              <a:gd name="adj" fmla="val 13333"/>
            </a:avLst>
          </a:prstGeom>
          <a:solidFill>
            <a:srgbClr val="D7ECEA"/>
          </a:solidFill>
          <a:ln w="15875">
            <a:solidFill>
              <a:srgbClr val="7FC4BB"/>
            </a:solidFill>
            <a:prstDash val="solid"/>
          </a:ln>
        </p:spPr>
      </p:sp>
      <p:sp>
        <p:nvSpPr>
          <p:cNvPr id="28" name="Text 26"/>
          <p:cNvSpPr txBox="1"/>
          <p:nvPr/>
        </p:nvSpPr>
        <p:spPr>
          <a:xfrm>
            <a:off x="4754880" y="2267712"/>
            <a:ext cx="1325880" cy="548640"/>
          </a:xfrm>
          <a:prstGeom prst="rect">
            <a:avLst/>
          </a:prstGeom>
          <a:noFill/>
          <a:ln/>
        </p:spPr>
        <p:txBody>
          <a:bodyPr wrap="square" lIns="0" tIns="0" rIns="0" bIns="0" rtlCol="0" anchor="ctr"/>
          <a:lstStyle/>
          <a:p>
            <a:pPr indent="0" marL="0">
              <a:buNone/>
            </a:pPr>
            <a:r>
              <a:rPr lang="en-US" sz="1600" b="1" dirty="0">
                <a:solidFill>
                  <a:srgbClr val="00897B"/>
                </a:solidFill>
                <a:latin typeface="Calibri" pitchFamily="34" charset="0"/>
                <a:ea typeface="Calibri" pitchFamily="34" charset="-122"/>
                <a:cs typeface="Calibri" pitchFamily="34" charset="-120"/>
              </a:rPr>
              <a:t>pistachio</a:t>
            </a:r>
            <a:endParaRPr lang="en-US" sz="1600" dirty="0"/>
          </a:p>
        </p:txBody>
      </p:sp>
      <p:sp>
        <p:nvSpPr>
          <p:cNvPr id="29" name="Text 27"/>
          <p:cNvSpPr txBox="1"/>
          <p:nvPr/>
        </p:nvSpPr>
        <p:spPr>
          <a:xfrm>
            <a:off x="6080760" y="2267712"/>
            <a:ext cx="260604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a green nut, common in Middle Eastern baking</a:t>
            </a:r>
            <a:endParaRPr lang="en-US" sz="1350" dirty="0"/>
          </a:p>
        </p:txBody>
      </p:sp>
      <p:sp>
        <p:nvSpPr>
          <p:cNvPr id="30" name="Shape 28"/>
          <p:cNvSpPr/>
          <p:nvPr/>
        </p:nvSpPr>
        <p:spPr>
          <a:xfrm>
            <a:off x="365760" y="2889504"/>
            <a:ext cx="4160520" cy="548640"/>
          </a:xfrm>
          <a:prstGeom prst="roundRect">
            <a:avLst>
              <a:gd name="adj" fmla="val 13333"/>
            </a:avLst>
          </a:prstGeom>
          <a:solidFill>
            <a:srgbClr val="E3F0FB"/>
          </a:solidFill>
          <a:ln w="15875">
            <a:solidFill>
              <a:srgbClr val="90B4D8"/>
            </a:solidFill>
            <a:prstDash val="solid"/>
          </a:ln>
        </p:spPr>
      </p:sp>
      <p:sp>
        <p:nvSpPr>
          <p:cNvPr id="31" name="Text 29"/>
          <p:cNvSpPr txBox="1"/>
          <p:nvPr/>
        </p:nvSpPr>
        <p:spPr>
          <a:xfrm>
            <a:off x="502920" y="2889504"/>
            <a:ext cx="1325880" cy="548640"/>
          </a:xfrm>
          <a:prstGeom prst="rect">
            <a:avLst/>
          </a:prstGeom>
          <a:noFill/>
          <a:ln/>
        </p:spPr>
        <p:txBody>
          <a:bodyPr wrap="square" lIns="0" tIns="0" rIns="0" bIns="0"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packs</a:t>
            </a:r>
            <a:endParaRPr lang="en-US" sz="1600" dirty="0"/>
          </a:p>
        </p:txBody>
      </p:sp>
      <p:sp>
        <p:nvSpPr>
          <p:cNvPr id="32" name="Text 30"/>
          <p:cNvSpPr txBox="1"/>
          <p:nvPr/>
        </p:nvSpPr>
        <p:spPr>
          <a:xfrm>
            <a:off x="1828800" y="2889504"/>
            <a:ext cx="260604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puts things into a bag</a:t>
            </a:r>
            <a:endParaRPr lang="en-US" sz="1350" dirty="0"/>
          </a:p>
        </p:txBody>
      </p:sp>
      <p:sp>
        <p:nvSpPr>
          <p:cNvPr id="33" name="Shape 31"/>
          <p:cNvSpPr/>
          <p:nvPr/>
        </p:nvSpPr>
        <p:spPr>
          <a:xfrm>
            <a:off x="4617720" y="2889504"/>
            <a:ext cx="4160520" cy="548640"/>
          </a:xfrm>
          <a:prstGeom prst="roundRect">
            <a:avLst>
              <a:gd name="adj" fmla="val 13333"/>
            </a:avLst>
          </a:prstGeom>
          <a:solidFill>
            <a:srgbClr val="D7ECEA"/>
          </a:solidFill>
          <a:ln w="15875">
            <a:solidFill>
              <a:srgbClr val="7FC4BB"/>
            </a:solidFill>
            <a:prstDash val="solid"/>
          </a:ln>
        </p:spPr>
      </p:sp>
      <p:sp>
        <p:nvSpPr>
          <p:cNvPr id="34" name="Text 32"/>
          <p:cNvSpPr txBox="1"/>
          <p:nvPr/>
        </p:nvSpPr>
        <p:spPr>
          <a:xfrm>
            <a:off x="4754880" y="2889504"/>
            <a:ext cx="1325880" cy="548640"/>
          </a:xfrm>
          <a:prstGeom prst="rect">
            <a:avLst/>
          </a:prstGeom>
          <a:noFill/>
          <a:ln/>
        </p:spPr>
        <p:txBody>
          <a:bodyPr wrap="square" lIns="0" tIns="0" rIns="0" bIns="0" rtlCol="0" anchor="ctr"/>
          <a:lstStyle/>
          <a:p>
            <a:pPr indent="0" marL="0">
              <a:buNone/>
            </a:pPr>
            <a:r>
              <a:rPr lang="en-US" sz="1600" b="1" dirty="0">
                <a:solidFill>
                  <a:srgbClr val="00897B"/>
                </a:solidFill>
                <a:latin typeface="Calibri" pitchFamily="34" charset="0"/>
                <a:ea typeface="Calibri" pitchFamily="34" charset="-122"/>
                <a:cs typeface="Calibri" pitchFamily="34" charset="-120"/>
              </a:rPr>
              <a:t>applications</a:t>
            </a:r>
            <a:endParaRPr lang="en-US" sz="1600" dirty="0"/>
          </a:p>
        </p:txBody>
      </p:sp>
      <p:sp>
        <p:nvSpPr>
          <p:cNvPr id="35" name="Text 33"/>
          <p:cNvSpPr txBox="1"/>
          <p:nvPr/>
        </p:nvSpPr>
        <p:spPr>
          <a:xfrm>
            <a:off x="6080760" y="2889504"/>
            <a:ext cx="260604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forms you fill in to ask for a place or a job</a:t>
            </a:r>
            <a:endParaRPr lang="en-US" sz="1350" dirty="0"/>
          </a:p>
        </p:txBody>
      </p:sp>
      <p:sp>
        <p:nvSpPr>
          <p:cNvPr id="36" name="Shape 34"/>
          <p:cNvSpPr/>
          <p:nvPr/>
        </p:nvSpPr>
        <p:spPr>
          <a:xfrm>
            <a:off x="365760" y="3511296"/>
            <a:ext cx="4160520" cy="548640"/>
          </a:xfrm>
          <a:prstGeom prst="roundRect">
            <a:avLst>
              <a:gd name="adj" fmla="val 13333"/>
            </a:avLst>
          </a:prstGeom>
          <a:solidFill>
            <a:srgbClr val="E3F0FB"/>
          </a:solidFill>
          <a:ln w="15875">
            <a:solidFill>
              <a:srgbClr val="90B4D8"/>
            </a:solidFill>
            <a:prstDash val="solid"/>
          </a:ln>
        </p:spPr>
      </p:sp>
      <p:sp>
        <p:nvSpPr>
          <p:cNvPr id="37" name="Text 35"/>
          <p:cNvSpPr txBox="1"/>
          <p:nvPr/>
        </p:nvSpPr>
        <p:spPr>
          <a:xfrm>
            <a:off x="502920" y="3511296"/>
            <a:ext cx="1325880" cy="548640"/>
          </a:xfrm>
          <a:prstGeom prst="rect">
            <a:avLst/>
          </a:prstGeom>
          <a:noFill/>
          <a:ln/>
        </p:spPr>
        <p:txBody>
          <a:bodyPr wrap="square" lIns="0" tIns="0" rIns="0" bIns="0"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sign</a:t>
            </a:r>
            <a:endParaRPr lang="en-US" sz="1600" dirty="0"/>
          </a:p>
        </p:txBody>
      </p:sp>
      <p:sp>
        <p:nvSpPr>
          <p:cNvPr id="38" name="Text 36"/>
          <p:cNvSpPr txBox="1"/>
          <p:nvPr/>
        </p:nvSpPr>
        <p:spPr>
          <a:xfrm>
            <a:off x="1828800" y="3511296"/>
            <a:ext cx="260604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a notice with writing on it</a:t>
            </a:r>
            <a:endParaRPr lang="en-US" sz="1350" dirty="0"/>
          </a:p>
        </p:txBody>
      </p:sp>
      <p:sp>
        <p:nvSpPr>
          <p:cNvPr id="39" name="Shape 37"/>
          <p:cNvSpPr/>
          <p:nvPr/>
        </p:nvSpPr>
        <p:spPr>
          <a:xfrm>
            <a:off x="4617720" y="3511296"/>
            <a:ext cx="4160520" cy="548640"/>
          </a:xfrm>
          <a:prstGeom prst="roundRect">
            <a:avLst>
              <a:gd name="adj" fmla="val 13333"/>
            </a:avLst>
          </a:prstGeom>
          <a:solidFill>
            <a:srgbClr val="D7ECEA"/>
          </a:solidFill>
          <a:ln w="15875">
            <a:solidFill>
              <a:srgbClr val="7FC4BB"/>
            </a:solidFill>
            <a:prstDash val="solid"/>
          </a:ln>
        </p:spPr>
      </p:sp>
      <p:sp>
        <p:nvSpPr>
          <p:cNvPr id="40" name="Text 38"/>
          <p:cNvSpPr txBox="1"/>
          <p:nvPr/>
        </p:nvSpPr>
        <p:spPr>
          <a:xfrm>
            <a:off x="4754880" y="3511296"/>
            <a:ext cx="1325880" cy="548640"/>
          </a:xfrm>
          <a:prstGeom prst="rect">
            <a:avLst/>
          </a:prstGeom>
          <a:noFill/>
          <a:ln/>
        </p:spPr>
        <p:txBody>
          <a:bodyPr wrap="square" lIns="0" tIns="0" rIns="0" bIns="0" rtlCol="0" anchor="ctr"/>
          <a:lstStyle/>
          <a:p>
            <a:pPr indent="0" marL="0">
              <a:buNone/>
            </a:pPr>
            <a:r>
              <a:rPr lang="en-US" sz="1600" b="1" dirty="0">
                <a:solidFill>
                  <a:srgbClr val="00897B"/>
                </a:solidFill>
                <a:latin typeface="Calibri" pitchFamily="34" charset="0"/>
                <a:ea typeface="Calibri" pitchFamily="34" charset="-122"/>
                <a:cs typeface="Calibri" pitchFamily="34" charset="-120"/>
              </a:rPr>
              <a:t>wall</a:t>
            </a:r>
            <a:endParaRPr lang="en-US" sz="1600" dirty="0"/>
          </a:p>
        </p:txBody>
      </p:sp>
      <p:sp>
        <p:nvSpPr>
          <p:cNvPr id="41" name="Text 39"/>
          <p:cNvSpPr txBox="1"/>
          <p:nvPr/>
        </p:nvSpPr>
        <p:spPr>
          <a:xfrm>
            <a:off x="6080760" y="3511296"/>
            <a:ext cx="260604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here, a low wall by the river that people sit on</a:t>
            </a:r>
            <a:endParaRPr lang="en-US" sz="1350" dirty="0"/>
          </a:p>
        </p:txBody>
      </p:sp>
      <p:sp>
        <p:nvSpPr>
          <p:cNvPr id="42" name="Shape 40"/>
          <p:cNvSpPr/>
          <p:nvPr/>
        </p:nvSpPr>
        <p:spPr>
          <a:xfrm>
            <a:off x="365760" y="4133088"/>
            <a:ext cx="4160520" cy="548640"/>
          </a:xfrm>
          <a:prstGeom prst="roundRect">
            <a:avLst>
              <a:gd name="adj" fmla="val 13333"/>
            </a:avLst>
          </a:prstGeom>
          <a:solidFill>
            <a:srgbClr val="E3F0FB"/>
          </a:solidFill>
          <a:ln w="15875">
            <a:solidFill>
              <a:srgbClr val="90B4D8"/>
            </a:solidFill>
            <a:prstDash val="solid"/>
          </a:ln>
        </p:spPr>
      </p:sp>
      <p:sp>
        <p:nvSpPr>
          <p:cNvPr id="43" name="Text 41"/>
          <p:cNvSpPr txBox="1"/>
          <p:nvPr/>
        </p:nvSpPr>
        <p:spPr>
          <a:xfrm>
            <a:off x="502920" y="4133088"/>
            <a:ext cx="1325880" cy="548640"/>
          </a:xfrm>
          <a:prstGeom prst="rect">
            <a:avLst/>
          </a:prstGeom>
          <a:noFill/>
          <a:ln/>
        </p:spPr>
        <p:txBody>
          <a:bodyPr wrap="square" lIns="0" tIns="0" rIns="0" bIns="0" rtlCol="0" anchor="ctr"/>
          <a:lstStyle/>
          <a:p>
            <a:pPr indent="0" marL="0">
              <a:buNone/>
            </a:pPr>
            <a:r>
              <a:rPr lang="en-US" sz="1600" b="1" dirty="0">
                <a:solidFill>
                  <a:srgbClr val="1565C0"/>
                </a:solidFill>
                <a:latin typeface="Calibri" pitchFamily="34" charset="0"/>
                <a:ea typeface="Calibri" pitchFamily="34" charset="-122"/>
                <a:cs typeface="Calibri" pitchFamily="34" charset="-120"/>
              </a:rPr>
              <a:t>heavy</a:t>
            </a:r>
            <a:endParaRPr lang="en-US" sz="1600" dirty="0"/>
          </a:p>
        </p:txBody>
      </p:sp>
      <p:sp>
        <p:nvSpPr>
          <p:cNvPr id="44" name="Text 42"/>
          <p:cNvSpPr txBox="1"/>
          <p:nvPr/>
        </p:nvSpPr>
        <p:spPr>
          <a:xfrm>
            <a:off x="1828800" y="4133088"/>
            <a:ext cx="260604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here, wet enough to hang down</a:t>
            </a:r>
            <a:endParaRPr lang="en-US" sz="1350" dirty="0"/>
          </a:p>
        </p:txBody>
      </p:sp>
      <p:sp>
        <p:nvSpPr>
          <p:cNvPr id="45" name="Shape 43"/>
          <p:cNvSpPr/>
          <p:nvPr/>
        </p:nvSpPr>
        <p:spPr>
          <a:xfrm>
            <a:off x="4617720" y="4133088"/>
            <a:ext cx="4160520" cy="548640"/>
          </a:xfrm>
          <a:prstGeom prst="roundRect">
            <a:avLst>
              <a:gd name="adj" fmla="val 13333"/>
            </a:avLst>
          </a:prstGeom>
          <a:solidFill>
            <a:srgbClr val="D7ECEA"/>
          </a:solidFill>
          <a:ln w="15875">
            <a:solidFill>
              <a:srgbClr val="7FC4BB"/>
            </a:solidFill>
            <a:prstDash val="solid"/>
          </a:ln>
        </p:spPr>
      </p:sp>
      <p:sp>
        <p:nvSpPr>
          <p:cNvPr id="46" name="Text 44"/>
          <p:cNvSpPr txBox="1"/>
          <p:nvPr/>
        </p:nvSpPr>
        <p:spPr>
          <a:xfrm>
            <a:off x="4754880" y="4133088"/>
            <a:ext cx="1325880" cy="548640"/>
          </a:xfrm>
          <a:prstGeom prst="rect">
            <a:avLst/>
          </a:prstGeom>
          <a:noFill/>
          <a:ln/>
        </p:spPr>
        <p:txBody>
          <a:bodyPr wrap="square" lIns="0" tIns="0" rIns="0" bIns="0" rtlCol="0" anchor="ctr"/>
          <a:lstStyle/>
          <a:p>
            <a:pPr indent="0" marL="0">
              <a:buNone/>
            </a:pPr>
            <a:r>
              <a:rPr lang="en-US" sz="1600" b="1" dirty="0">
                <a:solidFill>
                  <a:srgbClr val="00897B"/>
                </a:solidFill>
                <a:latin typeface="Calibri" pitchFamily="34" charset="0"/>
                <a:ea typeface="Calibri" pitchFamily="34" charset="-122"/>
                <a:cs typeface="Calibri" pitchFamily="34" charset="-120"/>
              </a:rPr>
              <a:t>quiet</a:t>
            </a:r>
            <a:endParaRPr lang="en-US" sz="1600" dirty="0"/>
          </a:p>
        </p:txBody>
      </p:sp>
      <p:sp>
        <p:nvSpPr>
          <p:cNvPr id="47" name="Text 45"/>
          <p:cNvSpPr txBox="1"/>
          <p:nvPr/>
        </p:nvSpPr>
        <p:spPr>
          <a:xfrm>
            <a:off x="6080760" y="4133088"/>
            <a:ext cx="2606040" cy="54864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here, saying nothing</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YOUR TURN</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Your turn: Parts C and D</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C — On the page</a:t>
            </a:r>
            <a:endParaRPr lang="en-US" sz="950" dirty="0"/>
          </a:p>
        </p:txBody>
      </p:sp>
      <p:pic>
        <p:nvPicPr>
          <p:cNvPr id="17" name="Image 0" descr="out/ws/icon-pen.png">    </p:cNvPr>
          <p:cNvPicPr>
            <a:picLocks noChangeAspect="1"/>
          </p:cNvPicPr>
          <p:nvPr/>
        </p:nvPicPr>
        <p:blipFill>
          <a:blip r:embed="rId1"/>
          <a:stretch>
            <a:fillRect/>
          </a:stretch>
        </p:blipFill>
        <p:spPr>
          <a:xfrm>
            <a:off x="640080" y="1600200"/>
            <a:ext cx="1371600" cy="1371600"/>
          </a:xfrm>
          <a:prstGeom prst="rect">
            <a:avLst/>
          </a:prstGeom>
        </p:spPr>
      </p:pic>
      <p:sp>
        <p:nvSpPr>
          <p:cNvPr id="18" name="Text 15"/>
          <p:cNvSpPr txBox="1"/>
          <p:nvPr/>
        </p:nvSpPr>
        <p:spPr>
          <a:xfrm>
            <a:off x="365760" y="3108960"/>
            <a:ext cx="1920240" cy="457200"/>
          </a:xfrm>
          <a:prstGeom prst="rect">
            <a:avLst/>
          </a:prstGeom>
          <a:noFill/>
          <a:ln/>
        </p:spPr>
        <p:txBody>
          <a:bodyPr wrap="square" lIns="0" tIns="0" rIns="0" bIns="0" rtlCol="0" anchor="t"/>
          <a:lstStyle/>
          <a:p>
            <a:pPr algn="ctr" indent="0" marL="0">
              <a:buNone/>
            </a:pPr>
            <a:r>
              <a:rPr lang="en-US" sz="1900" b="1" dirty="0">
                <a:solidFill>
                  <a:srgbClr val="1565C0"/>
                </a:solidFill>
                <a:latin typeface="Calibri" pitchFamily="34" charset="0"/>
                <a:ea typeface="Calibri" pitchFamily="34" charset="-122"/>
                <a:cs typeface="Calibri" pitchFamily="34" charset="-120"/>
              </a:rPr>
              <a:t>On your own.</a:t>
            </a:r>
            <a:endParaRPr lang="en-US" sz="1900" dirty="0"/>
          </a:p>
        </p:txBody>
      </p:sp>
      <p:sp>
        <p:nvSpPr>
          <p:cNvPr id="19" name="Shape 16"/>
          <p:cNvSpPr/>
          <p:nvPr/>
        </p:nvSpPr>
        <p:spPr>
          <a:xfrm>
            <a:off x="2468880" y="1371600"/>
            <a:ext cx="6309360" cy="1005840"/>
          </a:xfrm>
          <a:prstGeom prst="roundRect">
            <a:avLst>
              <a:gd name="adj" fmla="val 7273"/>
            </a:avLst>
          </a:prstGeom>
          <a:solidFill>
            <a:srgbClr val="E3F0FB"/>
          </a:solidFill>
          <a:ln w="15875">
            <a:solidFill>
              <a:srgbClr val="90B4D8"/>
            </a:solidFill>
            <a:prstDash val="solid"/>
          </a:ln>
        </p:spPr>
      </p:sp>
      <p:sp>
        <p:nvSpPr>
          <p:cNvPr id="20" name="Text 17"/>
          <p:cNvSpPr txBox="1"/>
          <p:nvPr/>
        </p:nvSpPr>
        <p:spPr>
          <a:xfrm>
            <a:off x="2651760" y="1444752"/>
            <a:ext cx="594360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Part C — On the page</a:t>
            </a:r>
            <a:endParaRPr lang="en-US" sz="1800" dirty="0"/>
          </a:p>
        </p:txBody>
      </p:sp>
      <p:sp>
        <p:nvSpPr>
          <p:cNvPr id="21" name="Text 18"/>
          <p:cNvSpPr txBox="1"/>
          <p:nvPr/>
        </p:nvSpPr>
        <p:spPr>
          <a:xfrm>
            <a:off x="2651760" y="1810512"/>
            <a:ext cx="5943600" cy="54864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Six questions. The answer is written in the story. Give the line number.</a:t>
            </a:r>
            <a:endParaRPr lang="en-US" sz="1600" dirty="0"/>
          </a:p>
        </p:txBody>
      </p:sp>
      <p:sp>
        <p:nvSpPr>
          <p:cNvPr id="22" name="Shape 19"/>
          <p:cNvSpPr/>
          <p:nvPr/>
        </p:nvSpPr>
        <p:spPr>
          <a:xfrm>
            <a:off x="2468880" y="2487168"/>
            <a:ext cx="6309360" cy="1005840"/>
          </a:xfrm>
          <a:prstGeom prst="roundRect">
            <a:avLst>
              <a:gd name="adj" fmla="val 7273"/>
            </a:avLst>
          </a:prstGeom>
          <a:solidFill>
            <a:srgbClr val="E3F0FB"/>
          </a:solidFill>
          <a:ln w="15875">
            <a:solidFill>
              <a:srgbClr val="90B4D8"/>
            </a:solidFill>
            <a:prstDash val="solid"/>
          </a:ln>
        </p:spPr>
      </p:sp>
      <p:sp>
        <p:nvSpPr>
          <p:cNvPr id="23" name="Text 20"/>
          <p:cNvSpPr txBox="1"/>
          <p:nvPr/>
        </p:nvSpPr>
        <p:spPr>
          <a:xfrm>
            <a:off x="2651760" y="2560320"/>
            <a:ext cx="594360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Part D — Underneath the page</a:t>
            </a:r>
            <a:endParaRPr lang="en-US" sz="1800" dirty="0"/>
          </a:p>
        </p:txBody>
      </p:sp>
      <p:sp>
        <p:nvSpPr>
          <p:cNvPr id="24" name="Text 21"/>
          <p:cNvSpPr txBox="1"/>
          <p:nvPr/>
        </p:nvSpPr>
        <p:spPr>
          <a:xfrm>
            <a:off x="2651760" y="2926080"/>
            <a:ext cx="5943600" cy="54864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Five questions. Work it out, then show the clue: what you think AND why.</a:t>
            </a:r>
            <a:endParaRPr lang="en-US" sz="1600" dirty="0"/>
          </a:p>
        </p:txBody>
      </p:sp>
      <p:sp>
        <p:nvSpPr>
          <p:cNvPr id="25" name="Shape 22"/>
          <p:cNvSpPr/>
          <p:nvPr/>
        </p:nvSpPr>
        <p:spPr>
          <a:xfrm>
            <a:off x="2468880" y="3602736"/>
            <a:ext cx="6309360" cy="1005840"/>
          </a:xfrm>
          <a:prstGeom prst="roundRect">
            <a:avLst>
              <a:gd name="adj" fmla="val 7273"/>
            </a:avLst>
          </a:prstGeom>
          <a:solidFill>
            <a:srgbClr val="FFF3D6"/>
          </a:solidFill>
          <a:ln w="15875">
            <a:solidFill>
              <a:srgbClr val="E0B252"/>
            </a:solidFill>
            <a:prstDash val="solid"/>
          </a:ln>
        </p:spPr>
      </p:sp>
      <p:sp>
        <p:nvSpPr>
          <p:cNvPr id="26" name="Text 23"/>
          <p:cNvSpPr txBox="1"/>
          <p:nvPr/>
        </p:nvSpPr>
        <p:spPr>
          <a:xfrm>
            <a:off x="2651760" y="3675888"/>
            <a:ext cx="5943600" cy="365760"/>
          </a:xfrm>
          <a:prstGeom prst="rect">
            <a:avLst/>
          </a:prstGeom>
          <a:noFill/>
          <a:ln/>
        </p:spPr>
        <p:txBody>
          <a:bodyPr wrap="square" lIns="0" tIns="0" rIns="0" bIns="0" rtlCol="0" anchor="t"/>
          <a:lstStyle/>
          <a:p>
            <a:pPr indent="0" marL="0">
              <a:buNone/>
            </a:pPr>
            <a:r>
              <a:rPr lang="en-US" sz="1800" b="1" dirty="0">
                <a:solidFill>
                  <a:srgbClr val="0B2C4D"/>
                </a:solidFill>
                <a:latin typeface="Calibri" pitchFamily="34" charset="0"/>
                <a:ea typeface="Calibri" pitchFamily="34" charset="-122"/>
                <a:cs typeface="Calibri" pitchFamily="34" charset="-120"/>
              </a:rPr>
              <a:t>Stuck?</a:t>
            </a:r>
            <a:endParaRPr lang="en-US" sz="1800" dirty="0"/>
          </a:p>
        </p:txBody>
      </p:sp>
      <p:sp>
        <p:nvSpPr>
          <p:cNvPr id="27" name="Text 24"/>
          <p:cNvSpPr txBox="1"/>
          <p:nvPr/>
        </p:nvSpPr>
        <p:spPr>
          <a:xfrm>
            <a:off x="2651760" y="4041648"/>
            <a:ext cx="5943600" cy="54864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Fill in a help slip and keep going.</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WORKSHEET WALKTHROUGH</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C — On the page</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C answers</a:t>
            </a:r>
            <a:endParaRPr lang="en-US" sz="950" dirty="0"/>
          </a:p>
        </p:txBody>
      </p:sp>
      <p:sp>
        <p:nvSpPr>
          <p:cNvPr id="17" name="Shape 15"/>
          <p:cNvSpPr/>
          <p:nvPr/>
        </p:nvSpPr>
        <p:spPr>
          <a:xfrm>
            <a:off x="374904" y="1989950"/>
            <a:ext cx="5696712" cy="214658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C-c1.png">    </p:cNvPr>
          <p:cNvPicPr>
            <a:picLocks noChangeAspect="1"/>
          </p:cNvPicPr>
          <p:nvPr/>
        </p:nvPicPr>
        <p:blipFill>
          <a:blip r:embed="rId1"/>
          <a:stretch>
            <a:fillRect/>
          </a:stretch>
        </p:blipFill>
        <p:spPr>
          <a:xfrm>
            <a:off x="411480" y="2026526"/>
            <a:ext cx="5623560" cy="2073428"/>
          </a:xfrm>
          <a:prstGeom prst="rect">
            <a:avLst/>
          </a:prstGeom>
        </p:spPr>
      </p:pic>
      <p:sp>
        <p:nvSpPr>
          <p:cNvPr id="19" name="Shape 16"/>
          <p:cNvSpPr/>
          <p:nvPr/>
        </p:nvSpPr>
        <p:spPr>
          <a:xfrm>
            <a:off x="6263640" y="1417320"/>
            <a:ext cx="2514600" cy="3291840"/>
          </a:xfrm>
          <a:prstGeom prst="roundRect">
            <a:avLst>
              <a:gd name="adj" fmla="val 2909"/>
            </a:avLst>
          </a:prstGeom>
          <a:solidFill>
            <a:srgbClr val="D7ECEA"/>
          </a:solidFill>
          <a:ln w="15875">
            <a:solidFill>
              <a:srgbClr val="7FC4BB"/>
            </a:solidFill>
            <a:prstDash val="solid"/>
          </a:ln>
        </p:spPr>
      </p:sp>
      <p:sp>
        <p:nvSpPr>
          <p:cNvPr id="20" name="Text 17"/>
          <p:cNvSpPr txBox="1"/>
          <p:nvPr/>
        </p:nvSpPr>
        <p:spPr>
          <a:xfrm>
            <a:off x="6400800" y="1554480"/>
            <a:ext cx="2286000" cy="274320"/>
          </a:xfrm>
          <a:prstGeom prst="rect">
            <a:avLst/>
          </a:prstGeom>
          <a:noFill/>
          <a:ln/>
        </p:spPr>
        <p:txBody>
          <a:bodyPr wrap="square" lIns="0" tIns="0" rIns="0" bIns="0" rtlCol="0" anchor="t"/>
          <a:lstStyle/>
          <a:p>
            <a:pPr indent="0" marL="0">
              <a:buNone/>
            </a:pPr>
            <a:r>
              <a:rPr lang="en-US" sz="1100" b="1" spc="200" kern="0" dirty="0">
                <a:solidFill>
                  <a:srgbClr val="00897B"/>
                </a:solidFill>
                <a:latin typeface="Calibri" pitchFamily="34" charset="0"/>
                <a:ea typeface="Calibri" pitchFamily="34" charset="-122"/>
                <a:cs typeface="Calibri" pitchFamily="34" charset="-120"/>
              </a:rPr>
              <a:t>HOW TO COMPLETE IT</a:t>
            </a:r>
            <a:endParaRPr lang="en-US" sz="1100" dirty="0"/>
          </a:p>
        </p:txBody>
      </p:sp>
      <p:sp>
        <p:nvSpPr>
          <p:cNvPr id="21" name="Text 18"/>
          <p:cNvSpPr txBox="1"/>
          <p:nvPr/>
        </p:nvSpPr>
        <p:spPr>
          <a:xfrm>
            <a:off x="6400800" y="1874520"/>
            <a:ext cx="2286000" cy="27432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Find the answer in the story. Write the key words and the line number, like the example. “Line 12” shows exactly where.</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1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C answers — On the page</a:t>
            </a:r>
            <a:endParaRPr lang="en-US" sz="2600" dirty="0"/>
          </a:p>
        </p:txBody>
      </p:sp>
      <p:sp>
        <p:nvSpPr>
          <p:cNvPr id="16" name="Shape 14"/>
          <p:cNvSpPr/>
          <p:nvPr/>
        </p:nvSpPr>
        <p:spPr>
          <a:xfrm>
            <a:off x="374904" y="1501808"/>
            <a:ext cx="8394192" cy="3141151"/>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C-r1.png">    </p:cNvPr>
          <p:cNvPicPr>
            <a:picLocks noChangeAspect="1"/>
          </p:cNvPicPr>
          <p:nvPr/>
        </p:nvPicPr>
        <p:blipFill>
          <a:blip r:embed="rId1"/>
          <a:stretch>
            <a:fillRect/>
          </a:stretch>
        </p:blipFill>
        <p:spPr>
          <a:xfrm>
            <a:off x="411480" y="1538384"/>
            <a:ext cx="8321040" cy="306799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2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C answers — On the page</a:t>
            </a:r>
            <a:endParaRPr lang="en-US" sz="2600" dirty="0"/>
          </a:p>
        </p:txBody>
      </p:sp>
      <p:sp>
        <p:nvSpPr>
          <p:cNvPr id="16" name="Shape 14"/>
          <p:cNvSpPr/>
          <p:nvPr/>
        </p:nvSpPr>
        <p:spPr>
          <a:xfrm>
            <a:off x="374904" y="1580045"/>
            <a:ext cx="8394192" cy="2984678"/>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C-r2.png">    </p:cNvPr>
          <p:cNvPicPr>
            <a:picLocks noChangeAspect="1"/>
          </p:cNvPicPr>
          <p:nvPr/>
        </p:nvPicPr>
        <p:blipFill>
          <a:blip r:embed="rId1"/>
          <a:stretch>
            <a:fillRect/>
          </a:stretch>
        </p:blipFill>
        <p:spPr>
          <a:xfrm>
            <a:off x="411480" y="1616621"/>
            <a:ext cx="8321040" cy="291152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3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C answers — On the page</a:t>
            </a:r>
            <a:endParaRPr lang="en-US" sz="2600" dirty="0"/>
          </a:p>
        </p:txBody>
      </p:sp>
      <p:sp>
        <p:nvSpPr>
          <p:cNvPr id="16" name="Shape 14"/>
          <p:cNvSpPr/>
          <p:nvPr/>
        </p:nvSpPr>
        <p:spPr>
          <a:xfrm>
            <a:off x="374904" y="1580045"/>
            <a:ext cx="8394192" cy="2984678"/>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C-r3.png">    </p:cNvPr>
          <p:cNvPicPr>
            <a:picLocks noChangeAspect="1"/>
          </p:cNvPicPr>
          <p:nvPr/>
        </p:nvPicPr>
        <p:blipFill>
          <a:blip r:embed="rId1"/>
          <a:stretch>
            <a:fillRect/>
          </a:stretch>
        </p:blipFill>
        <p:spPr>
          <a:xfrm>
            <a:off x="411480" y="1616621"/>
            <a:ext cx="8321040" cy="2911526"/>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4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C answers — On the page</a:t>
            </a:r>
            <a:endParaRPr lang="en-US" sz="2600" dirty="0"/>
          </a:p>
        </p:txBody>
      </p:sp>
      <p:sp>
        <p:nvSpPr>
          <p:cNvPr id="16" name="Shape 14"/>
          <p:cNvSpPr/>
          <p:nvPr/>
        </p:nvSpPr>
        <p:spPr>
          <a:xfrm>
            <a:off x="1263502" y="1335024"/>
            <a:ext cx="6616995"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C-r4.png">    </p:cNvPr>
          <p:cNvPicPr>
            <a:picLocks noChangeAspect="1"/>
          </p:cNvPicPr>
          <p:nvPr/>
        </p:nvPicPr>
        <p:blipFill>
          <a:blip r:embed="rId1"/>
          <a:stretch>
            <a:fillRect/>
          </a:stretch>
        </p:blipFill>
        <p:spPr>
          <a:xfrm>
            <a:off x="1300078" y="1371600"/>
            <a:ext cx="6543843" cy="340156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5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C answers — On the page</a:t>
            </a:r>
            <a:endParaRPr lang="en-US" sz="2600" dirty="0"/>
          </a:p>
        </p:txBody>
      </p:sp>
      <p:sp>
        <p:nvSpPr>
          <p:cNvPr id="16" name="Shape 14"/>
          <p:cNvSpPr/>
          <p:nvPr/>
        </p:nvSpPr>
        <p:spPr>
          <a:xfrm>
            <a:off x="1263502" y="1335024"/>
            <a:ext cx="6616995"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C-r5.png">    </p:cNvPr>
          <p:cNvPicPr>
            <a:picLocks noChangeAspect="1"/>
          </p:cNvPicPr>
          <p:nvPr/>
        </p:nvPicPr>
        <p:blipFill>
          <a:blip r:embed="rId1"/>
          <a:stretch>
            <a:fillRect/>
          </a:stretch>
        </p:blipFill>
        <p:spPr>
          <a:xfrm>
            <a:off x="1300078" y="1371600"/>
            <a:ext cx="6543843" cy="3401568"/>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6 OF 6</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C answers — On the page</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D — Underneath the page</a:t>
            </a:r>
            <a:endParaRPr lang="en-US" sz="950" dirty="0"/>
          </a:p>
        </p:txBody>
      </p:sp>
      <p:sp>
        <p:nvSpPr>
          <p:cNvPr id="17" name="Shape 15"/>
          <p:cNvSpPr/>
          <p:nvPr/>
        </p:nvSpPr>
        <p:spPr>
          <a:xfrm>
            <a:off x="1263502" y="1335024"/>
            <a:ext cx="6616995"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C-r6.png">    </p:cNvPr>
          <p:cNvPicPr>
            <a:picLocks noChangeAspect="1"/>
          </p:cNvPicPr>
          <p:nvPr/>
        </p:nvPicPr>
        <p:blipFill>
          <a:blip r:embed="rId1"/>
          <a:stretch>
            <a:fillRect/>
          </a:stretch>
        </p:blipFill>
        <p:spPr>
          <a:xfrm>
            <a:off x="1300078" y="1371600"/>
            <a:ext cx="6543843" cy="340156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WORKSHEET WALKTHROUGH</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D — Underneath the page</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D answers</a:t>
            </a:r>
            <a:endParaRPr lang="en-US" sz="950" dirty="0"/>
          </a:p>
        </p:txBody>
      </p:sp>
      <p:sp>
        <p:nvSpPr>
          <p:cNvPr id="17" name="Shape 15"/>
          <p:cNvSpPr/>
          <p:nvPr/>
        </p:nvSpPr>
        <p:spPr>
          <a:xfrm>
            <a:off x="374904" y="1784118"/>
            <a:ext cx="5696712" cy="2558244"/>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D-c1.png">    </p:cNvPr>
          <p:cNvPicPr>
            <a:picLocks noChangeAspect="1"/>
          </p:cNvPicPr>
          <p:nvPr/>
        </p:nvPicPr>
        <p:blipFill>
          <a:blip r:embed="rId1"/>
          <a:stretch>
            <a:fillRect/>
          </a:stretch>
        </p:blipFill>
        <p:spPr>
          <a:xfrm>
            <a:off x="411480" y="1820694"/>
            <a:ext cx="5623560" cy="2485092"/>
          </a:xfrm>
          <a:prstGeom prst="rect">
            <a:avLst/>
          </a:prstGeom>
        </p:spPr>
      </p:pic>
      <p:sp>
        <p:nvSpPr>
          <p:cNvPr id="19" name="Shape 16"/>
          <p:cNvSpPr/>
          <p:nvPr/>
        </p:nvSpPr>
        <p:spPr>
          <a:xfrm>
            <a:off x="6263640" y="1417320"/>
            <a:ext cx="2514600" cy="3291840"/>
          </a:xfrm>
          <a:prstGeom prst="roundRect">
            <a:avLst>
              <a:gd name="adj" fmla="val 2909"/>
            </a:avLst>
          </a:prstGeom>
          <a:solidFill>
            <a:srgbClr val="D7ECEA"/>
          </a:solidFill>
          <a:ln w="15875">
            <a:solidFill>
              <a:srgbClr val="7FC4BB"/>
            </a:solidFill>
            <a:prstDash val="solid"/>
          </a:ln>
        </p:spPr>
      </p:sp>
      <p:sp>
        <p:nvSpPr>
          <p:cNvPr id="20" name="Text 17"/>
          <p:cNvSpPr txBox="1"/>
          <p:nvPr/>
        </p:nvSpPr>
        <p:spPr>
          <a:xfrm>
            <a:off x="6400800" y="1554480"/>
            <a:ext cx="2286000" cy="274320"/>
          </a:xfrm>
          <a:prstGeom prst="rect">
            <a:avLst/>
          </a:prstGeom>
          <a:noFill/>
          <a:ln/>
        </p:spPr>
        <p:txBody>
          <a:bodyPr wrap="square" lIns="0" tIns="0" rIns="0" bIns="0" rtlCol="0" anchor="t"/>
          <a:lstStyle/>
          <a:p>
            <a:pPr indent="0" marL="0">
              <a:buNone/>
            </a:pPr>
            <a:r>
              <a:rPr lang="en-US" sz="1100" b="1" spc="200" kern="0" dirty="0">
                <a:solidFill>
                  <a:srgbClr val="00897B"/>
                </a:solidFill>
                <a:latin typeface="Calibri" pitchFamily="34" charset="0"/>
                <a:ea typeface="Calibri" pitchFamily="34" charset="-122"/>
                <a:cs typeface="Calibri" pitchFamily="34" charset="-120"/>
              </a:rPr>
              <a:t>HOW TO COMPLETE IT</a:t>
            </a:r>
            <a:endParaRPr lang="en-US" sz="1100" dirty="0"/>
          </a:p>
        </p:txBody>
      </p:sp>
      <p:sp>
        <p:nvSpPr>
          <p:cNvPr id="21" name="Text 18"/>
          <p:cNvSpPr txBox="1"/>
          <p:nvPr/>
        </p:nvSpPr>
        <p:spPr>
          <a:xfrm>
            <a:off x="6400800" y="1874520"/>
            <a:ext cx="2286000" cy="27432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Say what you think, then what made you think it. Use the sentence frame in the box. Quote the story and give the line number.</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1 OF 5</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D answers — Underneath the page</a:t>
            </a:r>
            <a:endParaRPr lang="en-US" sz="2600" dirty="0"/>
          </a:p>
        </p:txBody>
      </p:sp>
      <p:sp>
        <p:nvSpPr>
          <p:cNvPr id="16" name="Shape 14"/>
          <p:cNvSpPr/>
          <p:nvPr/>
        </p:nvSpPr>
        <p:spPr>
          <a:xfrm>
            <a:off x="374904" y="1563280"/>
            <a:ext cx="8394192" cy="3018208"/>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D-r1.png">    </p:cNvPr>
          <p:cNvPicPr>
            <a:picLocks noChangeAspect="1"/>
          </p:cNvPicPr>
          <p:nvPr/>
        </p:nvPicPr>
        <p:blipFill>
          <a:blip r:embed="rId1"/>
          <a:stretch>
            <a:fillRect/>
          </a:stretch>
        </p:blipFill>
        <p:spPr>
          <a:xfrm>
            <a:off x="411480" y="1599856"/>
            <a:ext cx="8321040" cy="2945056"/>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2 OF 5</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D answers — Underneath the page</a:t>
            </a:r>
            <a:endParaRPr lang="en-US" sz="2600" dirty="0"/>
          </a:p>
        </p:txBody>
      </p:sp>
      <p:sp>
        <p:nvSpPr>
          <p:cNvPr id="16" name="Shape 14"/>
          <p:cNvSpPr/>
          <p:nvPr/>
        </p:nvSpPr>
        <p:spPr>
          <a:xfrm>
            <a:off x="374904" y="1417983"/>
            <a:ext cx="8394192" cy="3308802"/>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D-r2.png">    </p:cNvPr>
          <p:cNvPicPr>
            <a:picLocks noChangeAspect="1"/>
          </p:cNvPicPr>
          <p:nvPr/>
        </p:nvPicPr>
        <p:blipFill>
          <a:blip r:embed="rId1"/>
          <a:stretch>
            <a:fillRect/>
          </a:stretch>
        </p:blipFill>
        <p:spPr>
          <a:xfrm>
            <a:off x="411480" y="1454559"/>
            <a:ext cx="8321040" cy="323565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3 OF 5</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D answers — Underneath the page</a:t>
            </a:r>
            <a:endParaRPr lang="en-US" sz="2600" dirty="0"/>
          </a:p>
        </p:txBody>
      </p:sp>
      <p:sp>
        <p:nvSpPr>
          <p:cNvPr id="16" name="Shape 14"/>
          <p:cNvSpPr/>
          <p:nvPr/>
        </p:nvSpPr>
        <p:spPr>
          <a:xfrm>
            <a:off x="374904" y="1423572"/>
            <a:ext cx="8394192" cy="3297625"/>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D-r3.png">    </p:cNvPr>
          <p:cNvPicPr>
            <a:picLocks noChangeAspect="1"/>
          </p:cNvPicPr>
          <p:nvPr/>
        </p:nvPicPr>
        <p:blipFill>
          <a:blip r:embed="rId1"/>
          <a:stretch>
            <a:fillRect/>
          </a:stretch>
        </p:blipFill>
        <p:spPr>
          <a:xfrm>
            <a:off x="411480" y="1460148"/>
            <a:ext cx="8321040" cy="322447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4 OF 5</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D answers — Underneath the page</a:t>
            </a:r>
            <a:endParaRPr lang="en-US" sz="2600" dirty="0"/>
          </a:p>
        </p:txBody>
      </p:sp>
      <p:sp>
        <p:nvSpPr>
          <p:cNvPr id="16" name="Shape 14"/>
          <p:cNvSpPr/>
          <p:nvPr/>
        </p:nvSpPr>
        <p:spPr>
          <a:xfrm>
            <a:off x="374904" y="1431954"/>
            <a:ext cx="8394192" cy="328086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D-r4.png">    </p:cNvPr>
          <p:cNvPicPr>
            <a:picLocks noChangeAspect="1"/>
          </p:cNvPicPr>
          <p:nvPr/>
        </p:nvPicPr>
        <p:blipFill>
          <a:blip r:embed="rId1"/>
          <a:stretch>
            <a:fillRect/>
          </a:stretch>
        </p:blipFill>
        <p:spPr>
          <a:xfrm>
            <a:off x="411480" y="1468530"/>
            <a:ext cx="8321040" cy="3207708"/>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5 OF 5</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D answers — Underneath the page</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Talk it through</a:t>
            </a:r>
            <a:endParaRPr lang="en-US" sz="950" dirty="0"/>
          </a:p>
        </p:txBody>
      </p:sp>
      <p:sp>
        <p:nvSpPr>
          <p:cNvPr id="17" name="Shape 15"/>
          <p:cNvSpPr/>
          <p:nvPr/>
        </p:nvSpPr>
        <p:spPr>
          <a:xfrm>
            <a:off x="374904" y="1588428"/>
            <a:ext cx="8394192" cy="2967913"/>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D-r5.png">    </p:cNvPr>
          <p:cNvPicPr>
            <a:picLocks noChangeAspect="1"/>
          </p:cNvPicPr>
          <p:nvPr/>
        </p:nvPicPr>
        <p:blipFill>
          <a:blip r:embed="rId1"/>
          <a:stretch>
            <a:fillRect/>
          </a:stretch>
        </p:blipFill>
        <p:spPr>
          <a:xfrm>
            <a:off x="411480" y="1625004"/>
            <a:ext cx="8321040" cy="2894761"/>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SPEAKING</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Talk it through</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E — Your reading strategies</a:t>
            </a:r>
            <a:endParaRPr lang="en-US" sz="950" dirty="0"/>
          </a:p>
        </p:txBody>
      </p:sp>
      <p:pic>
        <p:nvPicPr>
          <p:cNvPr id="17" name="Image 0" descr="out/ws/icon-friends.png">    </p:cNvPr>
          <p:cNvPicPr>
            <a:picLocks noChangeAspect="1"/>
          </p:cNvPicPr>
          <p:nvPr/>
        </p:nvPicPr>
        <p:blipFill>
          <a:blip r:embed="rId1"/>
          <a:stretch>
            <a:fillRect/>
          </a:stretch>
        </p:blipFill>
        <p:spPr>
          <a:xfrm>
            <a:off x="594360" y="1463040"/>
            <a:ext cx="1554480" cy="1554480"/>
          </a:xfrm>
          <a:prstGeom prst="rect">
            <a:avLst/>
          </a:prstGeom>
        </p:spPr>
      </p:pic>
      <p:sp>
        <p:nvSpPr>
          <p:cNvPr id="18" name="Text 15"/>
          <p:cNvSpPr txBox="1"/>
          <p:nvPr/>
        </p:nvSpPr>
        <p:spPr>
          <a:xfrm>
            <a:off x="365760" y="3154680"/>
            <a:ext cx="2011680" cy="914400"/>
          </a:xfrm>
          <a:prstGeom prst="rect">
            <a:avLst/>
          </a:prstGeom>
          <a:noFill/>
          <a:ln/>
        </p:spPr>
        <p:txBody>
          <a:bodyPr wrap="square" lIns="0" tIns="0" rIns="0" bIns="0" rtlCol="0" anchor="t"/>
          <a:lstStyle/>
          <a:p>
            <a:pPr algn="ctr" indent="0" marL="0">
              <a:buNone/>
            </a:pPr>
            <a:r>
              <a:rPr lang="en-US" sz="1600" b="1" dirty="0">
                <a:solidFill>
                  <a:srgbClr val="1565C0"/>
                </a:solidFill>
                <a:latin typeface="Calibri" pitchFamily="34" charset="0"/>
                <a:ea typeface="Calibri" pitchFamily="34" charset="-122"/>
                <a:cs typeface="Calibri" pitchFamily="34" charset="-120"/>
              </a:rPr>
              <a:t>With a partner. You do not have to agree.</a:t>
            </a:r>
            <a:endParaRPr lang="en-US" sz="1600" dirty="0"/>
          </a:p>
        </p:txBody>
      </p:sp>
      <p:sp>
        <p:nvSpPr>
          <p:cNvPr id="19" name="Shape 16"/>
          <p:cNvSpPr/>
          <p:nvPr/>
        </p:nvSpPr>
        <p:spPr>
          <a:xfrm>
            <a:off x="2560320" y="1371600"/>
            <a:ext cx="6217920" cy="731520"/>
          </a:xfrm>
          <a:prstGeom prst="roundRect">
            <a:avLst>
              <a:gd name="adj" fmla="val 10000"/>
            </a:avLst>
          </a:prstGeom>
          <a:solidFill>
            <a:srgbClr val="E3F0FB"/>
          </a:solidFill>
          <a:ln w="15875">
            <a:solidFill>
              <a:srgbClr val="90B4D8"/>
            </a:solidFill>
            <a:prstDash val="solid"/>
          </a:ln>
        </p:spPr>
      </p:sp>
      <p:sp>
        <p:nvSpPr>
          <p:cNvPr id="20" name="Text 17"/>
          <p:cNvSpPr txBox="1"/>
          <p:nvPr/>
        </p:nvSpPr>
        <p:spPr>
          <a:xfrm>
            <a:off x="2743200" y="1371600"/>
            <a:ext cx="594360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Compare your reading: which words did you underline? Where are your stars? What confused you?</a:t>
            </a:r>
            <a:endParaRPr lang="en-US" sz="1600" dirty="0"/>
          </a:p>
        </p:txBody>
      </p:sp>
      <p:sp>
        <p:nvSpPr>
          <p:cNvPr id="21" name="Shape 18"/>
          <p:cNvSpPr/>
          <p:nvPr/>
        </p:nvSpPr>
        <p:spPr>
          <a:xfrm>
            <a:off x="2560320" y="2240280"/>
            <a:ext cx="6217920" cy="2468880"/>
          </a:xfrm>
          <a:prstGeom prst="roundRect">
            <a:avLst>
              <a:gd name="adj" fmla="val 2963"/>
            </a:avLst>
          </a:prstGeom>
          <a:solidFill>
            <a:srgbClr val="D7ECEA"/>
          </a:solidFill>
          <a:ln w="15875">
            <a:solidFill>
              <a:srgbClr val="7FC4BB"/>
            </a:solidFill>
            <a:prstDash val="solid"/>
          </a:ln>
        </p:spPr>
      </p:sp>
      <p:sp>
        <p:nvSpPr>
          <p:cNvPr id="22" name="Text 19"/>
          <p:cNvSpPr txBox="1"/>
          <p:nvPr/>
        </p:nvSpPr>
        <p:spPr>
          <a:xfrm>
            <a:off x="2743200" y="2331720"/>
            <a:ext cx="5486400" cy="274320"/>
          </a:xfrm>
          <a:prstGeom prst="rect">
            <a:avLst/>
          </a:prstGeom>
          <a:noFill/>
          <a:ln/>
        </p:spPr>
        <p:txBody>
          <a:bodyPr wrap="square" lIns="0" tIns="0" rIns="0" bIns="0" rtlCol="0" anchor="t"/>
          <a:lstStyle/>
          <a:p>
            <a:pPr indent="0" marL="0">
              <a:buNone/>
            </a:pPr>
            <a:r>
              <a:rPr lang="en-US" sz="1200" b="1" spc="200" kern="0" dirty="0">
                <a:solidFill>
                  <a:srgbClr val="00897B"/>
                </a:solidFill>
                <a:latin typeface="Calibri" pitchFamily="34" charset="0"/>
                <a:ea typeface="Calibri" pitchFamily="34" charset="-122"/>
                <a:cs typeface="Calibri" pitchFamily="34" charset="-120"/>
              </a:rPr>
              <a:t>SENTENCE FRAMES</a:t>
            </a:r>
            <a:endParaRPr lang="en-US" sz="1200" dirty="0"/>
          </a:p>
        </p:txBody>
      </p:sp>
      <p:sp>
        <p:nvSpPr>
          <p:cNvPr id="23" name="Text 20"/>
          <p:cNvSpPr txBox="1"/>
          <p:nvPr/>
        </p:nvSpPr>
        <p:spPr>
          <a:xfrm>
            <a:off x="2743200" y="2651760"/>
            <a:ext cx="5943600" cy="2011680"/>
          </a:xfrm>
          <a:prstGeom prst="rect">
            <a:avLst/>
          </a:prstGeom>
          <a:noFill/>
          <a:ln/>
        </p:spPr>
        <p:txBody>
          <a:bodyPr wrap="square" lIns="0" tIns="0" rIns="0" bIns="0" rtlCol="0" anchor="t"/>
          <a:lstStyle/>
          <a:p>
            <a:pPr indent="0" marL="0">
              <a:spcAft>
                <a:spcPts val="1000"/>
              </a:spcAft>
              <a:buNone/>
            </a:pPr>
            <a:r>
              <a:rPr lang="en-US" sz="1800" i="1" dirty="0">
                <a:solidFill>
                  <a:srgbClr val="0B2C4D"/>
                </a:solidFill>
                <a:latin typeface="Calibri" pitchFamily="34" charset="0"/>
                <a:ea typeface="Calibri" pitchFamily="34" charset="-122"/>
                <a:cs typeface="Calibri" pitchFamily="34" charset="-120"/>
              </a:rPr>
              <a:t>I underlined _____ because _____.</a:t>
            </a:r>
            <a:endParaRPr lang="en-US" sz="1800" dirty="0"/>
          </a:p>
          <a:p>
            <a:pPr indent="0" marL="0">
              <a:spcAft>
                <a:spcPts val="1000"/>
              </a:spcAft>
              <a:buNone/>
            </a:pPr>
            <a:r>
              <a:rPr lang="en-US" sz="1800" i="1" dirty="0">
                <a:solidFill>
                  <a:srgbClr val="0B2C4D"/>
                </a:solidFill>
                <a:latin typeface="Calibri" pitchFamily="34" charset="0"/>
                <a:ea typeface="Calibri" pitchFamily="34" charset="-122"/>
                <a:cs typeface="Calibri" pitchFamily="34" charset="-120"/>
              </a:rPr>
              <a:t>I put a star beside _____ because I could picture _____.</a:t>
            </a:r>
            <a:endParaRPr lang="en-US" sz="1800" dirty="0"/>
          </a:p>
          <a:p>
            <a:pPr indent="0" marL="0">
              <a:spcAft>
                <a:spcPts val="1000"/>
              </a:spcAft>
              <a:buNone/>
            </a:pPr>
            <a:r>
              <a:rPr lang="en-US" sz="1800" i="1" dirty="0">
                <a:solidFill>
                  <a:srgbClr val="0B2C4D"/>
                </a:solidFill>
                <a:latin typeface="Calibri" pitchFamily="34" charset="0"/>
                <a:ea typeface="Calibri" pitchFamily="34" charset="-122"/>
                <a:cs typeface="Calibri" pitchFamily="34" charset="-120"/>
              </a:rPr>
              <a:t>The part I did not understand was _____.</a:t>
            </a:r>
            <a:endParaRPr lang="en-US" sz="1800" dirty="0"/>
          </a:p>
          <a:p>
            <a:pPr indent="0" marL="0">
              <a:spcAft>
                <a:spcPts val="1000"/>
              </a:spcAft>
              <a:buNone/>
            </a:pPr>
            <a:r>
              <a:rPr lang="en-US" sz="1800" i="1" dirty="0">
                <a:solidFill>
                  <a:srgbClr val="0B2C4D"/>
                </a:solidFill>
                <a:latin typeface="Calibri" pitchFamily="34" charset="0"/>
                <a:ea typeface="Calibri" pitchFamily="34" charset="-122"/>
                <a:cs typeface="Calibri" pitchFamily="34" charset="-120"/>
              </a:rPr>
              <a:t>I think _____ means _____, because the sentence says _____.</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WORKSHEET WALKTHROUGH</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E — Your reading strategies</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F — Check your understanding</a:t>
            </a:r>
            <a:endParaRPr lang="en-US" sz="950" dirty="0"/>
          </a:p>
        </p:txBody>
      </p:sp>
      <p:sp>
        <p:nvSpPr>
          <p:cNvPr id="17" name="Shape 15"/>
          <p:cNvSpPr/>
          <p:nvPr/>
        </p:nvSpPr>
        <p:spPr>
          <a:xfrm>
            <a:off x="374904" y="1538630"/>
            <a:ext cx="5696712" cy="30492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E-c1.png">    </p:cNvPr>
          <p:cNvPicPr>
            <a:picLocks noChangeAspect="1"/>
          </p:cNvPicPr>
          <p:nvPr/>
        </p:nvPicPr>
        <p:blipFill>
          <a:blip r:embed="rId1"/>
          <a:stretch>
            <a:fillRect/>
          </a:stretch>
        </p:blipFill>
        <p:spPr>
          <a:xfrm>
            <a:off x="411480" y="1575206"/>
            <a:ext cx="5623560" cy="2976068"/>
          </a:xfrm>
          <a:prstGeom prst="rect">
            <a:avLst/>
          </a:prstGeom>
        </p:spPr>
      </p:pic>
      <p:sp>
        <p:nvSpPr>
          <p:cNvPr id="19" name="Shape 16"/>
          <p:cNvSpPr/>
          <p:nvPr/>
        </p:nvSpPr>
        <p:spPr>
          <a:xfrm>
            <a:off x="6263640" y="1417320"/>
            <a:ext cx="2514600" cy="3291840"/>
          </a:xfrm>
          <a:prstGeom prst="roundRect">
            <a:avLst>
              <a:gd name="adj" fmla="val 2909"/>
            </a:avLst>
          </a:prstGeom>
          <a:solidFill>
            <a:srgbClr val="D7ECEA"/>
          </a:solidFill>
          <a:ln w="15875">
            <a:solidFill>
              <a:srgbClr val="7FC4BB"/>
            </a:solidFill>
            <a:prstDash val="solid"/>
          </a:ln>
        </p:spPr>
      </p:sp>
      <p:sp>
        <p:nvSpPr>
          <p:cNvPr id="20" name="Text 17"/>
          <p:cNvSpPr txBox="1"/>
          <p:nvPr/>
        </p:nvSpPr>
        <p:spPr>
          <a:xfrm>
            <a:off x="6400800" y="1554480"/>
            <a:ext cx="2286000" cy="274320"/>
          </a:xfrm>
          <a:prstGeom prst="rect">
            <a:avLst/>
          </a:prstGeom>
          <a:noFill/>
          <a:ln/>
        </p:spPr>
        <p:txBody>
          <a:bodyPr wrap="square" lIns="0" tIns="0" rIns="0" bIns="0" rtlCol="0" anchor="t"/>
          <a:lstStyle/>
          <a:p>
            <a:pPr indent="0" marL="0">
              <a:buNone/>
            </a:pPr>
            <a:r>
              <a:rPr lang="en-US" sz="1100" b="1" spc="200" kern="0" dirty="0">
                <a:solidFill>
                  <a:srgbClr val="00897B"/>
                </a:solidFill>
                <a:latin typeface="Calibri" pitchFamily="34" charset="0"/>
                <a:ea typeface="Calibri" pitchFamily="34" charset="-122"/>
                <a:cs typeface="Calibri" pitchFamily="34" charset="-120"/>
              </a:rPr>
              <a:t>HOW TO COMPLETE IT</a:t>
            </a:r>
            <a:endParaRPr lang="en-US" sz="1100" dirty="0"/>
          </a:p>
        </p:txBody>
      </p:sp>
      <p:sp>
        <p:nvSpPr>
          <p:cNvPr id="21" name="Text 18"/>
          <p:cNvSpPr txBox="1"/>
          <p:nvPr/>
        </p:nvSpPr>
        <p:spPr>
          <a:xfrm>
            <a:off x="6400800" y="1874520"/>
            <a:ext cx="2286000" cy="27432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Write one strategy per line — anything you did to understand the story. There is no wrong answer: this is your own reading.</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WORKSHEET WALKTHROUGH</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F — Check your understanding</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F answers</a:t>
            </a:r>
            <a:endParaRPr lang="en-US" sz="950" dirty="0"/>
          </a:p>
        </p:txBody>
      </p:sp>
      <p:sp>
        <p:nvSpPr>
          <p:cNvPr id="17" name="Shape 15"/>
          <p:cNvSpPr/>
          <p:nvPr/>
        </p:nvSpPr>
        <p:spPr>
          <a:xfrm>
            <a:off x="374904" y="1485756"/>
            <a:ext cx="5696712" cy="3154969"/>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F-c1.png">    </p:cNvPr>
          <p:cNvPicPr>
            <a:picLocks noChangeAspect="1"/>
          </p:cNvPicPr>
          <p:nvPr/>
        </p:nvPicPr>
        <p:blipFill>
          <a:blip r:embed="rId1"/>
          <a:stretch>
            <a:fillRect/>
          </a:stretch>
        </p:blipFill>
        <p:spPr>
          <a:xfrm>
            <a:off x="411480" y="1522332"/>
            <a:ext cx="5623560" cy="3081817"/>
          </a:xfrm>
          <a:prstGeom prst="rect">
            <a:avLst/>
          </a:prstGeom>
        </p:spPr>
      </p:pic>
      <p:sp>
        <p:nvSpPr>
          <p:cNvPr id="19" name="Shape 16"/>
          <p:cNvSpPr/>
          <p:nvPr/>
        </p:nvSpPr>
        <p:spPr>
          <a:xfrm>
            <a:off x="6263640" y="1417320"/>
            <a:ext cx="2514600" cy="3291840"/>
          </a:xfrm>
          <a:prstGeom prst="roundRect">
            <a:avLst>
              <a:gd name="adj" fmla="val 2909"/>
            </a:avLst>
          </a:prstGeom>
          <a:solidFill>
            <a:srgbClr val="D7ECEA"/>
          </a:solidFill>
          <a:ln w="15875">
            <a:solidFill>
              <a:srgbClr val="7FC4BB"/>
            </a:solidFill>
            <a:prstDash val="solid"/>
          </a:ln>
        </p:spPr>
      </p:sp>
      <p:sp>
        <p:nvSpPr>
          <p:cNvPr id="20" name="Text 17"/>
          <p:cNvSpPr txBox="1"/>
          <p:nvPr/>
        </p:nvSpPr>
        <p:spPr>
          <a:xfrm>
            <a:off x="6400800" y="1554480"/>
            <a:ext cx="2286000" cy="274320"/>
          </a:xfrm>
          <a:prstGeom prst="rect">
            <a:avLst/>
          </a:prstGeom>
          <a:noFill/>
          <a:ln/>
        </p:spPr>
        <p:txBody>
          <a:bodyPr wrap="square" lIns="0" tIns="0" rIns="0" bIns="0" rtlCol="0" anchor="t"/>
          <a:lstStyle/>
          <a:p>
            <a:pPr indent="0" marL="0">
              <a:buNone/>
            </a:pPr>
            <a:r>
              <a:rPr lang="en-US" sz="1100" b="1" spc="200" kern="0" dirty="0">
                <a:solidFill>
                  <a:srgbClr val="00897B"/>
                </a:solidFill>
                <a:latin typeface="Calibri" pitchFamily="34" charset="0"/>
                <a:ea typeface="Calibri" pitchFamily="34" charset="-122"/>
                <a:cs typeface="Calibri" pitchFamily="34" charset="-120"/>
              </a:rPr>
              <a:t>HOW TO COMPLETE IT</a:t>
            </a:r>
            <a:endParaRPr lang="en-US" sz="1100" dirty="0"/>
          </a:p>
        </p:txBody>
      </p:sp>
      <p:sp>
        <p:nvSpPr>
          <p:cNvPr id="21" name="Text 18"/>
          <p:cNvSpPr txBox="1"/>
          <p:nvPr/>
        </p:nvSpPr>
        <p:spPr>
          <a:xfrm>
            <a:off x="6400800" y="1874520"/>
            <a:ext cx="2286000" cy="27432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Answer each question in complete sentences, like the example. Use today’s words: literal, inference, evidence.</a:t>
            </a:r>
            <a:endParaRPr lang="en-US"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1 OF 2</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F answers — Check your understanding</a:t>
            </a:r>
            <a:endParaRPr lang="en-US" sz="2600" dirty="0"/>
          </a:p>
        </p:txBody>
      </p:sp>
      <p:sp>
        <p:nvSpPr>
          <p:cNvPr id="16" name="Shape 14"/>
          <p:cNvSpPr/>
          <p:nvPr/>
        </p:nvSpPr>
        <p:spPr>
          <a:xfrm>
            <a:off x="1431910" y="1335024"/>
            <a:ext cx="6280180" cy="347472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7" name="Image 0" descr="out/ws/partF-r1.png">    </p:cNvPr>
          <p:cNvPicPr>
            <a:picLocks noChangeAspect="1"/>
          </p:cNvPicPr>
          <p:nvPr/>
        </p:nvPicPr>
        <p:blipFill>
          <a:blip r:embed="rId1"/>
          <a:stretch>
            <a:fillRect/>
          </a:stretch>
        </p:blipFill>
        <p:spPr>
          <a:xfrm>
            <a:off x="1468486" y="1371600"/>
            <a:ext cx="6207028" cy="3401568"/>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ANSWERS · 2 OF 2</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F answers — Check your understanding</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Part G — Check your work</a:t>
            </a:r>
            <a:endParaRPr lang="en-US" sz="950" dirty="0"/>
          </a:p>
        </p:txBody>
      </p:sp>
      <p:sp>
        <p:nvSpPr>
          <p:cNvPr id="17" name="Shape 15"/>
          <p:cNvSpPr/>
          <p:nvPr/>
        </p:nvSpPr>
        <p:spPr>
          <a:xfrm>
            <a:off x="374904" y="1429160"/>
            <a:ext cx="8394192" cy="3286448"/>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F-r2.png">    </p:cNvPr>
          <p:cNvPicPr>
            <a:picLocks noChangeAspect="1"/>
          </p:cNvPicPr>
          <p:nvPr/>
        </p:nvPicPr>
        <p:blipFill>
          <a:blip r:embed="rId1"/>
          <a:stretch>
            <a:fillRect/>
          </a:stretch>
        </p:blipFill>
        <p:spPr>
          <a:xfrm>
            <a:off x="411480" y="1465736"/>
            <a:ext cx="8321040" cy="3213296"/>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WORKSHEET WALKTHROUGH</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Part G — Check your work</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Exit ticket</a:t>
            </a:r>
            <a:endParaRPr lang="en-US" sz="950" dirty="0"/>
          </a:p>
        </p:txBody>
      </p:sp>
      <p:sp>
        <p:nvSpPr>
          <p:cNvPr id="17" name="Shape 15"/>
          <p:cNvSpPr/>
          <p:nvPr/>
        </p:nvSpPr>
        <p:spPr>
          <a:xfrm>
            <a:off x="374904" y="2042824"/>
            <a:ext cx="5696712" cy="2040831"/>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18" name="Image 0" descr="out/ws/partG-c1.png">    </p:cNvPr>
          <p:cNvPicPr>
            <a:picLocks noChangeAspect="1"/>
          </p:cNvPicPr>
          <p:nvPr/>
        </p:nvPicPr>
        <p:blipFill>
          <a:blip r:embed="rId1"/>
          <a:stretch>
            <a:fillRect/>
          </a:stretch>
        </p:blipFill>
        <p:spPr>
          <a:xfrm>
            <a:off x="411480" y="2079400"/>
            <a:ext cx="5623560" cy="1967679"/>
          </a:xfrm>
          <a:prstGeom prst="rect">
            <a:avLst/>
          </a:prstGeom>
        </p:spPr>
      </p:pic>
      <p:sp>
        <p:nvSpPr>
          <p:cNvPr id="19" name="Shape 16"/>
          <p:cNvSpPr/>
          <p:nvPr/>
        </p:nvSpPr>
        <p:spPr>
          <a:xfrm>
            <a:off x="6263640" y="1417320"/>
            <a:ext cx="2514600" cy="3291840"/>
          </a:xfrm>
          <a:prstGeom prst="roundRect">
            <a:avLst>
              <a:gd name="adj" fmla="val 2909"/>
            </a:avLst>
          </a:prstGeom>
          <a:solidFill>
            <a:srgbClr val="D7ECEA"/>
          </a:solidFill>
          <a:ln w="15875">
            <a:solidFill>
              <a:srgbClr val="7FC4BB"/>
            </a:solidFill>
            <a:prstDash val="solid"/>
          </a:ln>
        </p:spPr>
      </p:sp>
      <p:sp>
        <p:nvSpPr>
          <p:cNvPr id="20" name="Text 17"/>
          <p:cNvSpPr txBox="1"/>
          <p:nvPr/>
        </p:nvSpPr>
        <p:spPr>
          <a:xfrm>
            <a:off x="6400800" y="1554480"/>
            <a:ext cx="2286000" cy="274320"/>
          </a:xfrm>
          <a:prstGeom prst="rect">
            <a:avLst/>
          </a:prstGeom>
          <a:noFill/>
          <a:ln/>
        </p:spPr>
        <p:txBody>
          <a:bodyPr wrap="square" lIns="0" tIns="0" rIns="0" bIns="0" rtlCol="0" anchor="t"/>
          <a:lstStyle/>
          <a:p>
            <a:pPr indent="0" marL="0">
              <a:buNone/>
            </a:pPr>
            <a:r>
              <a:rPr lang="en-US" sz="1100" b="1" spc="200" kern="0" dirty="0">
                <a:solidFill>
                  <a:srgbClr val="00897B"/>
                </a:solidFill>
                <a:latin typeface="Calibri" pitchFamily="34" charset="0"/>
                <a:ea typeface="Calibri" pitchFamily="34" charset="-122"/>
                <a:cs typeface="Calibri" pitchFamily="34" charset="-120"/>
              </a:rPr>
              <a:t>HOW TO COMPLETE IT</a:t>
            </a:r>
            <a:endParaRPr lang="en-US" sz="1100" dirty="0"/>
          </a:p>
        </p:txBody>
      </p:sp>
      <p:sp>
        <p:nvSpPr>
          <p:cNvPr id="21" name="Text 18"/>
          <p:cNvSpPr txBox="1"/>
          <p:nvPr/>
        </p:nvSpPr>
        <p:spPr>
          <a:xfrm>
            <a:off x="6400800" y="1874520"/>
            <a:ext cx="2286000" cy="27432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Read each sentence. Tick the box only when it is true. If it is not true yet, fix your work first.</a:t>
            </a:r>
            <a:endParaRPr lang="en-US" sz="15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EXIT TICKET</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Exit ticket — Part H</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Next class</a:t>
            </a:r>
            <a:endParaRPr lang="en-US" sz="950" dirty="0"/>
          </a:p>
        </p:txBody>
      </p:sp>
      <p:sp>
        <p:nvSpPr>
          <p:cNvPr id="17" name="Shape 15"/>
          <p:cNvSpPr/>
          <p:nvPr/>
        </p:nvSpPr>
        <p:spPr>
          <a:xfrm>
            <a:off x="365760" y="1371600"/>
            <a:ext cx="4297680" cy="914400"/>
          </a:xfrm>
          <a:prstGeom prst="roundRect">
            <a:avLst>
              <a:gd name="adj" fmla="val 8000"/>
            </a:avLst>
          </a:prstGeom>
          <a:solidFill>
            <a:srgbClr val="FFF3D6"/>
          </a:solidFill>
          <a:ln w="15875">
            <a:solidFill>
              <a:srgbClr val="E0B252"/>
            </a:solidFill>
            <a:prstDash val="solid"/>
          </a:ln>
        </p:spPr>
      </p:sp>
      <p:sp>
        <p:nvSpPr>
          <p:cNvPr id="18" name="Shape 16"/>
          <p:cNvSpPr/>
          <p:nvPr/>
        </p:nvSpPr>
        <p:spPr>
          <a:xfrm>
            <a:off x="502920" y="1600200"/>
            <a:ext cx="457200" cy="457200"/>
          </a:xfrm>
          <a:prstGeom prst="ellipse">
            <a:avLst/>
          </a:prstGeom>
          <a:solidFill>
            <a:srgbClr val="C98A10"/>
          </a:solidFill>
          <a:ln w="12700">
            <a:solidFill>
              <a:srgbClr val="C98A10"/>
            </a:solidFill>
            <a:prstDash val="solid"/>
          </a:ln>
        </p:spPr>
      </p:sp>
      <p:sp>
        <p:nvSpPr>
          <p:cNvPr id="19" name="Text 17"/>
          <p:cNvSpPr txBox="1"/>
          <p:nvPr/>
        </p:nvSpPr>
        <p:spPr>
          <a:xfrm>
            <a:off x="502920" y="1600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0" name="Text 18"/>
          <p:cNvSpPr txBox="1"/>
          <p:nvPr/>
        </p:nvSpPr>
        <p:spPr>
          <a:xfrm>
            <a:off x="1097280" y="1371600"/>
            <a:ext cx="3474720" cy="91440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Name one strategy you used today without being told to use it.</a:t>
            </a:r>
            <a:endParaRPr lang="en-US" sz="1700" dirty="0"/>
          </a:p>
        </p:txBody>
      </p:sp>
      <p:sp>
        <p:nvSpPr>
          <p:cNvPr id="21" name="Shape 19"/>
          <p:cNvSpPr/>
          <p:nvPr/>
        </p:nvSpPr>
        <p:spPr>
          <a:xfrm>
            <a:off x="365760" y="2395728"/>
            <a:ext cx="4297680" cy="914400"/>
          </a:xfrm>
          <a:prstGeom prst="roundRect">
            <a:avLst>
              <a:gd name="adj" fmla="val 8000"/>
            </a:avLst>
          </a:prstGeom>
          <a:solidFill>
            <a:srgbClr val="FFF3D6"/>
          </a:solidFill>
          <a:ln w="15875">
            <a:solidFill>
              <a:srgbClr val="E0B252"/>
            </a:solidFill>
            <a:prstDash val="solid"/>
          </a:ln>
        </p:spPr>
      </p:sp>
      <p:sp>
        <p:nvSpPr>
          <p:cNvPr id="22" name="Shape 20"/>
          <p:cNvSpPr/>
          <p:nvPr/>
        </p:nvSpPr>
        <p:spPr>
          <a:xfrm>
            <a:off x="502920" y="2624328"/>
            <a:ext cx="457200" cy="457200"/>
          </a:xfrm>
          <a:prstGeom prst="ellipse">
            <a:avLst/>
          </a:prstGeom>
          <a:solidFill>
            <a:srgbClr val="C98A10"/>
          </a:solidFill>
          <a:ln w="12700">
            <a:solidFill>
              <a:srgbClr val="C98A10"/>
            </a:solidFill>
            <a:prstDash val="solid"/>
          </a:ln>
        </p:spPr>
      </p:sp>
      <p:sp>
        <p:nvSpPr>
          <p:cNvPr id="23" name="Text 21"/>
          <p:cNvSpPr txBox="1"/>
          <p:nvPr/>
        </p:nvSpPr>
        <p:spPr>
          <a:xfrm>
            <a:off x="502920" y="26243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txBox="1"/>
          <p:nvPr/>
        </p:nvSpPr>
        <p:spPr>
          <a:xfrm>
            <a:off x="1097280" y="2395728"/>
            <a:ext cx="3474720" cy="914400"/>
          </a:xfrm>
          <a:prstGeom prst="rect">
            <a:avLst/>
          </a:prstGeom>
          <a:noFill/>
          <a:ln/>
        </p:spPr>
        <p:txBody>
          <a:bodyPr wrap="square" lIns="0" tIns="0" rIns="0" bIns="0" rtlCol="0" anchor="ctr"/>
          <a:lstStyle/>
          <a:p>
            <a:pPr indent="0" marL="0">
              <a:buNone/>
            </a:pPr>
            <a:r>
              <a:rPr lang="en-US" sz="1700" dirty="0">
                <a:solidFill>
                  <a:srgbClr val="1F2933"/>
                </a:solidFill>
                <a:latin typeface="Calibri" pitchFamily="34" charset="0"/>
                <a:ea typeface="Calibri" pitchFamily="34" charset="-122"/>
                <a:cs typeface="Calibri" pitchFamily="34" charset="-120"/>
              </a:rPr>
              <a:t>Which was harder, the literal questions or the inference questions? Why?</a:t>
            </a:r>
            <a:endParaRPr lang="en-US" sz="1700" dirty="0"/>
          </a:p>
        </p:txBody>
      </p:sp>
      <p:sp>
        <p:nvSpPr>
          <p:cNvPr id="25" name="Shape 23"/>
          <p:cNvSpPr/>
          <p:nvPr/>
        </p:nvSpPr>
        <p:spPr>
          <a:xfrm>
            <a:off x="365760" y="3520440"/>
            <a:ext cx="4297680" cy="1188720"/>
          </a:xfrm>
          <a:prstGeom prst="roundRect">
            <a:avLst>
              <a:gd name="adj" fmla="val 6154"/>
            </a:avLst>
          </a:prstGeom>
          <a:solidFill>
            <a:srgbClr val="D7ECEA"/>
          </a:solidFill>
          <a:ln w="15875">
            <a:solidFill>
              <a:srgbClr val="7FC4BB"/>
            </a:solidFill>
            <a:prstDash val="solid"/>
          </a:ln>
        </p:spPr>
      </p:sp>
      <p:pic>
        <p:nvPicPr>
          <p:cNvPr id="26" name="Image 0" descr="out/ws/icon-folder.png">    </p:cNvPr>
          <p:cNvPicPr>
            <a:picLocks noChangeAspect="1"/>
          </p:cNvPicPr>
          <p:nvPr/>
        </p:nvPicPr>
        <p:blipFill>
          <a:blip r:embed="rId1"/>
          <a:stretch>
            <a:fillRect/>
          </a:stretch>
        </p:blipFill>
        <p:spPr>
          <a:xfrm>
            <a:off x="548640" y="3703320"/>
            <a:ext cx="822960" cy="822960"/>
          </a:xfrm>
          <a:prstGeom prst="rect">
            <a:avLst/>
          </a:prstGeom>
        </p:spPr>
      </p:pic>
      <p:sp>
        <p:nvSpPr>
          <p:cNvPr id="27" name="Text 24"/>
          <p:cNvSpPr txBox="1"/>
          <p:nvPr/>
        </p:nvSpPr>
        <p:spPr>
          <a:xfrm>
            <a:off x="1554480" y="3520440"/>
            <a:ext cx="3017520" cy="1188720"/>
          </a:xfrm>
          <a:prstGeom prst="rect">
            <a:avLst/>
          </a:prstGeom>
          <a:noFill/>
          <a:ln/>
        </p:spPr>
        <p:txBody>
          <a:bodyPr wrap="square" lIns="0" tIns="0" rIns="0" bIns="0" rtlCol="0" anchor="ctr"/>
          <a:lstStyle/>
          <a:p>
            <a:pPr indent="0" marL="0">
              <a:buNone/>
            </a:pPr>
            <a:r>
              <a:rPr lang="en-US" sz="1700" b="1" dirty="0">
                <a:solidFill>
                  <a:srgbClr val="0B2C4D"/>
                </a:solidFill>
                <a:latin typeface="Calibri" pitchFamily="34" charset="0"/>
                <a:ea typeface="Calibri" pitchFamily="34" charset="-122"/>
                <a:cs typeface="Calibri" pitchFamily="34" charset="-120"/>
              </a:rPr>
              <a:t>Finished? Put your whole worksheet in your duotang.</a:t>
            </a:r>
            <a:endParaRPr lang="en-US" sz="1700" dirty="0"/>
          </a:p>
        </p:txBody>
      </p:sp>
      <p:sp>
        <p:nvSpPr>
          <p:cNvPr id="28" name="Shape 25"/>
          <p:cNvSpPr/>
          <p:nvPr/>
        </p:nvSpPr>
        <p:spPr>
          <a:xfrm>
            <a:off x="4855464" y="1778545"/>
            <a:ext cx="4005072" cy="2523670"/>
          </a:xfrm>
          <a:prstGeom prst="rect">
            <a:avLst/>
          </a:prstGeom>
          <a:solidFill>
            <a:srgbClr val="FFFFFF"/>
          </a:solidFill>
          <a:ln w="12700">
            <a:solidFill>
              <a:srgbClr val="90B4D8"/>
            </a:solidFill>
            <a:prstDash val="solid"/>
          </a:ln>
          <a:effectLst>
            <a:outerShdw sx="100000" sy="100000" kx="0" ky="0" algn="bl" rotWithShape="0" blurRad="50800" dist="25400" dir="5400000">
              <a:srgbClr val="000000">
                <a:alpha val="18000"/>
              </a:srgbClr>
            </a:outerShdw>
          </a:effectLst>
        </p:spPr>
      </p:sp>
      <p:pic>
        <p:nvPicPr>
          <p:cNvPr id="29" name="Image 1" descr="out/ws/partH-c1.png">    </p:cNvPr>
          <p:cNvPicPr>
            <a:picLocks noChangeAspect="1"/>
          </p:cNvPicPr>
          <p:nvPr/>
        </p:nvPicPr>
        <p:blipFill>
          <a:blip r:embed="rId2"/>
          <a:stretch>
            <a:fillRect/>
          </a:stretch>
        </p:blipFill>
        <p:spPr>
          <a:xfrm>
            <a:off x="4892040" y="1815121"/>
            <a:ext cx="3931920" cy="2450518"/>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NEXT CLASS</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Next class</a:t>
            </a:r>
            <a:endParaRPr lang="en-US" sz="2600" dirty="0"/>
          </a:p>
        </p:txBody>
      </p:sp>
      <p:sp>
        <p:nvSpPr>
          <p:cNvPr id="16" name="Text 14"/>
          <p:cNvSpPr txBox="1"/>
          <p:nvPr/>
        </p:nvSpPr>
        <p:spPr>
          <a:xfrm>
            <a:off x="5120640" y="4846320"/>
            <a:ext cx="3657600" cy="182880"/>
          </a:xfrm>
          <a:prstGeom prst="rect">
            <a:avLst/>
          </a:prstGeom>
          <a:noFill/>
          <a:ln/>
        </p:spPr>
        <p:txBody>
          <a:bodyPr wrap="square" lIns="0" tIns="0" rIns="0" bIns="0" rtlCol="0" anchor="t"/>
          <a:lstStyle/>
          <a:p>
            <a:pPr algn="r" indent="0" marL="0">
              <a:buNone/>
            </a:pPr>
            <a:r>
              <a:rPr lang="en-US" sz="950" i="1" dirty="0">
                <a:solidFill>
                  <a:srgbClr val="00897B"/>
                </a:solidFill>
                <a:latin typeface="Calibri" pitchFamily="34" charset="0"/>
                <a:ea typeface="Calibri" pitchFamily="34" charset="-122"/>
                <a:cs typeface="Calibri" pitchFamily="34" charset="-120"/>
              </a:rPr>
              <a:t>Next → Exercise books</a:t>
            </a:r>
            <a:endParaRPr lang="en-US" sz="950" dirty="0"/>
          </a:p>
        </p:txBody>
      </p:sp>
      <p:sp>
        <p:nvSpPr>
          <p:cNvPr id="17" name="Shape 15"/>
          <p:cNvSpPr/>
          <p:nvPr/>
        </p:nvSpPr>
        <p:spPr>
          <a:xfrm>
            <a:off x="365760" y="1417320"/>
            <a:ext cx="8412480" cy="3246120"/>
          </a:xfrm>
          <a:prstGeom prst="roundRect">
            <a:avLst>
              <a:gd name="adj" fmla="val 2254"/>
            </a:avLst>
          </a:prstGeom>
          <a:solidFill>
            <a:srgbClr val="E3F0FB"/>
          </a:solidFill>
          <a:ln w="15875">
            <a:solidFill>
              <a:srgbClr val="90B4D8"/>
            </a:solidFill>
            <a:prstDash val="solid"/>
          </a:ln>
        </p:spPr>
      </p:sp>
      <p:pic>
        <p:nvPicPr>
          <p:cNvPr id="18" name="Image 0" descr="out/ws/icon-pen.png">    </p:cNvPr>
          <p:cNvPicPr>
            <a:picLocks noChangeAspect="1"/>
          </p:cNvPicPr>
          <p:nvPr/>
        </p:nvPicPr>
        <p:blipFill>
          <a:blip r:embed="rId1"/>
          <a:stretch>
            <a:fillRect/>
          </a:stretch>
        </p:blipFill>
        <p:spPr>
          <a:xfrm>
            <a:off x="914400" y="2057400"/>
            <a:ext cx="1828800" cy="1828800"/>
          </a:xfrm>
          <a:prstGeom prst="rect">
            <a:avLst/>
          </a:prstGeom>
        </p:spPr>
      </p:pic>
      <p:sp>
        <p:nvSpPr>
          <p:cNvPr id="19" name="Text 16"/>
          <p:cNvSpPr txBox="1"/>
          <p:nvPr/>
        </p:nvSpPr>
        <p:spPr>
          <a:xfrm>
            <a:off x="3200400" y="2103120"/>
            <a:ext cx="5303520" cy="914400"/>
          </a:xfrm>
          <a:prstGeom prst="rect">
            <a:avLst/>
          </a:prstGeom>
          <a:noFill/>
          <a:ln/>
        </p:spPr>
        <p:txBody>
          <a:bodyPr wrap="square" lIns="0" tIns="0" rIns="0" bIns="0" rtlCol="0" anchor="t"/>
          <a:lstStyle/>
          <a:p>
            <a:pPr indent="0" marL="0">
              <a:buNone/>
            </a:pPr>
            <a:r>
              <a:rPr lang="en-US" sz="4800" b="1" dirty="0">
                <a:solidFill>
                  <a:srgbClr val="0B2C4D"/>
                </a:solidFill>
                <a:latin typeface="Calibri" pitchFamily="34" charset="0"/>
                <a:ea typeface="Calibri" pitchFamily="34" charset="-122"/>
                <a:cs typeface="Calibri" pitchFamily="34" charset="-120"/>
              </a:rPr>
              <a:t>Class write</a:t>
            </a:r>
            <a:endParaRPr lang="en-US" sz="4800" dirty="0"/>
          </a:p>
        </p:txBody>
      </p:sp>
      <p:sp>
        <p:nvSpPr>
          <p:cNvPr id="20" name="Text 17"/>
          <p:cNvSpPr txBox="1"/>
          <p:nvPr/>
        </p:nvSpPr>
        <p:spPr>
          <a:xfrm>
            <a:off x="3200400" y="3063240"/>
            <a:ext cx="5303520" cy="548640"/>
          </a:xfrm>
          <a:prstGeom prst="rect">
            <a:avLst/>
          </a:prstGeom>
          <a:noFill/>
          <a:ln/>
        </p:spPr>
        <p:txBody>
          <a:bodyPr wrap="square" lIns="0" tIns="0" rIns="0" bIns="0" rtlCol="0" anchor="t"/>
          <a:lstStyle/>
          <a:p>
            <a:pPr indent="0" marL="0">
              <a:buNone/>
            </a:pPr>
            <a:r>
              <a:rPr lang="en-US" sz="2200" dirty="0">
                <a:solidFill>
                  <a:srgbClr val="1565C0"/>
                </a:solidFill>
                <a:latin typeface="Calibri" pitchFamily="34" charset="0"/>
                <a:ea typeface="Calibri" pitchFamily="34" charset="-122"/>
                <a:cs typeface="Calibri" pitchFamily="34" charset="-120"/>
              </a:rPr>
              <a:t>Bring your exercise book and a pencil.</a:t>
            </a:r>
            <a:endParaRPr lang="en-US" sz="2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0B2C4D"/>
          </a:solidFill>
          <a:ln w="12700">
            <a:solidFill>
              <a:srgbClr val="0B2C4D"/>
            </a:solidFill>
            <a:prstDash val="solid"/>
          </a:ln>
        </p:spPr>
      </p:sp>
      <p:sp>
        <p:nvSpPr>
          <p:cNvPr id="3" name="Shape 1"/>
          <p:cNvSpPr/>
          <p:nvPr/>
        </p:nvSpPr>
        <p:spPr>
          <a:xfrm>
            <a:off x="0" y="0"/>
            <a:ext cx="82296" cy="603504"/>
          </a:xfrm>
          <a:prstGeom prst="rect">
            <a:avLst/>
          </a:prstGeom>
          <a:solidFill>
            <a:srgbClr val="00897B"/>
          </a:solidFill>
          <a:ln w="12700">
            <a:solidFill>
              <a:srgbClr val="00897B"/>
            </a:solidFill>
            <a:prstDash val="solid"/>
          </a:ln>
        </p:spPr>
      </p:sp>
      <p:sp>
        <p:nvSpPr>
          <p:cNvPr id="4" name="Text 2"/>
          <p:cNvSpPr txBox="1"/>
          <p:nvPr/>
        </p:nvSpPr>
        <p:spPr>
          <a:xfrm>
            <a:off x="228600" y="64008"/>
            <a:ext cx="2743200" cy="137160"/>
          </a:xfrm>
          <a:prstGeom prst="rect">
            <a:avLst/>
          </a:prstGeom>
          <a:noFill/>
          <a:ln/>
        </p:spPr>
        <p:txBody>
          <a:bodyPr wrap="square" lIns="0" tIns="0" rIns="0" bIns="0" rtlCol="0" anchor="t"/>
          <a:lstStyle/>
          <a:p>
            <a:pPr indent="0" marL="0">
              <a:buNone/>
            </a:pPr>
            <a:r>
              <a:rPr lang="en-US" sz="700" b="1" spc="300" kern="0" dirty="0">
                <a:solidFill>
                  <a:srgbClr val="7FD1C7"/>
                </a:solidFill>
                <a:latin typeface="Calibri" pitchFamily="34" charset="0"/>
                <a:ea typeface="Calibri" pitchFamily="34" charset="-122"/>
                <a:cs typeface="Calibri" pitchFamily="34" charset="-120"/>
              </a:rPr>
              <a:t>OBJECTIVE</a:t>
            </a:r>
            <a:endParaRPr lang="en-US" sz="700" dirty="0"/>
          </a:p>
        </p:txBody>
      </p:sp>
      <p:sp>
        <p:nvSpPr>
          <p:cNvPr id="5" name="Text 3"/>
          <p:cNvSpPr txBox="1"/>
          <p:nvPr/>
        </p:nvSpPr>
        <p:spPr>
          <a:xfrm>
            <a:off x="228600" y="192024"/>
            <a:ext cx="6949440" cy="201168"/>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Read a short unseen story without help, and answer questions about it in writing.</a:t>
            </a:r>
            <a:endParaRPr lang="en-US" sz="1150" dirty="0"/>
          </a:p>
        </p:txBody>
      </p:sp>
      <p:sp>
        <p:nvSpPr>
          <p:cNvPr id="6" name="Text 4"/>
          <p:cNvSpPr txBox="1"/>
          <p:nvPr/>
        </p:nvSpPr>
        <p:spPr>
          <a:xfrm>
            <a:off x="228600" y="393192"/>
            <a:ext cx="6949440" cy="164592"/>
          </a:xfrm>
          <a:prstGeom prst="rect">
            <a:avLst/>
          </a:prstGeom>
          <a:noFill/>
          <a:ln/>
        </p:spPr>
        <p:txBody>
          <a:bodyPr wrap="square" lIns="0" tIns="0" rIns="0" bIns="0" rtlCol="0" anchor="t"/>
          <a:lstStyle/>
          <a:p>
            <a:pPr indent="0" marL="0">
              <a:buNone/>
            </a:pPr>
            <a:r>
              <a:rPr lang="en-US" sz="900" dirty="0">
                <a:solidFill>
                  <a:srgbClr val="A9CBEF"/>
                </a:solidFill>
                <a:latin typeface="Calibri" pitchFamily="34" charset="0"/>
                <a:ea typeface="Calibri" pitchFamily="34" charset="-122"/>
                <a:cs typeface="Calibri" pitchFamily="34" charset="-120"/>
              </a:rPr>
              <a:t>Outcomes  W1 academic language  ·  W5 sentences with because  ·  W14 complete sentences</a:t>
            </a:r>
            <a:endParaRPr lang="en-US" sz="900" dirty="0"/>
          </a:p>
        </p:txBody>
      </p:sp>
      <p:sp>
        <p:nvSpPr>
          <p:cNvPr id="7" name="Shape 5"/>
          <p:cNvSpPr/>
          <p:nvPr/>
        </p:nvSpPr>
        <p:spPr>
          <a:xfrm>
            <a:off x="7452360" y="182880"/>
            <a:ext cx="475488" cy="237744"/>
          </a:xfrm>
          <a:prstGeom prst="roundRect">
            <a:avLst>
              <a:gd name="adj" fmla="val 19231"/>
            </a:avLst>
          </a:prstGeom>
          <a:solidFill>
            <a:srgbClr val="00897B"/>
          </a:solidFill>
          <a:ln w="12700">
            <a:solidFill>
              <a:srgbClr val="00897B"/>
            </a:solidFill>
            <a:prstDash val="solid"/>
          </a:ln>
        </p:spPr>
      </p:sp>
      <p:sp>
        <p:nvSpPr>
          <p:cNvPr id="8" name="Text 6"/>
          <p:cNvSpPr txBox="1"/>
          <p:nvPr/>
        </p:nvSpPr>
        <p:spPr>
          <a:xfrm>
            <a:off x="745236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a:t>
            </a:r>
            <a:endParaRPr lang="en-US" sz="900" dirty="0"/>
          </a:p>
        </p:txBody>
      </p:sp>
      <p:sp>
        <p:nvSpPr>
          <p:cNvPr id="9" name="Shape 7"/>
          <p:cNvSpPr/>
          <p:nvPr/>
        </p:nvSpPr>
        <p:spPr>
          <a:xfrm>
            <a:off x="8001000" y="182880"/>
            <a:ext cx="475488" cy="237744"/>
          </a:xfrm>
          <a:prstGeom prst="roundRect">
            <a:avLst>
              <a:gd name="adj" fmla="val 19231"/>
            </a:avLst>
          </a:prstGeom>
          <a:solidFill>
            <a:srgbClr val="00897B"/>
          </a:solidFill>
          <a:ln w="12700">
            <a:solidFill>
              <a:srgbClr val="00897B"/>
            </a:solidFill>
            <a:prstDash val="solid"/>
          </a:ln>
        </p:spPr>
      </p:sp>
      <p:sp>
        <p:nvSpPr>
          <p:cNvPr id="10" name="Text 8"/>
          <p:cNvSpPr txBox="1"/>
          <p:nvPr/>
        </p:nvSpPr>
        <p:spPr>
          <a:xfrm>
            <a:off x="800100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TH</a:t>
            </a:r>
            <a:endParaRPr lang="en-US" sz="900" dirty="0"/>
          </a:p>
        </p:txBody>
      </p:sp>
      <p:sp>
        <p:nvSpPr>
          <p:cNvPr id="11" name="Shape 9"/>
          <p:cNvSpPr/>
          <p:nvPr/>
        </p:nvSpPr>
        <p:spPr>
          <a:xfrm>
            <a:off x="8549640" y="182880"/>
            <a:ext cx="475488" cy="237744"/>
          </a:xfrm>
          <a:prstGeom prst="roundRect">
            <a:avLst>
              <a:gd name="adj" fmla="val 19231"/>
            </a:avLst>
          </a:prstGeom>
          <a:solidFill>
            <a:srgbClr val="00897B"/>
          </a:solidFill>
          <a:ln w="12700">
            <a:solidFill>
              <a:srgbClr val="00897B"/>
            </a:solidFill>
            <a:prstDash val="solid"/>
          </a:ln>
        </p:spPr>
      </p:sp>
      <p:sp>
        <p:nvSpPr>
          <p:cNvPr id="12" name="Text 10"/>
          <p:cNvSpPr txBox="1"/>
          <p:nvPr/>
        </p:nvSpPr>
        <p:spPr>
          <a:xfrm>
            <a:off x="8549640" y="182880"/>
            <a:ext cx="47548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PS</a:t>
            </a:r>
            <a:endParaRPr lang="en-US" sz="900" dirty="0"/>
          </a:p>
        </p:txBody>
      </p:sp>
      <p:sp>
        <p:nvSpPr>
          <p:cNvPr id="13" name="Text 11"/>
          <p:cNvSpPr txBox="1"/>
          <p:nvPr/>
        </p:nvSpPr>
        <p:spPr>
          <a:xfrm>
            <a:off x="365760" y="676656"/>
            <a:ext cx="3657600" cy="182880"/>
          </a:xfrm>
          <a:prstGeom prst="rect">
            <a:avLst/>
          </a:prstGeom>
          <a:noFill/>
          <a:ln/>
        </p:spPr>
        <p:txBody>
          <a:bodyPr wrap="square" lIns="0" tIns="0" rIns="0" bIns="0" rtlCol="0" anchor="t"/>
          <a:lstStyle/>
          <a:p>
            <a:pPr indent="0" marL="0">
              <a:buNone/>
            </a:pPr>
            <a:r>
              <a:rPr lang="en-US" sz="950" dirty="0">
                <a:solidFill>
                  <a:srgbClr val="5F6B7A"/>
                </a:solidFill>
                <a:latin typeface="Calibri" pitchFamily="34" charset="0"/>
                <a:ea typeface="Calibri" pitchFamily="34" charset="-122"/>
                <a:cs typeface="Calibri" pitchFamily="34" charset="-120"/>
              </a:rPr>
              <a:t>ELL3 · Unit 1 · Lesson 2</a:t>
            </a:r>
            <a:endParaRPr lang="en-US" sz="950" dirty="0"/>
          </a:p>
        </p:txBody>
      </p:sp>
      <p:sp>
        <p:nvSpPr>
          <p:cNvPr id="14" name="Text 12"/>
          <p:cNvSpPr txBox="1"/>
          <p:nvPr/>
        </p:nvSpPr>
        <p:spPr>
          <a:xfrm>
            <a:off x="5120640" y="676656"/>
            <a:ext cx="3657600" cy="182880"/>
          </a:xfrm>
          <a:prstGeom prst="rect">
            <a:avLst/>
          </a:prstGeom>
          <a:noFill/>
          <a:ln/>
        </p:spPr>
        <p:txBody>
          <a:bodyPr wrap="square" lIns="0" tIns="0" rIns="0" bIns="0" rtlCol="0" anchor="t"/>
          <a:lstStyle/>
          <a:p>
            <a:pPr algn="r" indent="0" marL="0">
              <a:buNone/>
            </a:pPr>
            <a:r>
              <a:rPr lang="en-US" sz="950" b="1" spc="100" kern="0" dirty="0">
                <a:solidFill>
                  <a:srgbClr val="00897B"/>
                </a:solidFill>
                <a:latin typeface="Calibri" pitchFamily="34" charset="0"/>
                <a:ea typeface="Calibri" pitchFamily="34" charset="-122"/>
                <a:cs typeface="Calibri" pitchFamily="34" charset="-120"/>
              </a:rPr>
              <a:t>BEFORE YOU GO</a:t>
            </a:r>
            <a:endParaRPr lang="en-US" sz="950" dirty="0"/>
          </a:p>
        </p:txBody>
      </p:sp>
      <p:sp>
        <p:nvSpPr>
          <p:cNvPr id="15" name="Text 13"/>
          <p:cNvSpPr txBox="1"/>
          <p:nvPr/>
        </p:nvSpPr>
        <p:spPr>
          <a:xfrm>
            <a:off x="365760" y="850392"/>
            <a:ext cx="8412480" cy="457200"/>
          </a:xfrm>
          <a:prstGeom prst="rect">
            <a:avLst/>
          </a:prstGeom>
          <a:noFill/>
          <a:ln/>
        </p:spPr>
        <p:txBody>
          <a:bodyPr wrap="square" lIns="0" tIns="0" rIns="0" bIns="0" rtlCol="0" anchor="t"/>
          <a:lstStyle/>
          <a:p>
            <a:pPr indent="0" marL="0">
              <a:buNone/>
            </a:pPr>
            <a:r>
              <a:rPr lang="en-US" sz="2600" b="1" dirty="0">
                <a:solidFill>
                  <a:srgbClr val="0B2C4D"/>
                </a:solidFill>
                <a:latin typeface="Calibri" pitchFamily="34" charset="0"/>
                <a:ea typeface="Calibri" pitchFamily="34" charset="-122"/>
                <a:cs typeface="Calibri" pitchFamily="34" charset="-120"/>
              </a:rPr>
              <a:t>Take out your exercise book</a:t>
            </a:r>
            <a:endParaRPr lang="en-US" sz="2600" dirty="0"/>
          </a:p>
        </p:txBody>
      </p:sp>
      <p:pic>
        <p:nvPicPr>
          <p:cNvPr id="16" name="Image 0" descr="out/ws/icon-calendar.png">    </p:cNvPr>
          <p:cNvPicPr>
            <a:picLocks noChangeAspect="1"/>
          </p:cNvPicPr>
          <p:nvPr/>
        </p:nvPicPr>
        <p:blipFill>
          <a:blip r:embed="rId1"/>
          <a:stretch>
            <a:fillRect/>
          </a:stretch>
        </p:blipFill>
        <p:spPr>
          <a:xfrm>
            <a:off x="640080" y="1554480"/>
            <a:ext cx="1737360" cy="1737360"/>
          </a:xfrm>
          <a:prstGeom prst="rect">
            <a:avLst/>
          </a:prstGeom>
        </p:spPr>
      </p:pic>
      <p:sp>
        <p:nvSpPr>
          <p:cNvPr id="17" name="Text 14"/>
          <p:cNvSpPr txBox="1"/>
          <p:nvPr/>
        </p:nvSpPr>
        <p:spPr>
          <a:xfrm>
            <a:off x="365760" y="3474720"/>
            <a:ext cx="2286000" cy="914400"/>
          </a:xfrm>
          <a:prstGeom prst="rect">
            <a:avLst/>
          </a:prstGeom>
          <a:noFill/>
          <a:ln/>
        </p:spPr>
        <p:txBody>
          <a:bodyPr wrap="square" lIns="0" tIns="0" rIns="0" bIns="0" rtlCol="0" anchor="t"/>
          <a:lstStyle/>
          <a:p>
            <a:pPr algn="ctr" indent="0" marL="0">
              <a:buNone/>
            </a:pPr>
            <a:r>
              <a:rPr lang="en-US" sz="1700" b="1" dirty="0">
                <a:solidFill>
                  <a:srgbClr val="1565C0"/>
                </a:solidFill>
                <a:latin typeface="Calibri" pitchFamily="34" charset="0"/>
                <a:ea typeface="Calibri" pitchFamily="34" charset="-122"/>
                <a:cs typeface="Calibri" pitchFamily="34" charset="-120"/>
              </a:rPr>
              <a:t>Write it down before you leave.</a:t>
            </a:r>
            <a:endParaRPr lang="en-US" sz="1700" dirty="0"/>
          </a:p>
        </p:txBody>
      </p:sp>
      <p:sp>
        <p:nvSpPr>
          <p:cNvPr id="18" name="Shape 15"/>
          <p:cNvSpPr/>
          <p:nvPr/>
        </p:nvSpPr>
        <p:spPr>
          <a:xfrm>
            <a:off x="2834640" y="1417320"/>
            <a:ext cx="5943600" cy="960120"/>
          </a:xfrm>
          <a:prstGeom prst="roundRect">
            <a:avLst>
              <a:gd name="adj" fmla="val 7619"/>
            </a:avLst>
          </a:prstGeom>
          <a:solidFill>
            <a:srgbClr val="E3F0FB"/>
          </a:solidFill>
          <a:ln w="15875">
            <a:solidFill>
              <a:srgbClr val="90B4D8"/>
            </a:solidFill>
            <a:prstDash val="solid"/>
          </a:ln>
        </p:spPr>
      </p:sp>
      <p:sp>
        <p:nvSpPr>
          <p:cNvPr id="19" name="Text 16"/>
          <p:cNvSpPr txBox="1"/>
          <p:nvPr/>
        </p:nvSpPr>
        <p:spPr>
          <a:xfrm>
            <a:off x="3017520" y="1417320"/>
            <a:ext cx="1645920" cy="960120"/>
          </a:xfrm>
          <a:prstGeom prst="rect">
            <a:avLst/>
          </a:prstGeom>
          <a:noFill/>
          <a:ln/>
        </p:spPr>
        <p:txBody>
          <a:bodyPr wrap="square" lIns="0" tIns="0" rIns="0" bIns="0" rtlCol="0" anchor="ctr"/>
          <a:lstStyle/>
          <a:p>
            <a:pPr indent="0" marL="0">
              <a:buNone/>
            </a:pPr>
            <a:r>
              <a:rPr lang="en-US" sz="1900" b="1" dirty="0">
                <a:solidFill>
                  <a:srgbClr val="1565C0"/>
                </a:solidFill>
                <a:latin typeface="Calibri" pitchFamily="34" charset="0"/>
                <a:ea typeface="Calibri" pitchFamily="34" charset="-122"/>
                <a:cs typeface="Calibri" pitchFamily="34" charset="-120"/>
              </a:rPr>
              <a:t>Next class:</a:t>
            </a:r>
            <a:endParaRPr lang="en-US" sz="1900" dirty="0"/>
          </a:p>
        </p:txBody>
      </p:sp>
      <p:sp>
        <p:nvSpPr>
          <p:cNvPr id="20" name="Text 17"/>
          <p:cNvSpPr txBox="1"/>
          <p:nvPr/>
        </p:nvSpPr>
        <p:spPr>
          <a:xfrm>
            <a:off x="4663440" y="1417320"/>
            <a:ext cx="3977640" cy="96012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Class write — bring your exercise book.</a:t>
            </a:r>
            <a:endParaRPr lang="en-US" sz="1800" dirty="0"/>
          </a:p>
        </p:txBody>
      </p:sp>
      <p:sp>
        <p:nvSpPr>
          <p:cNvPr id="21" name="Shape 18"/>
          <p:cNvSpPr/>
          <p:nvPr/>
        </p:nvSpPr>
        <p:spPr>
          <a:xfrm>
            <a:off x="2834640" y="2514600"/>
            <a:ext cx="5943600" cy="960120"/>
          </a:xfrm>
          <a:prstGeom prst="roundRect">
            <a:avLst>
              <a:gd name="adj" fmla="val 7619"/>
            </a:avLst>
          </a:prstGeom>
          <a:solidFill>
            <a:srgbClr val="D7ECEA"/>
          </a:solidFill>
          <a:ln w="15875">
            <a:solidFill>
              <a:srgbClr val="7FC4BB"/>
            </a:solidFill>
            <a:prstDash val="solid"/>
          </a:ln>
        </p:spPr>
      </p:sp>
      <p:sp>
        <p:nvSpPr>
          <p:cNvPr id="22" name="Text 19"/>
          <p:cNvSpPr txBox="1"/>
          <p:nvPr/>
        </p:nvSpPr>
        <p:spPr>
          <a:xfrm>
            <a:off x="3017520" y="2514600"/>
            <a:ext cx="1645920" cy="960120"/>
          </a:xfrm>
          <a:prstGeom prst="rect">
            <a:avLst/>
          </a:prstGeom>
          <a:noFill/>
          <a:ln/>
        </p:spPr>
        <p:txBody>
          <a:bodyPr wrap="square" lIns="0" tIns="0" rIns="0" bIns="0" rtlCol="0" anchor="ctr"/>
          <a:lstStyle/>
          <a:p>
            <a:pPr indent="0" marL="0">
              <a:buNone/>
            </a:pPr>
            <a:r>
              <a:rPr lang="en-US" sz="1900" b="1" dirty="0">
                <a:solidFill>
                  <a:srgbClr val="00897B"/>
                </a:solidFill>
                <a:latin typeface="Calibri" pitchFamily="34" charset="0"/>
                <a:ea typeface="Calibri" pitchFamily="34" charset="-122"/>
                <a:cs typeface="Calibri" pitchFamily="34" charset="-120"/>
              </a:rPr>
              <a:t>Homework:</a:t>
            </a:r>
            <a:endParaRPr lang="en-US" sz="1900" dirty="0"/>
          </a:p>
        </p:txBody>
      </p:sp>
      <p:sp>
        <p:nvSpPr>
          <p:cNvPr id="23" name="Text 20"/>
          <p:cNvSpPr txBox="1"/>
          <p:nvPr/>
        </p:nvSpPr>
        <p:spPr>
          <a:xfrm>
            <a:off x="4663440" y="2514600"/>
            <a:ext cx="3977640" cy="96012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None tonight.</a:t>
            </a:r>
            <a:endParaRPr lang="en-US" sz="1800" dirty="0"/>
          </a:p>
        </p:txBody>
      </p:sp>
      <p:sp>
        <p:nvSpPr>
          <p:cNvPr id="24" name="Shape 21"/>
          <p:cNvSpPr/>
          <p:nvPr/>
        </p:nvSpPr>
        <p:spPr>
          <a:xfrm>
            <a:off x="2834640" y="3611880"/>
            <a:ext cx="5943600" cy="960120"/>
          </a:xfrm>
          <a:prstGeom prst="roundRect">
            <a:avLst>
              <a:gd name="adj" fmla="val 7619"/>
            </a:avLst>
          </a:prstGeom>
          <a:solidFill>
            <a:srgbClr val="E3F0FB"/>
          </a:solidFill>
          <a:ln w="15875">
            <a:solidFill>
              <a:srgbClr val="90B4D8"/>
            </a:solidFill>
            <a:prstDash val="solid"/>
          </a:ln>
        </p:spPr>
      </p:sp>
      <p:sp>
        <p:nvSpPr>
          <p:cNvPr id="25" name="Text 22"/>
          <p:cNvSpPr txBox="1"/>
          <p:nvPr/>
        </p:nvSpPr>
        <p:spPr>
          <a:xfrm>
            <a:off x="3017520" y="3611880"/>
            <a:ext cx="1645920" cy="960120"/>
          </a:xfrm>
          <a:prstGeom prst="rect">
            <a:avLst/>
          </a:prstGeom>
          <a:noFill/>
          <a:ln/>
        </p:spPr>
        <p:txBody>
          <a:bodyPr wrap="square" lIns="0" tIns="0" rIns="0" bIns="0" rtlCol="0" anchor="ctr"/>
          <a:lstStyle/>
          <a:p>
            <a:pPr indent="0" marL="0">
              <a:buNone/>
            </a:pPr>
            <a:r>
              <a:rPr lang="en-US" sz="1900" b="1" dirty="0">
                <a:solidFill>
                  <a:srgbClr val="1565C0"/>
                </a:solidFill>
                <a:latin typeface="Calibri" pitchFamily="34" charset="0"/>
                <a:ea typeface="Calibri" pitchFamily="34" charset="-122"/>
                <a:cs typeface="Calibri" pitchFamily="34" charset="-120"/>
              </a:rPr>
              <a:t>Remember:</a:t>
            </a:r>
            <a:endParaRPr lang="en-US" sz="1900" dirty="0"/>
          </a:p>
        </p:txBody>
      </p:sp>
      <p:sp>
        <p:nvSpPr>
          <p:cNvPr id="26" name="Text 23"/>
          <p:cNvSpPr txBox="1"/>
          <p:nvPr/>
        </p:nvSpPr>
        <p:spPr>
          <a:xfrm>
            <a:off x="4663440" y="3611880"/>
            <a:ext cx="3977640" cy="960120"/>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Your worksheet is in your duotang. Your exercise book comes home with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2026-09-11T17:38:44Z</dcterms:created>
  <dcterms:modified xsi:type="dcterms:W3CDTF">2026-09-11T17:38:44Z</dcterms:modified>
</cp:coreProperties>
</file>